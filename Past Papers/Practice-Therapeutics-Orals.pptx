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9"/>
  </p:notesMasterIdLst>
  <p:sldIdLst>
    <p:sldId id="256" r:id="rId2"/>
    <p:sldId id="257" r:id="rId3"/>
    <p:sldId id="268" r:id="rId4"/>
    <p:sldId id="258" r:id="rId5"/>
    <p:sldId id="269" r:id="rId6"/>
    <p:sldId id="271" r:id="rId7"/>
    <p:sldId id="272" r:id="rId8"/>
    <p:sldId id="273" r:id="rId9"/>
    <p:sldId id="274" r:id="rId10"/>
    <p:sldId id="259" r:id="rId11"/>
    <p:sldId id="260" r:id="rId12"/>
    <p:sldId id="270" r:id="rId13"/>
    <p:sldId id="262" r:id="rId14"/>
    <p:sldId id="275" r:id="rId15"/>
    <p:sldId id="276" r:id="rId16"/>
    <p:sldId id="277" r:id="rId17"/>
    <p:sldId id="278" r:id="rId18"/>
    <p:sldId id="279" r:id="rId19"/>
    <p:sldId id="280" r:id="rId20"/>
    <p:sldId id="303" r:id="rId21"/>
    <p:sldId id="281" r:id="rId22"/>
    <p:sldId id="282" r:id="rId23"/>
    <p:sldId id="283" r:id="rId24"/>
    <p:sldId id="284" r:id="rId25"/>
    <p:sldId id="285" r:id="rId26"/>
    <p:sldId id="286" r:id="rId27"/>
    <p:sldId id="287" r:id="rId28"/>
    <p:sldId id="288" r:id="rId29"/>
    <p:sldId id="289" r:id="rId30"/>
    <p:sldId id="290" r:id="rId31"/>
    <p:sldId id="291" r:id="rId32"/>
    <p:sldId id="292" r:id="rId33"/>
    <p:sldId id="293" r:id="rId34"/>
    <p:sldId id="294" r:id="rId35"/>
    <p:sldId id="295" r:id="rId36"/>
    <p:sldId id="296" r:id="rId37"/>
    <p:sldId id="297" r:id="rId38"/>
    <p:sldId id="298" r:id="rId39"/>
    <p:sldId id="299" r:id="rId40"/>
    <p:sldId id="300" r:id="rId41"/>
    <p:sldId id="301" r:id="rId42"/>
    <p:sldId id="302" r:id="rId43"/>
    <p:sldId id="263" r:id="rId44"/>
    <p:sldId id="264" r:id="rId45"/>
    <p:sldId id="267" r:id="rId46"/>
    <p:sldId id="265" r:id="rId47"/>
    <p:sldId id="266"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520" autoAdjust="0"/>
    <p:restoredTop sz="74122" autoAdjust="0"/>
  </p:normalViewPr>
  <p:slideViewPr>
    <p:cSldViewPr snapToGrid="0">
      <p:cViewPr varScale="1">
        <p:scale>
          <a:sx n="63" d="100"/>
          <a:sy n="63" d="100"/>
        </p:scale>
        <p:origin x="1285" y="50"/>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1D7D76-CEEF-43F6-B181-72CFE044394E}" type="datetimeFigureOut">
              <a:rPr lang="en-GB" smtClean="0"/>
              <a:t>12/11/2019</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E38DB9-DF4D-4A16-8DDB-2246D19213B5}" type="slidenum">
              <a:rPr lang="en-GB" smtClean="0"/>
              <a:t>‹#›</a:t>
            </a:fld>
            <a:endParaRPr lang="en-GB"/>
          </a:p>
        </p:txBody>
      </p:sp>
    </p:spTree>
    <p:extLst>
      <p:ext uri="{BB962C8B-B14F-4D97-AF65-F5344CB8AC3E}">
        <p14:creationId xmlns:p14="http://schemas.microsoft.com/office/powerpoint/2010/main" val="38720680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https://lifeinthefastlane.com/ophthalmology-befuddler-010/ </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Early in the day he was cleaning up the workshop and felt something get in his right eye, he then rinsed his eye out with water. Over the course of the day the irritation worsened, his eye is constantly watering and its becoming red.</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The foreign body is at about 9 o’clock o the surface of the cornea, midway across the iris. A rust ring and conjunctival injection is present</a:t>
            </a:r>
          </a:p>
          <a:p>
            <a:endParaRPr lang="en-GB" sz="1200" b="0" i="0" kern="1200" dirty="0">
              <a:solidFill>
                <a:schemeClr val="tx1"/>
              </a:solidFill>
              <a:effectLst/>
              <a:latin typeface="+mn-lt"/>
              <a:ea typeface="+mn-ea"/>
              <a:cs typeface="+mn-cs"/>
            </a:endParaRPr>
          </a:p>
          <a:p>
            <a:r>
              <a:rPr lang="en-GB" sz="1200" b="1" i="0" kern="1200" dirty="0">
                <a:solidFill>
                  <a:schemeClr val="tx1"/>
                </a:solidFill>
                <a:effectLst/>
                <a:latin typeface="+mn-lt"/>
                <a:ea typeface="+mn-ea"/>
                <a:cs typeface="+mn-cs"/>
              </a:rPr>
              <a:t>How long does it take for rust ring to form? </a:t>
            </a:r>
            <a:r>
              <a:rPr lang="en-GB" sz="1200" b="0" i="0" kern="1200" dirty="0">
                <a:solidFill>
                  <a:schemeClr val="tx1"/>
                </a:solidFill>
                <a:effectLst/>
                <a:latin typeface="+mn-lt"/>
                <a:ea typeface="+mn-ea"/>
                <a:cs typeface="+mn-cs"/>
              </a:rPr>
              <a:t>4 – 6 hours (fluid from cornea begins to decompose and rush leaches into surrounding tissue)</a:t>
            </a:r>
          </a:p>
          <a:p>
            <a:endParaRPr lang="en-GB" sz="1200" b="0" i="0" kern="1200" dirty="0">
              <a:solidFill>
                <a:schemeClr val="tx1"/>
              </a:solidFill>
              <a:effectLst/>
              <a:latin typeface="+mn-lt"/>
              <a:ea typeface="+mn-ea"/>
              <a:cs typeface="+mn-cs"/>
            </a:endParaRPr>
          </a:p>
          <a:p>
            <a:r>
              <a:rPr lang="en-GB" sz="1200" b="1" i="0" kern="1200" dirty="0">
                <a:solidFill>
                  <a:schemeClr val="tx1"/>
                </a:solidFill>
                <a:effectLst/>
                <a:latin typeface="+mn-lt"/>
                <a:ea typeface="+mn-ea"/>
                <a:cs typeface="+mn-cs"/>
              </a:rPr>
              <a:t>What other tests? </a:t>
            </a:r>
            <a:r>
              <a:rPr lang="en-GB" sz="1200" b="0" i="0" kern="1200" dirty="0">
                <a:solidFill>
                  <a:schemeClr val="tx1"/>
                </a:solidFill>
                <a:effectLst/>
                <a:latin typeface="+mn-lt"/>
                <a:ea typeface="+mn-ea"/>
                <a:cs typeface="+mn-cs"/>
              </a:rPr>
              <a:t>Seidel sign, DFE</a:t>
            </a:r>
            <a:endParaRPr lang="en-GB" sz="1200" b="1" i="0" kern="1200" dirty="0">
              <a:solidFill>
                <a:schemeClr val="tx1"/>
              </a:solidFill>
              <a:effectLst/>
              <a:latin typeface="+mn-lt"/>
              <a:ea typeface="+mn-ea"/>
              <a:cs typeface="+mn-cs"/>
            </a:endParaRPr>
          </a:p>
          <a:p>
            <a:endParaRPr lang="en-GB" sz="1200" b="1" i="0" kern="1200" dirty="0">
              <a:solidFill>
                <a:schemeClr val="tx1"/>
              </a:solidFill>
              <a:effectLst/>
              <a:latin typeface="+mn-lt"/>
              <a:ea typeface="+mn-ea"/>
              <a:cs typeface="+mn-cs"/>
            </a:endParaRPr>
          </a:p>
          <a:p>
            <a:r>
              <a:rPr lang="en-GB" sz="1200" b="1" i="0" kern="1200" dirty="0">
                <a:solidFill>
                  <a:schemeClr val="tx1"/>
                </a:solidFill>
                <a:effectLst/>
                <a:latin typeface="+mn-lt"/>
                <a:ea typeface="+mn-ea"/>
                <a:cs typeface="+mn-cs"/>
              </a:rPr>
              <a:t>What tools?</a:t>
            </a:r>
            <a:r>
              <a:rPr lang="en-GB" sz="1200" b="0" i="0" kern="1200" dirty="0">
                <a:solidFill>
                  <a:schemeClr val="tx1"/>
                </a:solidFill>
                <a:effectLst/>
                <a:latin typeface="+mn-lt"/>
                <a:ea typeface="+mn-ea"/>
                <a:cs typeface="+mn-cs"/>
              </a:rPr>
              <a:t> Q tip, 25G needle, metallic spud, </a:t>
            </a:r>
            <a:r>
              <a:rPr lang="en-GB" sz="1200" b="0" i="0" kern="1200" dirty="0" err="1">
                <a:solidFill>
                  <a:schemeClr val="tx1"/>
                </a:solidFill>
                <a:effectLst/>
                <a:latin typeface="+mn-lt"/>
                <a:ea typeface="+mn-ea"/>
                <a:cs typeface="+mn-cs"/>
              </a:rPr>
              <a:t>algar</a:t>
            </a:r>
            <a:r>
              <a:rPr lang="en-GB" sz="1200" b="0" i="0" kern="1200" dirty="0">
                <a:solidFill>
                  <a:schemeClr val="tx1"/>
                </a:solidFill>
                <a:effectLst/>
                <a:latin typeface="+mn-lt"/>
                <a:ea typeface="+mn-ea"/>
                <a:cs typeface="+mn-cs"/>
              </a:rPr>
              <a:t> brush</a:t>
            </a:r>
            <a:endParaRPr lang="en-GB" sz="1200" b="1" i="0" kern="1200" dirty="0">
              <a:solidFill>
                <a:schemeClr val="tx1"/>
              </a:solidFill>
              <a:effectLst/>
              <a:latin typeface="+mn-lt"/>
              <a:ea typeface="+mn-ea"/>
              <a:cs typeface="+mn-cs"/>
            </a:endParaRPr>
          </a:p>
          <a:p>
            <a:endParaRPr lang="en-GB" dirty="0"/>
          </a:p>
          <a:p>
            <a:r>
              <a:rPr lang="en-GB" sz="1200" b="0" i="0" kern="1200" dirty="0">
                <a:solidFill>
                  <a:schemeClr val="tx1"/>
                </a:solidFill>
                <a:effectLst/>
                <a:latin typeface="+mn-lt"/>
                <a:ea typeface="+mn-ea"/>
                <a:cs typeface="+mn-cs"/>
              </a:rPr>
              <a:t>Provide topical </a:t>
            </a:r>
            <a:r>
              <a:rPr lang="en-GB" sz="1200" b="0" i="0" kern="1200" dirty="0" err="1">
                <a:solidFill>
                  <a:schemeClr val="tx1"/>
                </a:solidFill>
                <a:effectLst/>
                <a:latin typeface="+mn-lt"/>
                <a:ea typeface="+mn-ea"/>
                <a:cs typeface="+mn-cs"/>
              </a:rPr>
              <a:t>anesthesia</a:t>
            </a:r>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Remove foreign body using a slit lamp</a:t>
            </a:r>
          </a:p>
          <a:p>
            <a:r>
              <a:rPr lang="en-GB" sz="1200" b="0" i="0" kern="1200" dirty="0">
                <a:solidFill>
                  <a:schemeClr val="tx1"/>
                </a:solidFill>
                <a:effectLst/>
                <a:latin typeface="+mn-lt"/>
                <a:ea typeface="+mn-ea"/>
                <a:cs typeface="+mn-cs"/>
              </a:rPr>
              <a:t>use fluorescein to assess the depth and measure the size of the epithelial defect</a:t>
            </a:r>
          </a:p>
          <a:p>
            <a:r>
              <a:rPr lang="en-GB" sz="1200" b="0" i="0" kern="1200" dirty="0">
                <a:solidFill>
                  <a:schemeClr val="tx1"/>
                </a:solidFill>
                <a:effectLst/>
                <a:latin typeface="+mn-lt"/>
                <a:ea typeface="+mn-ea"/>
                <a:cs typeface="+mn-cs"/>
              </a:rPr>
              <a:t>give oral analgesia and a </a:t>
            </a:r>
            <a:r>
              <a:rPr lang="en-GB" sz="1200" b="0" i="1" kern="1200" dirty="0">
                <a:solidFill>
                  <a:schemeClr val="tx1"/>
                </a:solidFill>
                <a:effectLst/>
                <a:latin typeface="+mn-lt"/>
                <a:ea typeface="+mn-ea"/>
                <a:cs typeface="+mn-cs"/>
              </a:rPr>
              <a:t>cycloplegic agent (e.g. 2% homatropine) for comfort??</a:t>
            </a:r>
          </a:p>
          <a:p>
            <a:r>
              <a:rPr lang="en-GB" sz="1200" b="0" i="0" kern="1200" dirty="0">
                <a:solidFill>
                  <a:schemeClr val="tx1"/>
                </a:solidFill>
                <a:effectLst/>
                <a:latin typeface="+mn-lt"/>
                <a:ea typeface="+mn-ea"/>
                <a:cs typeface="+mn-cs"/>
              </a:rPr>
              <a:t>give topical antibiotics</a:t>
            </a:r>
          </a:p>
          <a:p>
            <a:r>
              <a:rPr lang="en-GB" sz="1200" b="0" i="0" kern="1200" dirty="0">
                <a:solidFill>
                  <a:schemeClr val="tx1"/>
                </a:solidFill>
                <a:effectLst/>
                <a:latin typeface="+mn-lt"/>
                <a:ea typeface="+mn-ea"/>
                <a:cs typeface="+mn-cs"/>
              </a:rPr>
              <a:t>arrange appropriate follow up</a:t>
            </a:r>
          </a:p>
          <a:p>
            <a:endParaRPr lang="en-GB" sz="1200" b="1" i="0" kern="1200" dirty="0">
              <a:solidFill>
                <a:schemeClr val="tx1"/>
              </a:solidFill>
              <a:effectLst/>
              <a:latin typeface="+mn-lt"/>
              <a:ea typeface="+mn-ea"/>
              <a:cs typeface="+mn-cs"/>
            </a:endParaRPr>
          </a:p>
          <a:p>
            <a:r>
              <a:rPr lang="en-GB" sz="1200" b="1" i="0" kern="1200" dirty="0">
                <a:solidFill>
                  <a:schemeClr val="tx1"/>
                </a:solidFill>
                <a:effectLst/>
                <a:latin typeface="+mn-lt"/>
                <a:ea typeface="+mn-ea"/>
                <a:cs typeface="+mn-cs"/>
              </a:rPr>
              <a:t>Role of bandage contact lens? </a:t>
            </a:r>
            <a:r>
              <a:rPr lang="en-GB" sz="1200" b="0" i="0" kern="1200" dirty="0">
                <a:solidFill>
                  <a:schemeClr val="tx1"/>
                </a:solidFill>
                <a:effectLst/>
                <a:latin typeface="+mn-lt"/>
                <a:ea typeface="+mn-ea"/>
                <a:cs typeface="+mn-cs"/>
              </a:rPr>
              <a:t>In select cases it is appropriate (i.e. more severe) However if px has had no CL experience, I would avoid just in case it dislodges or taco rolls. It may also contribute to more infective climate so monitor closely. REMOVE 24 HRS</a:t>
            </a:r>
            <a:endParaRPr lang="en-GB" sz="1200" b="1" i="0" kern="1200" dirty="0">
              <a:solidFill>
                <a:schemeClr val="tx1"/>
              </a:solidFill>
              <a:effectLst/>
              <a:latin typeface="+mn-lt"/>
              <a:ea typeface="+mn-ea"/>
              <a:cs typeface="+mn-cs"/>
            </a:endParaRPr>
          </a:p>
          <a:p>
            <a:endParaRPr lang="en-GB" sz="1200" b="0" i="0" kern="1200" dirty="0">
              <a:solidFill>
                <a:schemeClr val="tx1"/>
              </a:solidFill>
              <a:effectLst/>
              <a:latin typeface="+mn-lt"/>
              <a:ea typeface="+mn-ea"/>
              <a:cs typeface="+mn-cs"/>
            </a:endParaRPr>
          </a:p>
          <a:p>
            <a:r>
              <a:rPr lang="en-GB" sz="1200" b="1" i="0" kern="1200" dirty="0">
                <a:solidFill>
                  <a:schemeClr val="tx1"/>
                </a:solidFill>
                <a:effectLst/>
                <a:latin typeface="+mn-lt"/>
                <a:ea typeface="+mn-ea"/>
                <a:cs typeface="+mn-cs"/>
              </a:rPr>
              <a:t>What other aspects need to be consolidated at follow-up? </a:t>
            </a:r>
            <a:r>
              <a:rPr lang="en-GB" sz="1200" b="0" i="0" kern="1200" dirty="0">
                <a:solidFill>
                  <a:schemeClr val="tx1"/>
                </a:solidFill>
                <a:effectLst/>
                <a:latin typeface="+mn-lt"/>
                <a:ea typeface="+mn-ea"/>
                <a:cs typeface="+mn-cs"/>
              </a:rPr>
              <a:t>Safety specs, </a:t>
            </a:r>
          </a:p>
          <a:p>
            <a:endParaRPr lang="en-GB" sz="1200" b="0" i="0" kern="1200" dirty="0">
              <a:solidFill>
                <a:schemeClr val="tx1"/>
              </a:solidFill>
              <a:effectLst/>
              <a:latin typeface="+mn-lt"/>
              <a:ea typeface="+mn-ea"/>
              <a:cs typeface="+mn-cs"/>
            </a:endParaRPr>
          </a:p>
          <a:p>
            <a:r>
              <a:rPr lang="en-GB" sz="1200" b="1" i="0" kern="1200" dirty="0">
                <a:solidFill>
                  <a:schemeClr val="tx1"/>
                </a:solidFill>
                <a:effectLst/>
                <a:latin typeface="+mn-lt"/>
                <a:ea typeface="+mn-ea"/>
                <a:cs typeface="+mn-cs"/>
              </a:rPr>
              <a:t>What is the prognosis? Any difference if patient diabetic? </a:t>
            </a:r>
            <a:r>
              <a:rPr lang="en-GB" sz="1200" b="0" i="0" kern="1200" dirty="0">
                <a:solidFill>
                  <a:schemeClr val="tx1"/>
                </a:solidFill>
                <a:effectLst/>
                <a:latin typeface="+mn-lt"/>
                <a:ea typeface="+mn-ea"/>
                <a:cs typeface="+mn-cs"/>
              </a:rPr>
              <a:t>Expect full epithelial recovery in 1 week (stop prophylactic ab 3 days after re-</a:t>
            </a:r>
            <a:r>
              <a:rPr lang="en-GB" sz="1200" b="0" i="0" kern="1200" dirty="0" err="1">
                <a:solidFill>
                  <a:schemeClr val="tx1"/>
                </a:solidFill>
                <a:effectLst/>
                <a:latin typeface="+mn-lt"/>
                <a:ea typeface="+mn-ea"/>
                <a:cs typeface="+mn-cs"/>
              </a:rPr>
              <a:t>epithlialisation</a:t>
            </a:r>
            <a:r>
              <a:rPr lang="en-GB" sz="1200" b="0" i="0" kern="1200" dirty="0">
                <a:solidFill>
                  <a:schemeClr val="tx1"/>
                </a:solidFill>
                <a:effectLst/>
                <a:latin typeface="+mn-lt"/>
                <a:ea typeface="+mn-ea"/>
                <a:cs typeface="+mn-cs"/>
              </a:rPr>
              <a:t>) – Expect longer if diabetic</a:t>
            </a:r>
          </a:p>
          <a:p>
            <a:endParaRPr lang="en-GB" sz="1200" b="0" i="0" kern="1200" dirty="0">
              <a:solidFill>
                <a:schemeClr val="tx1"/>
              </a:solidFill>
              <a:effectLst/>
              <a:latin typeface="+mn-lt"/>
              <a:ea typeface="+mn-ea"/>
              <a:cs typeface="+mn-cs"/>
            </a:endParaRPr>
          </a:p>
          <a:p>
            <a:r>
              <a:rPr lang="en-GB" sz="1200" b="1" i="0" kern="1200" dirty="0">
                <a:solidFill>
                  <a:schemeClr val="tx1"/>
                </a:solidFill>
                <a:effectLst/>
                <a:latin typeface="+mn-lt"/>
                <a:ea typeface="+mn-ea"/>
                <a:cs typeface="+mn-cs"/>
              </a:rPr>
              <a:t>When will it scar? What would you do? </a:t>
            </a:r>
            <a:r>
              <a:rPr lang="en-GB" sz="1200" b="0" i="0" kern="1200" dirty="0">
                <a:solidFill>
                  <a:schemeClr val="tx1"/>
                </a:solidFill>
                <a:effectLst/>
                <a:latin typeface="+mn-lt"/>
                <a:ea typeface="+mn-ea"/>
                <a:cs typeface="+mn-cs"/>
              </a:rPr>
              <a:t>If penetrated into stroma – so consider steroids i.e. </a:t>
            </a:r>
            <a:r>
              <a:rPr lang="en-GB" sz="1200" b="0" i="0" kern="1200" dirty="0" err="1">
                <a:solidFill>
                  <a:schemeClr val="tx1"/>
                </a:solidFill>
                <a:effectLst/>
                <a:latin typeface="+mn-lt"/>
                <a:ea typeface="+mn-ea"/>
                <a:cs typeface="+mn-cs"/>
              </a:rPr>
              <a:t>pred</a:t>
            </a:r>
            <a:r>
              <a:rPr lang="en-GB" sz="1200" b="0" i="0" kern="1200" dirty="0">
                <a:solidFill>
                  <a:schemeClr val="tx1"/>
                </a:solidFill>
                <a:effectLst/>
                <a:latin typeface="+mn-lt"/>
                <a:ea typeface="+mn-ea"/>
                <a:cs typeface="+mn-cs"/>
              </a:rPr>
              <a:t> forte 1% QID for 7-10days. </a:t>
            </a:r>
            <a:endParaRPr lang="en-GB" sz="1200" b="1" i="0" kern="1200" dirty="0">
              <a:solidFill>
                <a:schemeClr val="tx1"/>
              </a:solidFill>
              <a:effectLst/>
              <a:latin typeface="+mn-lt"/>
              <a:ea typeface="+mn-ea"/>
              <a:cs typeface="+mn-cs"/>
            </a:endParaRP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There is no evidence that eye patches are helpful. They may even be harmful due to loss of binocular vision. A meta-analysis has shown that for small corneal abrasions there is no benefit from patching the eye. [Turner A, </a:t>
            </a:r>
            <a:r>
              <a:rPr lang="en-GB" sz="1200" b="0" i="0" kern="1200" dirty="0" err="1">
                <a:solidFill>
                  <a:schemeClr val="tx1"/>
                </a:solidFill>
                <a:effectLst/>
                <a:latin typeface="+mn-lt"/>
                <a:ea typeface="+mn-ea"/>
                <a:cs typeface="+mn-cs"/>
              </a:rPr>
              <a:t>Rabiu</a:t>
            </a:r>
            <a:r>
              <a:rPr lang="en-GB" sz="1200" b="0" i="0" kern="1200" dirty="0">
                <a:solidFill>
                  <a:schemeClr val="tx1"/>
                </a:solidFill>
                <a:effectLst/>
                <a:latin typeface="+mn-lt"/>
                <a:ea typeface="+mn-ea"/>
                <a:cs typeface="+mn-cs"/>
              </a:rPr>
              <a:t> M. Patching for corneal abrasion. Cochrane Database </a:t>
            </a:r>
            <a:r>
              <a:rPr lang="en-GB" sz="1200" b="0" i="0" kern="1200" dirty="0" err="1">
                <a:solidFill>
                  <a:schemeClr val="tx1"/>
                </a:solidFill>
                <a:effectLst/>
                <a:latin typeface="+mn-lt"/>
                <a:ea typeface="+mn-ea"/>
                <a:cs typeface="+mn-cs"/>
              </a:rPr>
              <a:t>Syst</a:t>
            </a:r>
            <a:r>
              <a:rPr lang="en-GB" sz="1200" b="0" i="0" kern="1200" dirty="0">
                <a:solidFill>
                  <a:schemeClr val="tx1"/>
                </a:solidFill>
                <a:effectLst/>
                <a:latin typeface="+mn-lt"/>
                <a:ea typeface="+mn-ea"/>
                <a:cs typeface="+mn-cs"/>
              </a:rPr>
              <a:t> Rev. 2006 Apr 19;(2):CD004764. PMID: ] </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If the foreign body — or an associated rust ring — is not completely removed follow up should be arranged within 24 hours.</a:t>
            </a:r>
          </a:p>
          <a:p>
            <a:r>
              <a:rPr lang="en-GB" sz="1200" b="0" i="0" kern="1200" dirty="0" err="1">
                <a:solidFill>
                  <a:schemeClr val="tx1"/>
                </a:solidFill>
                <a:effectLst/>
                <a:latin typeface="+mn-lt"/>
                <a:ea typeface="+mn-ea"/>
                <a:cs typeface="+mn-cs"/>
              </a:rPr>
              <a:t>Opthalmology</a:t>
            </a:r>
            <a:r>
              <a:rPr lang="en-GB" sz="1200" b="0" i="0" kern="1200" dirty="0">
                <a:solidFill>
                  <a:schemeClr val="tx1"/>
                </a:solidFill>
                <a:effectLst/>
                <a:latin typeface="+mn-lt"/>
                <a:ea typeface="+mn-ea"/>
                <a:cs typeface="+mn-cs"/>
              </a:rPr>
              <a:t> review is required if there is a persistent epithelial defect (&gt;3 days)</a:t>
            </a:r>
          </a:p>
          <a:p>
            <a:r>
              <a:rPr lang="en-GB" sz="1200" b="0" i="0" kern="1200" dirty="0">
                <a:solidFill>
                  <a:schemeClr val="tx1"/>
                </a:solidFill>
                <a:effectLst/>
                <a:latin typeface="+mn-lt"/>
                <a:ea typeface="+mn-ea"/>
                <a:cs typeface="+mn-cs"/>
              </a:rPr>
              <a:t>Ocular penetration</a:t>
            </a:r>
          </a:p>
          <a:p>
            <a:endParaRPr lang="en-GB" sz="1200" b="0" i="0" kern="1200" dirty="0">
              <a:solidFill>
                <a:schemeClr val="tx1"/>
              </a:solidFill>
              <a:effectLst/>
              <a:latin typeface="+mn-lt"/>
              <a:ea typeface="+mn-ea"/>
              <a:cs typeface="+mn-cs"/>
            </a:endParaRPr>
          </a:p>
          <a:p>
            <a:endParaRPr lang="en-GB" dirty="0"/>
          </a:p>
          <a:p>
            <a:endParaRPr lang="en-GB" dirty="0"/>
          </a:p>
        </p:txBody>
      </p:sp>
      <p:sp>
        <p:nvSpPr>
          <p:cNvPr id="4" name="Slide Number Placeholder 3"/>
          <p:cNvSpPr>
            <a:spLocks noGrp="1"/>
          </p:cNvSpPr>
          <p:nvPr>
            <p:ph type="sldNum" sz="quarter" idx="10"/>
          </p:nvPr>
        </p:nvSpPr>
        <p:spPr/>
        <p:txBody>
          <a:bodyPr/>
          <a:lstStyle/>
          <a:p>
            <a:fld id="{32E38DB9-DF4D-4A16-8DDB-2246D19213B5}" type="slidenum">
              <a:rPr lang="en-GB" smtClean="0"/>
              <a:t>2</a:t>
            </a:fld>
            <a:endParaRPr lang="en-GB"/>
          </a:p>
        </p:txBody>
      </p:sp>
    </p:spTree>
    <p:extLst>
      <p:ext uri="{BB962C8B-B14F-4D97-AF65-F5344CB8AC3E}">
        <p14:creationId xmlns:p14="http://schemas.microsoft.com/office/powerpoint/2010/main" val="32835622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https://lifeinthefastlane.com/ophthalmology-befuddler-010/ </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Early in the day he was cleaning up the workshop and felt something get in his right eye, he then rinsed his eye out with water. Over the course of the day the irritation worsened, his eye is constantly watering and its becoming red.</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The foreign body is at about 9 o’clock o the surface of the cornea, midway across the iris. A rust ring and conjunctival injection is present</a:t>
            </a:r>
          </a:p>
          <a:p>
            <a:endParaRPr lang="en-GB" sz="1200" b="0" i="0" kern="1200" dirty="0">
              <a:solidFill>
                <a:schemeClr val="tx1"/>
              </a:solidFill>
              <a:effectLst/>
              <a:latin typeface="+mn-lt"/>
              <a:ea typeface="+mn-ea"/>
              <a:cs typeface="+mn-cs"/>
            </a:endParaRPr>
          </a:p>
          <a:p>
            <a:r>
              <a:rPr lang="en-GB" sz="1200" b="1" i="0" kern="1200" dirty="0">
                <a:solidFill>
                  <a:schemeClr val="tx1"/>
                </a:solidFill>
                <a:effectLst/>
                <a:latin typeface="+mn-lt"/>
                <a:ea typeface="+mn-ea"/>
                <a:cs typeface="+mn-cs"/>
              </a:rPr>
              <a:t>How long does it take for rust ring to form? </a:t>
            </a:r>
            <a:r>
              <a:rPr lang="en-GB" sz="1200" b="0" i="0" kern="1200" dirty="0">
                <a:solidFill>
                  <a:schemeClr val="tx1"/>
                </a:solidFill>
                <a:effectLst/>
                <a:latin typeface="+mn-lt"/>
                <a:ea typeface="+mn-ea"/>
                <a:cs typeface="+mn-cs"/>
              </a:rPr>
              <a:t>4 – 6 hours (fluid from cornea begins to decompose and rush leaches into surrounding tissue)</a:t>
            </a:r>
          </a:p>
          <a:p>
            <a:endParaRPr lang="en-GB" sz="1200" b="0" i="0" kern="1200" dirty="0">
              <a:solidFill>
                <a:schemeClr val="tx1"/>
              </a:solidFill>
              <a:effectLst/>
              <a:latin typeface="+mn-lt"/>
              <a:ea typeface="+mn-ea"/>
              <a:cs typeface="+mn-cs"/>
            </a:endParaRPr>
          </a:p>
          <a:p>
            <a:r>
              <a:rPr lang="en-GB" sz="1200" b="1" i="0" kern="1200" dirty="0">
                <a:solidFill>
                  <a:schemeClr val="tx1"/>
                </a:solidFill>
                <a:effectLst/>
                <a:latin typeface="+mn-lt"/>
                <a:ea typeface="+mn-ea"/>
                <a:cs typeface="+mn-cs"/>
              </a:rPr>
              <a:t>What other tests? </a:t>
            </a:r>
            <a:r>
              <a:rPr lang="en-GB" sz="1200" b="0" i="0" kern="1200" dirty="0">
                <a:solidFill>
                  <a:schemeClr val="tx1"/>
                </a:solidFill>
                <a:effectLst/>
                <a:latin typeface="+mn-lt"/>
                <a:ea typeface="+mn-ea"/>
                <a:cs typeface="+mn-cs"/>
              </a:rPr>
              <a:t>Seidel sign, DFE</a:t>
            </a:r>
            <a:endParaRPr lang="en-GB" sz="1200" b="1" i="0" kern="1200" dirty="0">
              <a:solidFill>
                <a:schemeClr val="tx1"/>
              </a:solidFill>
              <a:effectLst/>
              <a:latin typeface="+mn-lt"/>
              <a:ea typeface="+mn-ea"/>
              <a:cs typeface="+mn-cs"/>
            </a:endParaRPr>
          </a:p>
          <a:p>
            <a:endParaRPr lang="en-GB" sz="1200" b="1" i="0" kern="1200" dirty="0">
              <a:solidFill>
                <a:schemeClr val="tx1"/>
              </a:solidFill>
              <a:effectLst/>
              <a:latin typeface="+mn-lt"/>
              <a:ea typeface="+mn-ea"/>
              <a:cs typeface="+mn-cs"/>
            </a:endParaRPr>
          </a:p>
          <a:p>
            <a:r>
              <a:rPr lang="en-GB" sz="1200" b="1" i="0" kern="1200" dirty="0">
                <a:solidFill>
                  <a:schemeClr val="tx1"/>
                </a:solidFill>
                <a:effectLst/>
                <a:latin typeface="+mn-lt"/>
                <a:ea typeface="+mn-ea"/>
                <a:cs typeface="+mn-cs"/>
              </a:rPr>
              <a:t>What tools?</a:t>
            </a:r>
            <a:r>
              <a:rPr lang="en-GB" sz="1200" b="0" i="0" kern="1200" dirty="0">
                <a:solidFill>
                  <a:schemeClr val="tx1"/>
                </a:solidFill>
                <a:effectLst/>
                <a:latin typeface="+mn-lt"/>
                <a:ea typeface="+mn-ea"/>
                <a:cs typeface="+mn-cs"/>
              </a:rPr>
              <a:t> Q tip, 25G needle, metallic spud, </a:t>
            </a:r>
            <a:r>
              <a:rPr lang="en-GB" sz="1200" b="0" i="0" kern="1200" dirty="0" err="1">
                <a:solidFill>
                  <a:schemeClr val="tx1"/>
                </a:solidFill>
                <a:effectLst/>
                <a:latin typeface="+mn-lt"/>
                <a:ea typeface="+mn-ea"/>
                <a:cs typeface="+mn-cs"/>
              </a:rPr>
              <a:t>algar</a:t>
            </a:r>
            <a:r>
              <a:rPr lang="en-GB" sz="1200" b="0" i="0" kern="1200" dirty="0">
                <a:solidFill>
                  <a:schemeClr val="tx1"/>
                </a:solidFill>
                <a:effectLst/>
                <a:latin typeface="+mn-lt"/>
                <a:ea typeface="+mn-ea"/>
                <a:cs typeface="+mn-cs"/>
              </a:rPr>
              <a:t> brush</a:t>
            </a:r>
            <a:endParaRPr lang="en-GB" sz="1200" b="1" i="0" kern="1200" dirty="0">
              <a:solidFill>
                <a:schemeClr val="tx1"/>
              </a:solidFill>
              <a:effectLst/>
              <a:latin typeface="+mn-lt"/>
              <a:ea typeface="+mn-ea"/>
              <a:cs typeface="+mn-cs"/>
            </a:endParaRPr>
          </a:p>
          <a:p>
            <a:endParaRPr lang="en-GB" dirty="0"/>
          </a:p>
          <a:p>
            <a:r>
              <a:rPr lang="en-GB" sz="1200" b="0" i="0" kern="1200" dirty="0">
                <a:solidFill>
                  <a:schemeClr val="tx1"/>
                </a:solidFill>
                <a:effectLst/>
                <a:latin typeface="+mn-lt"/>
                <a:ea typeface="+mn-ea"/>
                <a:cs typeface="+mn-cs"/>
              </a:rPr>
              <a:t>Provide topical </a:t>
            </a:r>
            <a:r>
              <a:rPr lang="en-GB" sz="1200" b="0" i="0" kern="1200" dirty="0" err="1">
                <a:solidFill>
                  <a:schemeClr val="tx1"/>
                </a:solidFill>
                <a:effectLst/>
                <a:latin typeface="+mn-lt"/>
                <a:ea typeface="+mn-ea"/>
                <a:cs typeface="+mn-cs"/>
              </a:rPr>
              <a:t>anesthesia</a:t>
            </a:r>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Remove foreign body using a slit lamp</a:t>
            </a:r>
          </a:p>
          <a:p>
            <a:r>
              <a:rPr lang="en-GB" sz="1200" b="0" i="0" kern="1200" dirty="0">
                <a:solidFill>
                  <a:schemeClr val="tx1"/>
                </a:solidFill>
                <a:effectLst/>
                <a:latin typeface="+mn-lt"/>
                <a:ea typeface="+mn-ea"/>
                <a:cs typeface="+mn-cs"/>
              </a:rPr>
              <a:t>use fluorescein to assess the depth and measure the size of the epithelial defect</a:t>
            </a:r>
          </a:p>
          <a:p>
            <a:r>
              <a:rPr lang="en-GB" sz="1200" b="0" i="0" kern="1200" dirty="0">
                <a:solidFill>
                  <a:schemeClr val="tx1"/>
                </a:solidFill>
                <a:effectLst/>
                <a:latin typeface="+mn-lt"/>
                <a:ea typeface="+mn-ea"/>
                <a:cs typeface="+mn-cs"/>
              </a:rPr>
              <a:t>give oral analgesia and a </a:t>
            </a:r>
            <a:r>
              <a:rPr lang="en-GB" sz="1200" b="0" i="1" kern="1200" dirty="0">
                <a:solidFill>
                  <a:schemeClr val="tx1"/>
                </a:solidFill>
                <a:effectLst/>
                <a:latin typeface="+mn-lt"/>
                <a:ea typeface="+mn-ea"/>
                <a:cs typeface="+mn-cs"/>
              </a:rPr>
              <a:t>cycloplegic agent (e.g. 2% homatropine) for comfort??</a:t>
            </a:r>
          </a:p>
          <a:p>
            <a:r>
              <a:rPr lang="en-GB" sz="1200" b="0" i="0" kern="1200" dirty="0">
                <a:solidFill>
                  <a:schemeClr val="tx1"/>
                </a:solidFill>
                <a:effectLst/>
                <a:latin typeface="+mn-lt"/>
                <a:ea typeface="+mn-ea"/>
                <a:cs typeface="+mn-cs"/>
              </a:rPr>
              <a:t>give topical antibiotics</a:t>
            </a:r>
          </a:p>
          <a:p>
            <a:r>
              <a:rPr lang="en-GB" sz="1200" b="0" i="0" kern="1200" dirty="0">
                <a:solidFill>
                  <a:schemeClr val="tx1"/>
                </a:solidFill>
                <a:effectLst/>
                <a:latin typeface="+mn-lt"/>
                <a:ea typeface="+mn-ea"/>
                <a:cs typeface="+mn-cs"/>
              </a:rPr>
              <a:t>arrange appropriate follow up</a:t>
            </a:r>
          </a:p>
          <a:p>
            <a:endParaRPr lang="en-GB" sz="1200" b="1" i="0" kern="1200" dirty="0">
              <a:solidFill>
                <a:schemeClr val="tx1"/>
              </a:solidFill>
              <a:effectLst/>
              <a:latin typeface="+mn-lt"/>
              <a:ea typeface="+mn-ea"/>
              <a:cs typeface="+mn-cs"/>
            </a:endParaRPr>
          </a:p>
          <a:p>
            <a:r>
              <a:rPr lang="en-GB" sz="1200" b="1" i="0" kern="1200" dirty="0">
                <a:solidFill>
                  <a:schemeClr val="tx1"/>
                </a:solidFill>
                <a:effectLst/>
                <a:latin typeface="+mn-lt"/>
                <a:ea typeface="+mn-ea"/>
                <a:cs typeface="+mn-cs"/>
              </a:rPr>
              <a:t>Role of bandage contact lens? </a:t>
            </a:r>
            <a:r>
              <a:rPr lang="en-GB" sz="1200" b="0" i="0" kern="1200" dirty="0">
                <a:solidFill>
                  <a:schemeClr val="tx1"/>
                </a:solidFill>
                <a:effectLst/>
                <a:latin typeface="+mn-lt"/>
                <a:ea typeface="+mn-ea"/>
                <a:cs typeface="+mn-cs"/>
              </a:rPr>
              <a:t>In select cases it is appropriate (i.e. more severe) However if px has had no CL experience, I would avoid just in case it dislodges or taco rolls. It may also contribute to more infective climate so monitor closely. REMOVE 24 HRS</a:t>
            </a:r>
            <a:endParaRPr lang="en-GB" sz="1200" b="1" i="0" kern="1200" dirty="0">
              <a:solidFill>
                <a:schemeClr val="tx1"/>
              </a:solidFill>
              <a:effectLst/>
              <a:latin typeface="+mn-lt"/>
              <a:ea typeface="+mn-ea"/>
              <a:cs typeface="+mn-cs"/>
            </a:endParaRPr>
          </a:p>
          <a:p>
            <a:endParaRPr lang="en-GB" sz="1200" b="0" i="0" kern="1200" dirty="0">
              <a:solidFill>
                <a:schemeClr val="tx1"/>
              </a:solidFill>
              <a:effectLst/>
              <a:latin typeface="+mn-lt"/>
              <a:ea typeface="+mn-ea"/>
              <a:cs typeface="+mn-cs"/>
            </a:endParaRPr>
          </a:p>
          <a:p>
            <a:r>
              <a:rPr lang="en-GB" sz="1200" b="1" i="0" kern="1200" dirty="0">
                <a:solidFill>
                  <a:schemeClr val="tx1"/>
                </a:solidFill>
                <a:effectLst/>
                <a:latin typeface="+mn-lt"/>
                <a:ea typeface="+mn-ea"/>
                <a:cs typeface="+mn-cs"/>
              </a:rPr>
              <a:t>What other aspects need to be consolidated at follow-up? </a:t>
            </a:r>
            <a:r>
              <a:rPr lang="en-GB" sz="1200" b="0" i="0" kern="1200" dirty="0">
                <a:solidFill>
                  <a:schemeClr val="tx1"/>
                </a:solidFill>
                <a:effectLst/>
                <a:latin typeface="+mn-lt"/>
                <a:ea typeface="+mn-ea"/>
                <a:cs typeface="+mn-cs"/>
              </a:rPr>
              <a:t>Safety specs, </a:t>
            </a:r>
          </a:p>
          <a:p>
            <a:endParaRPr lang="en-GB" sz="1200" b="0" i="0" kern="1200" dirty="0">
              <a:solidFill>
                <a:schemeClr val="tx1"/>
              </a:solidFill>
              <a:effectLst/>
              <a:latin typeface="+mn-lt"/>
              <a:ea typeface="+mn-ea"/>
              <a:cs typeface="+mn-cs"/>
            </a:endParaRPr>
          </a:p>
          <a:p>
            <a:r>
              <a:rPr lang="en-GB" sz="1200" b="1" i="0" kern="1200" dirty="0">
                <a:solidFill>
                  <a:schemeClr val="tx1"/>
                </a:solidFill>
                <a:effectLst/>
                <a:latin typeface="+mn-lt"/>
                <a:ea typeface="+mn-ea"/>
                <a:cs typeface="+mn-cs"/>
              </a:rPr>
              <a:t>What is the prognosis? Any difference if patient diabetic? </a:t>
            </a:r>
            <a:r>
              <a:rPr lang="en-GB" sz="1200" b="0" i="0" kern="1200" dirty="0">
                <a:solidFill>
                  <a:schemeClr val="tx1"/>
                </a:solidFill>
                <a:effectLst/>
                <a:latin typeface="+mn-lt"/>
                <a:ea typeface="+mn-ea"/>
                <a:cs typeface="+mn-cs"/>
              </a:rPr>
              <a:t>Expect full epithelial recovery in 1 week (stop prophylactic ab 3 days after re-</a:t>
            </a:r>
            <a:r>
              <a:rPr lang="en-GB" sz="1200" b="0" i="0" kern="1200" dirty="0" err="1">
                <a:solidFill>
                  <a:schemeClr val="tx1"/>
                </a:solidFill>
                <a:effectLst/>
                <a:latin typeface="+mn-lt"/>
                <a:ea typeface="+mn-ea"/>
                <a:cs typeface="+mn-cs"/>
              </a:rPr>
              <a:t>epithlialisation</a:t>
            </a:r>
            <a:r>
              <a:rPr lang="en-GB" sz="1200" b="0" i="0" kern="1200" dirty="0">
                <a:solidFill>
                  <a:schemeClr val="tx1"/>
                </a:solidFill>
                <a:effectLst/>
                <a:latin typeface="+mn-lt"/>
                <a:ea typeface="+mn-ea"/>
                <a:cs typeface="+mn-cs"/>
              </a:rPr>
              <a:t>) – Expect longer if diabetic</a:t>
            </a:r>
          </a:p>
          <a:p>
            <a:endParaRPr lang="en-GB" sz="1200" b="0" i="0" kern="1200" dirty="0">
              <a:solidFill>
                <a:schemeClr val="tx1"/>
              </a:solidFill>
              <a:effectLst/>
              <a:latin typeface="+mn-lt"/>
              <a:ea typeface="+mn-ea"/>
              <a:cs typeface="+mn-cs"/>
            </a:endParaRPr>
          </a:p>
          <a:p>
            <a:r>
              <a:rPr lang="en-GB" sz="1200" b="1" i="0" kern="1200" dirty="0">
                <a:solidFill>
                  <a:schemeClr val="tx1"/>
                </a:solidFill>
                <a:effectLst/>
                <a:latin typeface="+mn-lt"/>
                <a:ea typeface="+mn-ea"/>
                <a:cs typeface="+mn-cs"/>
              </a:rPr>
              <a:t>When will it scar? What would you do? </a:t>
            </a:r>
            <a:r>
              <a:rPr lang="en-GB" sz="1200" b="0" i="0" kern="1200" dirty="0">
                <a:solidFill>
                  <a:schemeClr val="tx1"/>
                </a:solidFill>
                <a:effectLst/>
                <a:latin typeface="+mn-lt"/>
                <a:ea typeface="+mn-ea"/>
                <a:cs typeface="+mn-cs"/>
              </a:rPr>
              <a:t>If penetrated into stroma – so consider steroids i.e. </a:t>
            </a:r>
            <a:r>
              <a:rPr lang="en-GB" sz="1200" b="0" i="0" kern="1200" dirty="0" err="1">
                <a:solidFill>
                  <a:schemeClr val="tx1"/>
                </a:solidFill>
                <a:effectLst/>
                <a:latin typeface="+mn-lt"/>
                <a:ea typeface="+mn-ea"/>
                <a:cs typeface="+mn-cs"/>
              </a:rPr>
              <a:t>pred</a:t>
            </a:r>
            <a:r>
              <a:rPr lang="en-GB" sz="1200" b="0" i="0" kern="1200" dirty="0">
                <a:solidFill>
                  <a:schemeClr val="tx1"/>
                </a:solidFill>
                <a:effectLst/>
                <a:latin typeface="+mn-lt"/>
                <a:ea typeface="+mn-ea"/>
                <a:cs typeface="+mn-cs"/>
              </a:rPr>
              <a:t> forte 1% QID for 7-10days. </a:t>
            </a:r>
            <a:endParaRPr lang="en-GB" sz="1200" b="1" i="0" kern="1200" dirty="0">
              <a:solidFill>
                <a:schemeClr val="tx1"/>
              </a:solidFill>
              <a:effectLst/>
              <a:latin typeface="+mn-lt"/>
              <a:ea typeface="+mn-ea"/>
              <a:cs typeface="+mn-cs"/>
            </a:endParaRP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There is no evidence that eye patches are helpful. They may even be harmful due to loss of binocular vision. A meta-analysis has shown that for small corneal abrasions there is no benefit from patching the eye. [Turner A, </a:t>
            </a:r>
            <a:r>
              <a:rPr lang="en-GB" sz="1200" b="0" i="0" kern="1200" dirty="0" err="1">
                <a:solidFill>
                  <a:schemeClr val="tx1"/>
                </a:solidFill>
                <a:effectLst/>
                <a:latin typeface="+mn-lt"/>
                <a:ea typeface="+mn-ea"/>
                <a:cs typeface="+mn-cs"/>
              </a:rPr>
              <a:t>Rabiu</a:t>
            </a:r>
            <a:r>
              <a:rPr lang="en-GB" sz="1200" b="0" i="0" kern="1200" dirty="0">
                <a:solidFill>
                  <a:schemeClr val="tx1"/>
                </a:solidFill>
                <a:effectLst/>
                <a:latin typeface="+mn-lt"/>
                <a:ea typeface="+mn-ea"/>
                <a:cs typeface="+mn-cs"/>
              </a:rPr>
              <a:t> M. Patching for corneal abrasion. Cochrane Database </a:t>
            </a:r>
            <a:r>
              <a:rPr lang="en-GB" sz="1200" b="0" i="0" kern="1200" dirty="0" err="1">
                <a:solidFill>
                  <a:schemeClr val="tx1"/>
                </a:solidFill>
                <a:effectLst/>
                <a:latin typeface="+mn-lt"/>
                <a:ea typeface="+mn-ea"/>
                <a:cs typeface="+mn-cs"/>
              </a:rPr>
              <a:t>Syst</a:t>
            </a:r>
            <a:r>
              <a:rPr lang="en-GB" sz="1200" b="0" i="0" kern="1200" dirty="0">
                <a:solidFill>
                  <a:schemeClr val="tx1"/>
                </a:solidFill>
                <a:effectLst/>
                <a:latin typeface="+mn-lt"/>
                <a:ea typeface="+mn-ea"/>
                <a:cs typeface="+mn-cs"/>
              </a:rPr>
              <a:t> Rev. 2006 Apr 19;(2):CD004764. PMID: ] </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If the foreign body — or an associated rust ring — is not completely removed follow up should be arranged within 24 hours.</a:t>
            </a:r>
          </a:p>
          <a:p>
            <a:r>
              <a:rPr lang="en-GB" sz="1200" b="0" i="0" kern="1200" dirty="0" err="1">
                <a:solidFill>
                  <a:schemeClr val="tx1"/>
                </a:solidFill>
                <a:effectLst/>
                <a:latin typeface="+mn-lt"/>
                <a:ea typeface="+mn-ea"/>
                <a:cs typeface="+mn-cs"/>
              </a:rPr>
              <a:t>Opthalmology</a:t>
            </a:r>
            <a:r>
              <a:rPr lang="en-GB" sz="1200" b="0" i="0" kern="1200" dirty="0">
                <a:solidFill>
                  <a:schemeClr val="tx1"/>
                </a:solidFill>
                <a:effectLst/>
                <a:latin typeface="+mn-lt"/>
                <a:ea typeface="+mn-ea"/>
                <a:cs typeface="+mn-cs"/>
              </a:rPr>
              <a:t> review is required if there is a persistent epithelial defect (&gt;3 days)</a:t>
            </a:r>
          </a:p>
          <a:p>
            <a:r>
              <a:rPr lang="en-GB" sz="1200" b="0" i="0" kern="1200" dirty="0">
                <a:solidFill>
                  <a:schemeClr val="tx1"/>
                </a:solidFill>
                <a:effectLst/>
                <a:latin typeface="+mn-lt"/>
                <a:ea typeface="+mn-ea"/>
                <a:cs typeface="+mn-cs"/>
              </a:rPr>
              <a:t>Ocular penetration</a:t>
            </a:r>
          </a:p>
          <a:p>
            <a:endParaRPr lang="en-GB" sz="1200" b="0" i="0" kern="1200" dirty="0">
              <a:solidFill>
                <a:schemeClr val="tx1"/>
              </a:solidFill>
              <a:effectLst/>
              <a:latin typeface="+mn-lt"/>
              <a:ea typeface="+mn-ea"/>
              <a:cs typeface="+mn-cs"/>
            </a:endParaRPr>
          </a:p>
          <a:p>
            <a:endParaRPr lang="en-GB" dirty="0"/>
          </a:p>
          <a:p>
            <a:endParaRPr lang="en-GB" dirty="0"/>
          </a:p>
        </p:txBody>
      </p:sp>
      <p:sp>
        <p:nvSpPr>
          <p:cNvPr id="4" name="Slide Number Placeholder 3"/>
          <p:cNvSpPr>
            <a:spLocks noGrp="1"/>
          </p:cNvSpPr>
          <p:nvPr>
            <p:ph type="sldNum" sz="quarter" idx="10"/>
          </p:nvPr>
        </p:nvSpPr>
        <p:spPr/>
        <p:txBody>
          <a:bodyPr/>
          <a:lstStyle/>
          <a:p>
            <a:fld id="{32E38DB9-DF4D-4A16-8DDB-2246D19213B5}" type="slidenum">
              <a:rPr lang="en-GB" smtClean="0"/>
              <a:t>3</a:t>
            </a:fld>
            <a:endParaRPr lang="en-GB"/>
          </a:p>
        </p:txBody>
      </p:sp>
    </p:spTree>
    <p:extLst>
      <p:ext uri="{BB962C8B-B14F-4D97-AF65-F5344CB8AC3E}">
        <p14:creationId xmlns:p14="http://schemas.microsoft.com/office/powerpoint/2010/main" val="33646571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Grade 2-3 Cells and flare = 16-25 vs 26-50 cells in 1mm x 1mm field </a:t>
            </a:r>
          </a:p>
          <a:p>
            <a:endParaRPr lang="en-GB" dirty="0"/>
          </a:p>
          <a:p>
            <a:r>
              <a:rPr lang="en-GB" b="1" dirty="0"/>
              <a:t>Let’s say they have ~ 25cells what is mx?</a:t>
            </a:r>
          </a:p>
          <a:p>
            <a:endParaRPr lang="en-GB" dirty="0"/>
          </a:p>
          <a:p>
            <a:r>
              <a:rPr lang="en-GB" b="1" dirty="0"/>
              <a:t>What is Grade 2-3 flare?</a:t>
            </a:r>
          </a:p>
          <a:p>
            <a:r>
              <a:rPr lang="en-GB" dirty="0"/>
              <a:t>0 = none, 1 = faint, 2 = moderate (iris and lens still clear). 3 = marked (iris and lens hazy), 4 = intense (fibrin or plastic aqueous)</a:t>
            </a:r>
          </a:p>
          <a:p>
            <a:endParaRPr lang="en-GB" dirty="0"/>
          </a:p>
          <a:p>
            <a:r>
              <a:rPr lang="en-GB" b="1" dirty="0"/>
              <a:t>What do you expect the IOP to be compared to other normal eye? </a:t>
            </a:r>
            <a:r>
              <a:rPr lang="en-GB" dirty="0"/>
              <a:t>Generally slightly less as CB inflamed so can’t produce as much and increase in released prostaglandins = increased uveoscleral outflow in acute phase but occasionally greater due to reduced outflow (trabeculitis, inflammatory cells or debris blocking angle, ant/post </a:t>
            </a:r>
            <a:r>
              <a:rPr lang="en-GB" dirty="0" err="1"/>
              <a:t>synechiae</a:t>
            </a:r>
            <a:r>
              <a:rPr lang="en-GB" dirty="0"/>
              <a:t>, </a:t>
            </a:r>
            <a:r>
              <a:rPr lang="en-GB" dirty="0" err="1"/>
              <a:t>trabeculosclerosis</a:t>
            </a:r>
            <a:r>
              <a:rPr lang="en-GB" dirty="0"/>
              <a:t> or steroid response)</a:t>
            </a:r>
          </a:p>
          <a:p>
            <a:endParaRPr lang="en-GB" dirty="0"/>
          </a:p>
          <a:p>
            <a:r>
              <a:rPr lang="en-GB" dirty="0"/>
              <a:t>	Elevated IOP more common in infectious uveitis (herpes/toxoplasmosis), </a:t>
            </a:r>
            <a:r>
              <a:rPr lang="en-GB" dirty="0" err="1"/>
              <a:t>Fuch’s</a:t>
            </a:r>
            <a:r>
              <a:rPr lang="en-GB" dirty="0"/>
              <a:t> </a:t>
            </a:r>
            <a:r>
              <a:rPr lang="en-GB" dirty="0" err="1"/>
              <a:t>heterochromic</a:t>
            </a:r>
            <a:r>
              <a:rPr lang="en-GB" dirty="0"/>
              <a:t> </a:t>
            </a:r>
            <a:r>
              <a:rPr lang="en-GB" dirty="0" err="1"/>
              <a:t>iridocyclitis</a:t>
            </a:r>
            <a:r>
              <a:rPr lang="en-GB" dirty="0"/>
              <a:t>, Posner-</a:t>
            </a:r>
            <a:r>
              <a:rPr lang="en-GB" dirty="0" err="1"/>
              <a:t>Schlossman</a:t>
            </a:r>
            <a:r>
              <a:rPr lang="en-GB" dirty="0"/>
              <a:t> syndrome, juvenile chronic arthritis associated uveitis and sarcoidosis [</a:t>
            </a:r>
            <a:r>
              <a:rPr lang="en-GB" sz="1200" b="0" i="0" kern="1200" dirty="0" err="1">
                <a:solidFill>
                  <a:schemeClr val="tx1"/>
                </a:solidFill>
                <a:effectLst/>
                <a:latin typeface="+mn-lt"/>
                <a:ea typeface="+mn-ea"/>
                <a:cs typeface="+mn-cs"/>
              </a:rPr>
              <a:t>Panek</a:t>
            </a:r>
            <a:r>
              <a:rPr lang="en-GB" sz="1200" b="0" i="0" kern="1200" dirty="0">
                <a:solidFill>
                  <a:schemeClr val="tx1"/>
                </a:solidFill>
                <a:effectLst/>
                <a:latin typeface="+mn-lt"/>
                <a:ea typeface="+mn-ea"/>
                <a:cs typeface="+mn-cs"/>
              </a:rPr>
              <a:t> WC, Holland GN, Lee DA, Christensen RE. Glaucoma in patients with uveitis. </a:t>
            </a:r>
            <a:r>
              <a:rPr lang="en-GB" sz="1200" b="0" i="1" kern="1200" dirty="0">
                <a:solidFill>
                  <a:schemeClr val="tx1"/>
                </a:solidFill>
                <a:effectLst/>
                <a:latin typeface="+mn-lt"/>
                <a:ea typeface="+mn-ea"/>
                <a:cs typeface="+mn-cs"/>
              </a:rPr>
              <a:t>Br J Ophthalmol</a:t>
            </a:r>
            <a:r>
              <a:rPr lang="en-GB" sz="1200" b="0" i="0" kern="1200" dirty="0">
                <a:solidFill>
                  <a:schemeClr val="tx1"/>
                </a:solidFill>
                <a:effectLst/>
                <a:latin typeface="+mn-lt"/>
                <a:ea typeface="+mn-ea"/>
                <a:cs typeface="+mn-cs"/>
              </a:rPr>
              <a:t>1990; </a:t>
            </a:r>
            <a:r>
              <a:rPr lang="en-GB" sz="1200" b="1" i="0" kern="1200" dirty="0">
                <a:solidFill>
                  <a:schemeClr val="tx1"/>
                </a:solidFill>
                <a:effectLst/>
                <a:latin typeface="+mn-lt"/>
                <a:ea typeface="+mn-ea"/>
                <a:cs typeface="+mn-cs"/>
              </a:rPr>
              <a:t>74</a:t>
            </a:r>
            <a:r>
              <a:rPr lang="en-GB" sz="1200" b="0" i="0" kern="1200" dirty="0">
                <a:solidFill>
                  <a:schemeClr val="tx1"/>
                </a:solidFill>
                <a:effectLst/>
                <a:latin typeface="+mn-lt"/>
                <a:ea typeface="+mn-ea"/>
                <a:cs typeface="+mn-cs"/>
              </a:rPr>
              <a:t>: 223–227. Moorthy RS, </a:t>
            </a:r>
            <a:r>
              <a:rPr lang="en-GB" sz="1200" b="0" i="0" kern="1200" dirty="0" err="1">
                <a:solidFill>
                  <a:schemeClr val="tx1"/>
                </a:solidFill>
                <a:effectLst/>
                <a:latin typeface="+mn-lt"/>
                <a:ea typeface="+mn-ea"/>
                <a:cs typeface="+mn-cs"/>
              </a:rPr>
              <a:t>Mermoud</a:t>
            </a:r>
            <a:r>
              <a:rPr lang="en-GB" sz="1200" b="0" i="0" kern="1200" dirty="0">
                <a:solidFill>
                  <a:schemeClr val="tx1"/>
                </a:solidFill>
                <a:effectLst/>
                <a:latin typeface="+mn-lt"/>
                <a:ea typeface="+mn-ea"/>
                <a:cs typeface="+mn-cs"/>
              </a:rPr>
              <a:t> A, </a:t>
            </a:r>
            <a:r>
              <a:rPr lang="en-GB" sz="1200" b="0" i="0" kern="1200" dirty="0" err="1">
                <a:solidFill>
                  <a:schemeClr val="tx1"/>
                </a:solidFill>
                <a:effectLst/>
                <a:latin typeface="+mn-lt"/>
                <a:ea typeface="+mn-ea"/>
                <a:cs typeface="+mn-cs"/>
              </a:rPr>
              <a:t>Baerveldt</a:t>
            </a:r>
            <a:r>
              <a:rPr lang="en-GB" sz="1200" b="0" i="0" kern="1200" dirty="0">
                <a:solidFill>
                  <a:schemeClr val="tx1"/>
                </a:solidFill>
                <a:effectLst/>
                <a:latin typeface="+mn-lt"/>
                <a:ea typeface="+mn-ea"/>
                <a:cs typeface="+mn-cs"/>
              </a:rPr>
              <a:t> G, </a:t>
            </a:r>
            <a:r>
              <a:rPr lang="en-GB" sz="1200" b="0" i="0" kern="1200" dirty="0" err="1">
                <a:solidFill>
                  <a:schemeClr val="tx1"/>
                </a:solidFill>
                <a:effectLst/>
                <a:latin typeface="+mn-lt"/>
                <a:ea typeface="+mn-ea"/>
                <a:cs typeface="+mn-cs"/>
              </a:rPr>
              <a:t>Minckler</a:t>
            </a:r>
            <a:r>
              <a:rPr lang="en-GB" sz="1200" b="0" i="0" kern="1200" dirty="0">
                <a:solidFill>
                  <a:schemeClr val="tx1"/>
                </a:solidFill>
                <a:effectLst/>
                <a:latin typeface="+mn-lt"/>
                <a:ea typeface="+mn-ea"/>
                <a:cs typeface="+mn-cs"/>
              </a:rPr>
              <a:t> DS, Lee PP, Rao NA. Glaucoma associated with uveitis. </a:t>
            </a:r>
            <a:r>
              <a:rPr lang="en-GB" sz="1200" b="0" i="1" kern="1200" dirty="0" err="1">
                <a:solidFill>
                  <a:schemeClr val="tx1"/>
                </a:solidFill>
                <a:effectLst/>
                <a:latin typeface="+mn-lt"/>
                <a:ea typeface="+mn-ea"/>
                <a:cs typeface="+mn-cs"/>
              </a:rPr>
              <a:t>Surv</a:t>
            </a:r>
            <a:r>
              <a:rPr lang="en-GB" sz="1200" b="0" i="1" kern="1200" dirty="0">
                <a:solidFill>
                  <a:schemeClr val="tx1"/>
                </a:solidFill>
                <a:effectLst/>
                <a:latin typeface="+mn-lt"/>
                <a:ea typeface="+mn-ea"/>
                <a:cs typeface="+mn-cs"/>
              </a:rPr>
              <a:t> </a:t>
            </a:r>
            <a:r>
              <a:rPr lang="en-GB" sz="1200" b="0" i="1" kern="1200" dirty="0" err="1">
                <a:solidFill>
                  <a:schemeClr val="tx1"/>
                </a:solidFill>
                <a:effectLst/>
                <a:latin typeface="+mn-lt"/>
                <a:ea typeface="+mn-ea"/>
                <a:cs typeface="+mn-cs"/>
              </a:rPr>
              <a:t>Ophthalmol</a:t>
            </a:r>
            <a:r>
              <a:rPr lang="en-GB" sz="1200" b="0" i="0" kern="1200" dirty="0">
                <a:solidFill>
                  <a:schemeClr val="tx1"/>
                </a:solidFill>
                <a:effectLst/>
                <a:latin typeface="+mn-lt"/>
                <a:ea typeface="+mn-ea"/>
                <a:cs typeface="+mn-cs"/>
              </a:rPr>
              <a:t> 1997; </a:t>
            </a:r>
            <a:r>
              <a:rPr lang="en-GB" sz="1200" b="1" i="0" kern="1200" dirty="0">
                <a:solidFill>
                  <a:schemeClr val="tx1"/>
                </a:solidFill>
                <a:effectLst/>
                <a:latin typeface="+mn-lt"/>
                <a:ea typeface="+mn-ea"/>
                <a:cs typeface="+mn-cs"/>
              </a:rPr>
              <a:t>41</a:t>
            </a:r>
            <a:r>
              <a:rPr lang="en-GB" sz="1200" b="0" i="0" kern="1200" dirty="0">
                <a:solidFill>
                  <a:schemeClr val="tx1"/>
                </a:solidFill>
                <a:effectLst/>
                <a:latin typeface="+mn-lt"/>
                <a:ea typeface="+mn-ea"/>
                <a:cs typeface="+mn-cs"/>
              </a:rPr>
              <a:t>: 361–394.]</a:t>
            </a:r>
            <a:endParaRPr lang="en-GB" dirty="0"/>
          </a:p>
          <a:p>
            <a:endParaRPr lang="en-GB" dirty="0"/>
          </a:p>
          <a:p>
            <a:r>
              <a:rPr lang="en-GB" dirty="0"/>
              <a:t>http://onlinelibrary.wiley.com/doi/10.1111/j.1444-0938.2006.00128.x/full </a:t>
            </a:r>
          </a:p>
          <a:p>
            <a:pPr rtl="0" fontAlgn="t"/>
            <a:endParaRPr lang="en-GB" b="0" dirty="0">
              <a:effectLst/>
            </a:endParaRPr>
          </a:p>
          <a:p>
            <a:pPr rtl="0" fontAlgn="t"/>
            <a:r>
              <a:rPr lang="en-GB" b="1" dirty="0">
                <a:effectLst/>
              </a:rPr>
              <a:t>Review of systems</a:t>
            </a:r>
          </a:p>
          <a:p>
            <a:pPr fontAlgn="base"/>
            <a:r>
              <a:rPr lang="en-GB" sz="1200" b="0" i="0" kern="1200" dirty="0">
                <a:solidFill>
                  <a:schemeClr val="tx1"/>
                </a:solidFill>
                <a:effectLst/>
                <a:latin typeface="+mn-lt"/>
                <a:ea typeface="+mn-ea"/>
                <a:cs typeface="+mn-cs"/>
              </a:rPr>
              <a:t>• Rheumatological: </a:t>
            </a:r>
            <a:r>
              <a:rPr lang="en-GB" sz="1200" b="0" i="0" kern="1200" dirty="0" err="1">
                <a:solidFill>
                  <a:schemeClr val="tx1"/>
                </a:solidFill>
                <a:effectLst/>
                <a:latin typeface="+mn-lt"/>
                <a:ea typeface="+mn-ea"/>
                <a:cs typeface="+mn-cs"/>
              </a:rPr>
              <a:t>spondyloarthropathies</a:t>
            </a:r>
            <a:r>
              <a:rPr lang="en-GB" sz="1200" b="0" i="0" kern="1200" dirty="0">
                <a:solidFill>
                  <a:schemeClr val="tx1"/>
                </a:solidFill>
                <a:effectLst/>
                <a:latin typeface="+mn-lt"/>
                <a:ea typeface="+mn-ea"/>
                <a:cs typeface="+mn-cs"/>
              </a:rPr>
              <a:t>, especially ankylosing spondylitis</a:t>
            </a:r>
          </a:p>
          <a:p>
            <a:pPr fontAlgn="base"/>
            <a:r>
              <a:rPr lang="en-GB" sz="1200" b="0" i="0" kern="1200" dirty="0">
                <a:solidFill>
                  <a:schemeClr val="tx1"/>
                </a:solidFill>
                <a:effectLst/>
                <a:latin typeface="+mn-lt"/>
                <a:ea typeface="+mn-ea"/>
                <a:cs typeface="+mn-cs"/>
              </a:rPr>
              <a:t>• Genito-urinary: Reiter’s syndrome, </a:t>
            </a:r>
            <a:r>
              <a:rPr lang="en-GB" sz="1200" b="0" i="0" kern="1200" dirty="0" err="1">
                <a:solidFill>
                  <a:schemeClr val="tx1"/>
                </a:solidFill>
                <a:effectLst/>
                <a:latin typeface="+mn-lt"/>
                <a:ea typeface="+mn-ea"/>
                <a:cs typeface="+mn-cs"/>
              </a:rPr>
              <a:t>Behçet’s</a:t>
            </a:r>
            <a:r>
              <a:rPr lang="en-GB" sz="1200" b="0" i="0" kern="1200" dirty="0">
                <a:solidFill>
                  <a:schemeClr val="tx1"/>
                </a:solidFill>
                <a:effectLst/>
                <a:latin typeface="+mn-lt"/>
                <a:ea typeface="+mn-ea"/>
                <a:cs typeface="+mn-cs"/>
              </a:rPr>
              <a:t> disease, syphilis</a:t>
            </a:r>
          </a:p>
          <a:p>
            <a:pPr fontAlgn="base"/>
            <a:r>
              <a:rPr lang="en-GB" sz="1200" b="0" i="0" kern="1200" dirty="0">
                <a:solidFill>
                  <a:schemeClr val="tx1"/>
                </a:solidFill>
                <a:effectLst/>
                <a:latin typeface="+mn-lt"/>
                <a:ea typeface="+mn-ea"/>
                <a:cs typeface="+mn-cs"/>
              </a:rPr>
              <a:t>• Respiratory: sarcoidosis, tuberculosis</a:t>
            </a:r>
          </a:p>
          <a:p>
            <a:pPr fontAlgn="base"/>
            <a:r>
              <a:rPr lang="en-GB" sz="1200" b="0" i="0" kern="1200" dirty="0">
                <a:solidFill>
                  <a:schemeClr val="tx1"/>
                </a:solidFill>
                <a:effectLst/>
                <a:latin typeface="+mn-lt"/>
                <a:ea typeface="+mn-ea"/>
                <a:cs typeface="+mn-cs"/>
              </a:rPr>
              <a:t>• Gastrointestinal: inflammatory bowel disease</a:t>
            </a:r>
          </a:p>
          <a:p>
            <a:pPr fontAlgn="base"/>
            <a:r>
              <a:rPr lang="en-GB" sz="1200" b="0" i="0" kern="1200" dirty="0">
                <a:solidFill>
                  <a:schemeClr val="tx1"/>
                </a:solidFill>
                <a:effectLst/>
                <a:latin typeface="+mn-lt"/>
                <a:ea typeface="+mn-ea"/>
                <a:cs typeface="+mn-cs"/>
              </a:rPr>
              <a:t>• Dermatological: psoriasis, syphilis, sarcoidosis, herpes simplex, herpes zoster, </a:t>
            </a:r>
            <a:r>
              <a:rPr lang="en-GB" sz="1200" b="0" i="0" kern="1200" dirty="0" err="1">
                <a:solidFill>
                  <a:schemeClr val="tx1"/>
                </a:solidFill>
                <a:effectLst/>
                <a:latin typeface="+mn-lt"/>
                <a:ea typeface="+mn-ea"/>
                <a:cs typeface="+mn-cs"/>
              </a:rPr>
              <a:t>Behçet’s</a:t>
            </a:r>
            <a:r>
              <a:rPr lang="en-GB" sz="1200" b="0" i="0" kern="1200" dirty="0">
                <a:solidFill>
                  <a:schemeClr val="tx1"/>
                </a:solidFill>
                <a:effectLst/>
                <a:latin typeface="+mn-lt"/>
                <a:ea typeface="+mn-ea"/>
                <a:cs typeface="+mn-cs"/>
              </a:rPr>
              <a:t> disease.</a:t>
            </a:r>
          </a:p>
          <a:p>
            <a:pPr rtl="0" fontAlgn="t"/>
            <a:endParaRPr lang="en-GB" b="0" dirty="0">
              <a:effectLst/>
            </a:endParaRPr>
          </a:p>
          <a:p>
            <a:pPr rtl="0" fontAlgn="t"/>
            <a:r>
              <a:rPr lang="en-GB" b="1" dirty="0">
                <a:effectLst/>
              </a:rPr>
              <a:t>Pathophysiology of AAU?</a:t>
            </a:r>
          </a:p>
          <a:p>
            <a:pPr rtl="0" fontAlgn="t"/>
            <a:r>
              <a:rPr lang="en-GB" b="0" dirty="0">
                <a:effectLst/>
              </a:rPr>
              <a:t>- Breakdown of blood aqueous barrier i.e. increased permeability of iris/ciliary body </a:t>
            </a:r>
            <a:r>
              <a:rPr lang="en-GB" b="0" dirty="0" err="1">
                <a:effectLst/>
              </a:rPr>
              <a:t>capiliaries</a:t>
            </a:r>
            <a:r>
              <a:rPr lang="en-GB" b="0" dirty="0">
                <a:effectLst/>
              </a:rPr>
              <a:t> </a:t>
            </a:r>
            <a:r>
              <a:rPr lang="en-GB" b="0" dirty="0">
                <a:effectLst/>
                <a:sym typeface="Wingdings" panose="05000000000000000000" pitchFamily="2" charset="2"/>
              </a:rPr>
              <a:t> escape of leukocytes, protein and fibrin into aqueous </a:t>
            </a:r>
            <a:endParaRPr lang="en-GB" b="0" dirty="0">
              <a:effectLst/>
            </a:endParaRPr>
          </a:p>
          <a:p>
            <a:pPr rtl="0" fontAlgn="t"/>
            <a:r>
              <a:rPr lang="en-GB" b="0" dirty="0">
                <a:effectLst/>
              </a:rPr>
              <a:t/>
            </a:r>
            <a:br>
              <a:rPr lang="en-GB" b="0" dirty="0">
                <a:effectLst/>
              </a:rPr>
            </a:br>
            <a:r>
              <a:rPr lang="en-GB" sz="1200" b="1" i="0" u="sng" strike="noStrike" kern="1200" dirty="0">
                <a:solidFill>
                  <a:schemeClr val="tx1"/>
                </a:solidFill>
                <a:effectLst/>
                <a:latin typeface="+mn-lt"/>
                <a:ea typeface="+mn-ea"/>
                <a:cs typeface="+mn-cs"/>
              </a:rPr>
              <a:t>Steroids</a:t>
            </a:r>
            <a:r>
              <a:rPr lang="en-GB" sz="1200" b="1" i="0" u="none" strike="noStrike" kern="1200" dirty="0">
                <a:solidFill>
                  <a:schemeClr val="tx1"/>
                </a:solidFill>
                <a:effectLst/>
                <a:latin typeface="+mn-lt"/>
                <a:ea typeface="+mn-ea"/>
                <a:cs typeface="+mn-cs"/>
              </a:rPr>
              <a:t>:</a:t>
            </a:r>
            <a:endParaRPr lang="en-GB" b="0" dirty="0">
              <a:effectLst/>
            </a:endParaRPr>
          </a:p>
          <a:p>
            <a:pPr rtl="0" fontAlgn="t"/>
            <a:r>
              <a:rPr lang="en-GB" sz="1200" b="0" i="0" u="none" strike="noStrike" kern="1200" dirty="0">
                <a:solidFill>
                  <a:schemeClr val="tx1"/>
                </a:solidFill>
                <a:effectLst/>
                <a:latin typeface="+mn-lt"/>
                <a:ea typeface="+mn-ea"/>
                <a:cs typeface="+mn-cs"/>
              </a:rPr>
              <a:t>Mild/Moderate – </a:t>
            </a:r>
            <a:r>
              <a:rPr lang="en-GB" sz="1200" b="0" i="0" u="none" strike="noStrike" kern="1200" dirty="0" err="1">
                <a:solidFill>
                  <a:schemeClr val="tx1"/>
                </a:solidFill>
                <a:effectLst/>
                <a:latin typeface="+mn-lt"/>
                <a:ea typeface="+mn-ea"/>
                <a:cs typeface="+mn-cs"/>
              </a:rPr>
              <a:t>predforte</a:t>
            </a:r>
            <a:r>
              <a:rPr lang="en-GB" sz="1200" b="0" i="0" u="none" strike="noStrike" kern="1200" dirty="0">
                <a:solidFill>
                  <a:schemeClr val="tx1"/>
                </a:solidFill>
                <a:effectLst/>
                <a:latin typeface="+mn-lt"/>
                <a:ea typeface="+mn-ea"/>
                <a:cs typeface="+mn-cs"/>
              </a:rPr>
              <a:t> 1% every 2 hours</a:t>
            </a:r>
            <a:endParaRPr lang="en-GB" b="0" dirty="0">
              <a:effectLst/>
            </a:endParaRPr>
          </a:p>
          <a:p>
            <a:pPr rtl="0" fontAlgn="t"/>
            <a:r>
              <a:rPr lang="en-GB" sz="1200" b="0" i="0" u="none" strike="noStrike" kern="1200" dirty="0">
                <a:solidFill>
                  <a:schemeClr val="tx1"/>
                </a:solidFill>
                <a:effectLst/>
                <a:latin typeface="+mn-lt"/>
                <a:ea typeface="+mn-ea"/>
                <a:cs typeface="+mn-cs"/>
              </a:rPr>
              <a:t>Severe – </a:t>
            </a:r>
            <a:r>
              <a:rPr lang="en-GB" sz="1200" b="0" i="0" u="none" strike="noStrike" kern="1200" dirty="0" err="1">
                <a:solidFill>
                  <a:schemeClr val="tx1"/>
                </a:solidFill>
                <a:effectLst/>
                <a:latin typeface="+mn-lt"/>
                <a:ea typeface="+mn-ea"/>
                <a:cs typeface="+mn-cs"/>
              </a:rPr>
              <a:t>predforte</a:t>
            </a:r>
            <a:r>
              <a:rPr lang="en-GB" sz="1200" b="0" i="0" u="none" strike="noStrike" kern="1200" dirty="0">
                <a:solidFill>
                  <a:schemeClr val="tx1"/>
                </a:solidFill>
                <a:effectLst/>
                <a:latin typeface="+mn-lt"/>
                <a:ea typeface="+mn-ea"/>
                <a:cs typeface="+mn-cs"/>
              </a:rPr>
              <a:t> 1% every hour</a:t>
            </a:r>
          </a:p>
          <a:p>
            <a:pPr rtl="0" fontAlgn="t"/>
            <a:r>
              <a:rPr lang="en-GB" sz="1200" b="0" i="0" u="none" strike="noStrike" kern="1200" dirty="0">
                <a:solidFill>
                  <a:schemeClr val="tx1"/>
                </a:solidFill>
                <a:effectLst/>
                <a:latin typeface="+mn-lt"/>
                <a:ea typeface="+mn-ea"/>
                <a:cs typeface="+mn-cs"/>
              </a:rPr>
              <a:t>Consider loading dose i.e. 1 drop every 15mins for 1</a:t>
            </a:r>
            <a:r>
              <a:rPr lang="en-GB" sz="1200" b="0" i="0" u="none" strike="noStrike" kern="1200" baseline="30000" dirty="0">
                <a:solidFill>
                  <a:schemeClr val="tx1"/>
                </a:solidFill>
                <a:effectLst/>
                <a:latin typeface="+mn-lt"/>
                <a:ea typeface="+mn-ea"/>
                <a:cs typeface="+mn-cs"/>
              </a:rPr>
              <a:t>st</a:t>
            </a:r>
            <a:r>
              <a:rPr lang="en-GB" sz="1200" b="0" i="0" u="none" strike="noStrike" kern="1200" dirty="0">
                <a:solidFill>
                  <a:schemeClr val="tx1"/>
                </a:solidFill>
                <a:effectLst/>
                <a:latin typeface="+mn-lt"/>
                <a:ea typeface="+mn-ea"/>
                <a:cs typeface="+mn-cs"/>
              </a:rPr>
              <a:t> hour OR 1 drop every 30mins for 1</a:t>
            </a:r>
            <a:r>
              <a:rPr lang="en-GB" sz="1200" b="0" i="0" u="none" strike="noStrike" kern="1200" baseline="30000" dirty="0">
                <a:solidFill>
                  <a:schemeClr val="tx1"/>
                </a:solidFill>
                <a:effectLst/>
                <a:latin typeface="+mn-lt"/>
                <a:ea typeface="+mn-ea"/>
                <a:cs typeface="+mn-cs"/>
              </a:rPr>
              <a:t>st</a:t>
            </a:r>
            <a:r>
              <a:rPr lang="en-GB" sz="1200" b="0" i="0" u="none" strike="noStrike" kern="1200" dirty="0">
                <a:solidFill>
                  <a:schemeClr val="tx1"/>
                </a:solidFill>
                <a:effectLst/>
                <a:latin typeface="+mn-lt"/>
                <a:ea typeface="+mn-ea"/>
                <a:cs typeface="+mn-cs"/>
              </a:rPr>
              <a:t> 2 hours (</a:t>
            </a:r>
            <a:r>
              <a:rPr lang="en-GB" sz="1200" b="0" i="0" kern="1200" dirty="0" err="1">
                <a:solidFill>
                  <a:schemeClr val="tx1"/>
                </a:solidFill>
                <a:effectLst/>
                <a:latin typeface="+mn-lt"/>
                <a:ea typeface="+mn-ea"/>
                <a:cs typeface="+mn-cs"/>
              </a:rPr>
              <a:t>Nussenblatt</a:t>
            </a:r>
            <a:r>
              <a:rPr lang="en-GB" sz="1200" b="0" i="0" kern="1200" dirty="0">
                <a:solidFill>
                  <a:schemeClr val="tx1"/>
                </a:solidFill>
                <a:effectLst/>
                <a:latin typeface="+mn-lt"/>
                <a:ea typeface="+mn-ea"/>
                <a:cs typeface="+mn-cs"/>
              </a:rPr>
              <a:t> RB, </a:t>
            </a:r>
            <a:r>
              <a:rPr lang="en-GB" sz="1200" b="0" i="0" kern="1200" dirty="0" err="1">
                <a:solidFill>
                  <a:schemeClr val="tx1"/>
                </a:solidFill>
                <a:effectLst/>
                <a:latin typeface="+mn-lt"/>
                <a:ea typeface="+mn-ea"/>
                <a:cs typeface="+mn-cs"/>
              </a:rPr>
              <a:t>Whitcup</a:t>
            </a:r>
            <a:r>
              <a:rPr lang="en-GB" sz="1200" b="0" i="0" kern="1200" dirty="0">
                <a:solidFill>
                  <a:schemeClr val="tx1"/>
                </a:solidFill>
                <a:effectLst/>
                <a:latin typeface="+mn-lt"/>
                <a:ea typeface="+mn-ea"/>
                <a:cs typeface="+mn-cs"/>
              </a:rPr>
              <a:t> SM. Uveitis; Fundamentals and Clinical Practice, 3rded. Philadelphia: Mosby, 2004)</a:t>
            </a:r>
          </a:p>
          <a:p>
            <a:pPr rtl="0" fontAlgn="t"/>
            <a:r>
              <a:rPr lang="en-GB" sz="1200" b="0" i="0" kern="1200" dirty="0">
                <a:solidFill>
                  <a:schemeClr val="tx1"/>
                </a:solidFill>
                <a:effectLst/>
                <a:latin typeface="+mn-lt"/>
                <a:ea typeface="+mn-ea"/>
                <a:cs typeface="+mn-cs"/>
              </a:rPr>
              <a:t>	</a:t>
            </a:r>
            <a:r>
              <a:rPr lang="en-GB" sz="1200" b="1" i="0" kern="1200" dirty="0">
                <a:solidFill>
                  <a:schemeClr val="tx1"/>
                </a:solidFill>
                <a:effectLst/>
                <a:latin typeface="+mn-lt"/>
                <a:ea typeface="+mn-ea"/>
                <a:cs typeface="+mn-cs"/>
              </a:rPr>
              <a:t>What is the mechanism of action of steroid? </a:t>
            </a:r>
            <a:endParaRPr lang="en-GB" sz="1200" b="0" i="0" kern="1200" dirty="0">
              <a:solidFill>
                <a:schemeClr val="tx1"/>
              </a:solidFill>
              <a:effectLst/>
              <a:latin typeface="+mn-lt"/>
              <a:ea typeface="+mn-ea"/>
              <a:cs typeface="+mn-cs"/>
            </a:endParaRPr>
          </a:p>
          <a:p>
            <a:pPr rtl="0" fontAlgn="t"/>
            <a:r>
              <a:rPr lang="en-GB" sz="1200" b="0" i="0" kern="1200" dirty="0">
                <a:solidFill>
                  <a:schemeClr val="tx1"/>
                </a:solidFill>
                <a:effectLst/>
                <a:latin typeface="+mn-lt"/>
                <a:ea typeface="+mn-ea"/>
                <a:cs typeface="+mn-cs"/>
              </a:rPr>
              <a:t>	Steroids inhibit phospholipases which convert cell membrane phospholipids to arachidonic acid</a:t>
            </a:r>
          </a:p>
          <a:p>
            <a:pPr rtl="0" fontAlgn="t"/>
            <a:r>
              <a:rPr lang="en-GB" sz="1200" b="1" i="0" kern="1200" dirty="0">
                <a:solidFill>
                  <a:schemeClr val="tx1"/>
                </a:solidFill>
                <a:effectLst/>
                <a:latin typeface="+mn-lt"/>
                <a:ea typeface="+mn-ea"/>
                <a:cs typeface="+mn-cs"/>
              </a:rPr>
              <a:t>	Why </a:t>
            </a:r>
            <a:r>
              <a:rPr lang="en-GB" sz="1200" b="1" i="0" kern="1200" dirty="0" err="1">
                <a:solidFill>
                  <a:schemeClr val="tx1"/>
                </a:solidFill>
                <a:effectLst/>
                <a:latin typeface="+mn-lt"/>
                <a:ea typeface="+mn-ea"/>
                <a:cs typeface="+mn-cs"/>
              </a:rPr>
              <a:t>pred</a:t>
            </a:r>
            <a:r>
              <a:rPr lang="en-GB" sz="1200" b="1" i="0" kern="1200" dirty="0">
                <a:solidFill>
                  <a:schemeClr val="tx1"/>
                </a:solidFill>
                <a:effectLst/>
                <a:latin typeface="+mn-lt"/>
                <a:ea typeface="+mn-ea"/>
                <a:cs typeface="+mn-cs"/>
              </a:rPr>
              <a:t> forte?</a:t>
            </a:r>
            <a:r>
              <a:rPr lang="en-GB" sz="1200" b="0" i="0" kern="1200" dirty="0">
                <a:solidFill>
                  <a:schemeClr val="tx1"/>
                </a:solidFill>
                <a:effectLst/>
                <a:latin typeface="+mn-lt"/>
                <a:ea typeface="+mn-ea"/>
                <a:cs typeface="+mn-cs"/>
              </a:rPr>
              <a:t> </a:t>
            </a:r>
          </a:p>
          <a:p>
            <a:pPr rtl="0" fontAlgn="t"/>
            <a:r>
              <a:rPr lang="en-GB" sz="1200" b="0" i="0" kern="1200" dirty="0">
                <a:solidFill>
                  <a:schemeClr val="tx1"/>
                </a:solidFill>
                <a:effectLst/>
                <a:latin typeface="+mn-lt"/>
                <a:ea typeface="+mn-ea"/>
                <a:cs typeface="+mn-cs"/>
              </a:rPr>
              <a:t>	Acetate form penetrates intact corneal epithelium and prednisolone acetate has greatest </a:t>
            </a:r>
            <a:r>
              <a:rPr lang="en-GB" sz="1200" b="0" i="0" kern="1200" dirty="0" err="1">
                <a:solidFill>
                  <a:schemeClr val="tx1"/>
                </a:solidFill>
                <a:effectLst/>
                <a:latin typeface="+mn-lt"/>
                <a:ea typeface="+mn-ea"/>
                <a:cs typeface="+mn-cs"/>
              </a:rPr>
              <a:t>antiinflamamtory</a:t>
            </a:r>
            <a:r>
              <a:rPr lang="en-GB" sz="1200" b="0" i="0" kern="1200" dirty="0">
                <a:solidFill>
                  <a:schemeClr val="tx1"/>
                </a:solidFill>
                <a:effectLst/>
                <a:latin typeface="+mn-lt"/>
                <a:ea typeface="+mn-ea"/>
                <a:cs typeface="+mn-cs"/>
              </a:rPr>
              <a:t> effect [Leibowitz HM. Management of inflammation in the cornea and conjunctiva. </a:t>
            </a:r>
            <a:r>
              <a:rPr lang="en-GB" sz="1200" b="0" i="1" kern="1200" dirty="0">
                <a:solidFill>
                  <a:schemeClr val="tx1"/>
                </a:solidFill>
                <a:effectLst/>
                <a:latin typeface="+mn-lt"/>
                <a:ea typeface="+mn-ea"/>
                <a:cs typeface="+mn-cs"/>
              </a:rPr>
              <a:t>Ophthalmology</a:t>
            </a:r>
            <a:r>
              <a:rPr lang="en-GB" sz="1200" b="0" i="0" kern="1200" dirty="0">
                <a:solidFill>
                  <a:schemeClr val="tx1"/>
                </a:solidFill>
                <a:effectLst/>
                <a:latin typeface="+mn-lt"/>
                <a:ea typeface="+mn-ea"/>
                <a:cs typeface="+mn-cs"/>
              </a:rPr>
              <a:t> 1980; </a:t>
            </a:r>
            <a:r>
              <a:rPr lang="en-GB" sz="1200" b="1" i="0" kern="1200" dirty="0">
                <a:solidFill>
                  <a:schemeClr val="tx1"/>
                </a:solidFill>
                <a:effectLst/>
                <a:latin typeface="+mn-lt"/>
                <a:ea typeface="+mn-ea"/>
                <a:cs typeface="+mn-cs"/>
              </a:rPr>
              <a:t>87</a:t>
            </a:r>
            <a:r>
              <a:rPr lang="en-GB" sz="1200" b="0" i="0" kern="1200" dirty="0">
                <a:solidFill>
                  <a:schemeClr val="tx1"/>
                </a:solidFill>
                <a:effectLst/>
                <a:latin typeface="+mn-lt"/>
                <a:ea typeface="+mn-ea"/>
                <a:cs typeface="+mn-cs"/>
              </a:rPr>
              <a:t>: 753–758.]</a:t>
            </a:r>
          </a:p>
          <a:p>
            <a:pPr rtl="0" fontAlgn="t"/>
            <a:r>
              <a:rPr lang="en-GB" sz="1200" b="0" i="0" kern="1200" dirty="0">
                <a:solidFill>
                  <a:schemeClr val="tx1"/>
                </a:solidFill>
                <a:effectLst/>
                <a:latin typeface="+mn-lt"/>
                <a:ea typeface="+mn-ea"/>
                <a:cs typeface="+mn-cs"/>
              </a:rPr>
              <a:t>	</a:t>
            </a:r>
            <a:r>
              <a:rPr lang="en-GB" sz="1200" b="1" i="0" kern="1200" dirty="0">
                <a:solidFill>
                  <a:schemeClr val="tx1"/>
                </a:solidFill>
                <a:effectLst/>
                <a:latin typeface="+mn-lt"/>
                <a:ea typeface="+mn-ea"/>
                <a:cs typeface="+mn-cs"/>
              </a:rPr>
              <a:t>Does dosage include night time hours?</a:t>
            </a:r>
            <a:r>
              <a:rPr lang="en-GB" sz="1200" b="0" i="0" kern="1200" dirty="0">
                <a:solidFill>
                  <a:schemeClr val="tx1"/>
                </a:solidFill>
                <a:effectLst/>
                <a:latin typeface="+mn-lt"/>
                <a:ea typeface="+mn-ea"/>
                <a:cs typeface="+mn-cs"/>
              </a:rPr>
              <a:t> In severe cases yes, otherwise an alternative is to double dose during waking hours</a:t>
            </a:r>
          </a:p>
          <a:p>
            <a:pPr rtl="0" fontAlgn="t"/>
            <a:r>
              <a:rPr lang="en-GB" sz="1200" b="0" i="0" kern="1200" dirty="0">
                <a:solidFill>
                  <a:schemeClr val="tx1"/>
                </a:solidFill>
                <a:effectLst/>
                <a:latin typeface="+mn-lt"/>
                <a:ea typeface="+mn-ea"/>
                <a:cs typeface="+mn-cs"/>
              </a:rPr>
              <a:t>	</a:t>
            </a:r>
            <a:r>
              <a:rPr lang="en-GB" sz="1200" b="1" i="0" kern="1200" dirty="0">
                <a:solidFill>
                  <a:schemeClr val="tx1"/>
                </a:solidFill>
                <a:effectLst/>
                <a:latin typeface="+mn-lt"/>
                <a:ea typeface="+mn-ea"/>
                <a:cs typeface="+mn-cs"/>
              </a:rPr>
              <a:t>What are some ocular side effects of steroids?</a:t>
            </a:r>
          </a:p>
          <a:p>
            <a:pPr marL="1600200" lvl="3" indent="-228600" rtl="0" fontAlgn="t">
              <a:buFont typeface="+mj-lt"/>
              <a:buAutoNum type="arabicPeriod"/>
            </a:pPr>
            <a:r>
              <a:rPr lang="en-GB" sz="1200" b="0" i="0" kern="1200" dirty="0">
                <a:solidFill>
                  <a:schemeClr val="tx1"/>
                </a:solidFill>
                <a:effectLst/>
                <a:latin typeface="+mn-lt"/>
                <a:ea typeface="+mn-ea"/>
                <a:cs typeface="+mn-cs"/>
              </a:rPr>
              <a:t>IOP response – elevation</a:t>
            </a:r>
          </a:p>
          <a:p>
            <a:pPr marL="1600200" lvl="3" indent="-228600" rtl="0" fontAlgn="t">
              <a:buFont typeface="+mj-lt"/>
              <a:buAutoNum type="arabicPeriod"/>
            </a:pPr>
            <a:r>
              <a:rPr lang="en-GB" sz="1200" b="0" i="0" kern="1200" dirty="0">
                <a:solidFill>
                  <a:schemeClr val="tx1"/>
                </a:solidFill>
                <a:effectLst/>
                <a:latin typeface="+mn-lt"/>
                <a:ea typeface="+mn-ea"/>
                <a:cs typeface="+mn-cs"/>
              </a:rPr>
              <a:t>Posterior subcapsular cataract</a:t>
            </a:r>
          </a:p>
          <a:p>
            <a:pPr marL="1600200" lvl="3" indent="-228600" rtl="0" fontAlgn="t">
              <a:buFont typeface="+mj-lt"/>
              <a:buAutoNum type="arabicPeriod"/>
            </a:pPr>
            <a:r>
              <a:rPr lang="en-GB" b="0" dirty="0">
                <a:effectLst/>
              </a:rPr>
              <a:t>Increased susceptibility to infection</a:t>
            </a:r>
          </a:p>
          <a:p>
            <a:pPr marL="1600200" lvl="3" indent="-228600" rtl="0" fontAlgn="t">
              <a:buFont typeface="+mj-lt"/>
              <a:buAutoNum type="arabicPeriod"/>
            </a:pPr>
            <a:r>
              <a:rPr lang="en-GB" b="0" dirty="0">
                <a:effectLst/>
              </a:rPr>
              <a:t>Corneal thinning</a:t>
            </a:r>
          </a:p>
          <a:p>
            <a:pPr marL="914400" lvl="2" indent="0" rtl="0" fontAlgn="t">
              <a:buFont typeface="+mj-lt"/>
              <a:buNone/>
            </a:pPr>
            <a:r>
              <a:rPr lang="en-GB" b="1" dirty="0">
                <a:effectLst/>
              </a:rPr>
              <a:t>What other options of therapy are there and would you consider these?</a:t>
            </a:r>
          </a:p>
          <a:p>
            <a:pPr marL="1371600" lvl="3" indent="0" rtl="0" fontAlgn="t">
              <a:buFont typeface="+mj-lt"/>
              <a:buNone/>
            </a:pPr>
            <a:r>
              <a:rPr lang="en-GB" b="0" dirty="0">
                <a:effectLst/>
              </a:rPr>
              <a:t>NSAIDs have theoretical advantages which act on the cyclooxygenase pathway (COX). However, generally believed that NSAIDs have inadequate anti-inflammatory effect in AAU but could be considered if contraindications to topical steroids. Study comparing dexamethasone and indomethacin used 6x/day for AAU showed significantly less inflammation in steroid group after 7 days of </a:t>
            </a:r>
            <a:r>
              <a:rPr lang="en-GB" b="0" dirty="0" err="1">
                <a:effectLst/>
              </a:rPr>
              <a:t>tx</a:t>
            </a:r>
            <a:r>
              <a:rPr lang="en-GB" b="0" dirty="0">
                <a:effectLst/>
              </a:rPr>
              <a:t> [</a:t>
            </a:r>
            <a:r>
              <a:rPr lang="en-GB" sz="1200" b="0" i="0" kern="1200" dirty="0">
                <a:solidFill>
                  <a:schemeClr val="tx1"/>
                </a:solidFill>
                <a:effectLst/>
                <a:latin typeface="+mn-lt"/>
                <a:ea typeface="+mn-ea"/>
                <a:cs typeface="+mn-cs"/>
              </a:rPr>
              <a:t/>
            </a:r>
            <a:br>
              <a:rPr lang="en-GB" sz="1200" b="0" i="0" kern="1200" dirty="0">
                <a:solidFill>
                  <a:schemeClr val="tx1"/>
                </a:solidFill>
                <a:effectLst/>
                <a:latin typeface="+mn-lt"/>
                <a:ea typeface="+mn-ea"/>
                <a:cs typeface="+mn-cs"/>
              </a:rPr>
            </a:br>
            <a:r>
              <a:rPr lang="en-GB" sz="1200" b="0" i="0" kern="1200" dirty="0">
                <a:solidFill>
                  <a:schemeClr val="tx1"/>
                </a:solidFill>
                <a:effectLst/>
                <a:latin typeface="+mn-lt"/>
                <a:ea typeface="+mn-ea"/>
                <a:cs typeface="+mn-cs"/>
              </a:rPr>
              <a:t>Sand BB, Krogh E. Topical indomethacin, a prostaglandin inhibitor, in acute anterior uveitis. A controlled clinical trial of non-steroidal versus steroid anti-inflammatory treatment. </a:t>
            </a:r>
            <a:r>
              <a:rPr lang="en-GB" sz="1200" b="0" i="1" kern="1200" dirty="0">
                <a:solidFill>
                  <a:schemeClr val="tx1"/>
                </a:solidFill>
                <a:effectLst/>
                <a:latin typeface="+mn-lt"/>
                <a:ea typeface="+mn-ea"/>
                <a:cs typeface="+mn-cs"/>
              </a:rPr>
              <a:t>Acta </a:t>
            </a:r>
            <a:r>
              <a:rPr lang="en-GB" sz="1200" b="0" i="1" kern="1200" dirty="0" err="1">
                <a:solidFill>
                  <a:schemeClr val="tx1"/>
                </a:solidFill>
                <a:effectLst/>
                <a:latin typeface="+mn-lt"/>
                <a:ea typeface="+mn-ea"/>
                <a:cs typeface="+mn-cs"/>
              </a:rPr>
              <a:t>Ophthalmol</a:t>
            </a:r>
            <a:r>
              <a:rPr lang="en-GB" sz="1200" b="0" i="0" kern="1200" dirty="0">
                <a:solidFill>
                  <a:schemeClr val="tx1"/>
                </a:solidFill>
                <a:effectLst/>
                <a:latin typeface="+mn-lt"/>
                <a:ea typeface="+mn-ea"/>
                <a:cs typeface="+mn-cs"/>
              </a:rPr>
              <a:t> 1991; </a:t>
            </a:r>
            <a:r>
              <a:rPr lang="en-GB" sz="1200" b="1" i="0" kern="1200" dirty="0">
                <a:solidFill>
                  <a:schemeClr val="tx1"/>
                </a:solidFill>
                <a:effectLst/>
                <a:latin typeface="+mn-lt"/>
                <a:ea typeface="+mn-ea"/>
                <a:cs typeface="+mn-cs"/>
              </a:rPr>
              <a:t>6</a:t>
            </a:r>
            <a:r>
              <a:rPr lang="en-GB" sz="1200" b="0" i="0" kern="1200" dirty="0">
                <a:solidFill>
                  <a:schemeClr val="tx1"/>
                </a:solidFill>
                <a:effectLst/>
                <a:latin typeface="+mn-lt"/>
                <a:ea typeface="+mn-ea"/>
                <a:cs typeface="+mn-cs"/>
              </a:rPr>
              <a:t>: 145–148.]</a:t>
            </a:r>
            <a:r>
              <a:rPr lang="en-GB" b="0" dirty="0">
                <a:effectLst/>
              </a:rPr>
              <a:t> </a:t>
            </a:r>
          </a:p>
          <a:p>
            <a:pPr rtl="0" fontAlgn="t"/>
            <a:r>
              <a:rPr lang="en-GB" sz="1200" b="1" i="0" u="sng" strike="noStrike" kern="1200" dirty="0">
                <a:solidFill>
                  <a:schemeClr val="tx1"/>
                </a:solidFill>
                <a:effectLst/>
                <a:latin typeface="+mn-lt"/>
                <a:ea typeface="+mn-ea"/>
                <a:cs typeface="+mn-cs"/>
              </a:rPr>
              <a:t>Cycloplegics</a:t>
            </a:r>
            <a:endParaRPr lang="en-GB" b="0" u="sng" dirty="0">
              <a:effectLst/>
            </a:endParaRPr>
          </a:p>
          <a:p>
            <a:pPr rtl="0" fontAlgn="t"/>
            <a:r>
              <a:rPr lang="en-GB" sz="1200" b="0" i="0" u="none" strike="noStrike" kern="1200" dirty="0">
                <a:solidFill>
                  <a:schemeClr val="tx1"/>
                </a:solidFill>
                <a:effectLst/>
                <a:latin typeface="+mn-lt"/>
                <a:ea typeface="+mn-ea"/>
                <a:cs typeface="+mn-cs"/>
              </a:rPr>
              <a:t>Homatropine 2%, 3x a day OR atropine 1% 3x a day</a:t>
            </a:r>
          </a:p>
          <a:p>
            <a:pPr rtl="0" fontAlgn="t"/>
            <a:r>
              <a:rPr lang="en-GB" sz="1200" b="1" i="0" u="none" strike="noStrike" kern="1200" dirty="0">
                <a:solidFill>
                  <a:schemeClr val="tx1"/>
                </a:solidFill>
                <a:effectLst/>
                <a:latin typeface="+mn-lt"/>
                <a:ea typeface="+mn-ea"/>
                <a:cs typeface="+mn-cs"/>
              </a:rPr>
              <a:t>	What about cyclopentolate?</a:t>
            </a:r>
            <a:r>
              <a:rPr lang="en-GB" sz="1200" b="0" i="0" u="none" strike="noStrike" kern="1200" dirty="0">
                <a:solidFill>
                  <a:schemeClr val="tx1"/>
                </a:solidFill>
                <a:effectLst/>
                <a:latin typeface="+mn-lt"/>
                <a:ea typeface="+mn-ea"/>
                <a:cs typeface="+mn-cs"/>
              </a:rPr>
              <a:t>- </a:t>
            </a:r>
            <a:r>
              <a:rPr lang="en-GB" sz="1200" b="0" i="0" kern="1200" dirty="0">
                <a:solidFill>
                  <a:schemeClr val="tx1"/>
                </a:solidFill>
                <a:effectLst/>
                <a:latin typeface="+mn-lt"/>
                <a:ea typeface="+mn-ea"/>
                <a:cs typeface="+mn-cs"/>
              </a:rPr>
              <a:t>Cyclopentolate may act as a chemo-attractant for leukocytes and should be avoided in the presence of inflammation </a:t>
            </a:r>
            <a:r>
              <a:rPr lang="en-GB" sz="1200" b="0" i="0" u="none" strike="noStrike" kern="1200" dirty="0">
                <a:solidFill>
                  <a:schemeClr val="tx1"/>
                </a:solidFill>
                <a:effectLst/>
                <a:latin typeface="+mn-lt"/>
                <a:ea typeface="+mn-ea"/>
                <a:cs typeface="+mn-cs"/>
              </a:rPr>
              <a:t>(</a:t>
            </a:r>
            <a:r>
              <a:rPr lang="en-GB" sz="1200" b="0" i="0" kern="1200" dirty="0" err="1">
                <a:solidFill>
                  <a:schemeClr val="tx1"/>
                </a:solidFill>
                <a:effectLst/>
                <a:latin typeface="+mn-lt"/>
                <a:ea typeface="+mn-ea"/>
                <a:cs typeface="+mn-cs"/>
              </a:rPr>
              <a:t>Nussenblatt</a:t>
            </a:r>
            <a:r>
              <a:rPr lang="en-GB" sz="1200" b="0" i="0" kern="1200" dirty="0">
                <a:solidFill>
                  <a:schemeClr val="tx1"/>
                </a:solidFill>
                <a:effectLst/>
                <a:latin typeface="+mn-lt"/>
                <a:ea typeface="+mn-ea"/>
                <a:cs typeface="+mn-cs"/>
              </a:rPr>
              <a:t> RB, </a:t>
            </a:r>
            <a:r>
              <a:rPr lang="en-GB" sz="1200" b="0" i="0" kern="1200" dirty="0" err="1">
                <a:solidFill>
                  <a:schemeClr val="tx1"/>
                </a:solidFill>
                <a:effectLst/>
                <a:latin typeface="+mn-lt"/>
                <a:ea typeface="+mn-ea"/>
                <a:cs typeface="+mn-cs"/>
              </a:rPr>
              <a:t>Whitcup</a:t>
            </a:r>
            <a:r>
              <a:rPr lang="en-GB" sz="1200" b="0" i="0" kern="1200" dirty="0">
                <a:solidFill>
                  <a:schemeClr val="tx1"/>
                </a:solidFill>
                <a:effectLst/>
                <a:latin typeface="+mn-lt"/>
                <a:ea typeface="+mn-ea"/>
                <a:cs typeface="+mn-cs"/>
              </a:rPr>
              <a:t> SM. Uveitis; Fundamentals and Clinical Practice, 3rded. Philadelphia: Mosby, 2004)</a:t>
            </a:r>
          </a:p>
          <a:p>
            <a:pPr rtl="0" fontAlgn="t"/>
            <a:r>
              <a:rPr lang="en-GB" sz="1200" b="1" i="0" kern="1200" dirty="0">
                <a:solidFill>
                  <a:schemeClr val="tx1"/>
                </a:solidFill>
                <a:effectLst/>
                <a:latin typeface="+mn-lt"/>
                <a:ea typeface="+mn-ea"/>
                <a:cs typeface="+mn-cs"/>
              </a:rPr>
              <a:t>	What about tropicamide?</a:t>
            </a:r>
            <a:r>
              <a:rPr lang="en-GB" sz="1200" b="0" i="0" kern="1200" dirty="0">
                <a:solidFill>
                  <a:schemeClr val="tx1"/>
                </a:solidFill>
                <a:effectLst/>
                <a:latin typeface="+mn-lt"/>
                <a:ea typeface="+mn-ea"/>
                <a:cs typeface="+mn-cs"/>
              </a:rPr>
              <a:t> - In patients with mild inflammation and no </a:t>
            </a:r>
            <a:r>
              <a:rPr lang="en-GB" sz="1200" b="0" i="0" kern="1200" dirty="0" err="1">
                <a:solidFill>
                  <a:schemeClr val="tx1"/>
                </a:solidFill>
                <a:effectLst/>
                <a:latin typeface="+mn-lt"/>
                <a:ea typeface="+mn-ea"/>
                <a:cs typeface="+mn-cs"/>
              </a:rPr>
              <a:t>synechiae</a:t>
            </a:r>
            <a:r>
              <a:rPr lang="en-GB" sz="1200" b="0" i="0" kern="1200" dirty="0">
                <a:solidFill>
                  <a:schemeClr val="tx1"/>
                </a:solidFill>
                <a:effectLst/>
                <a:latin typeface="+mn-lt"/>
                <a:ea typeface="+mn-ea"/>
                <a:cs typeface="+mn-cs"/>
              </a:rPr>
              <a:t> at initial presentation, some clinicians argue that tropicamide can be effective by permitting enough iris movement to prevent the formation of new </a:t>
            </a:r>
            <a:r>
              <a:rPr lang="en-GB" sz="1200" b="0" i="0" kern="1200" dirty="0" err="1">
                <a:solidFill>
                  <a:schemeClr val="tx1"/>
                </a:solidFill>
                <a:effectLst/>
                <a:latin typeface="+mn-lt"/>
                <a:ea typeface="+mn-ea"/>
                <a:cs typeface="+mn-cs"/>
              </a:rPr>
              <a:t>synechiae</a:t>
            </a:r>
            <a:r>
              <a:rPr lang="en-GB" sz="1200" b="0" i="0" kern="1200" dirty="0">
                <a:solidFill>
                  <a:schemeClr val="tx1"/>
                </a:solidFill>
                <a:effectLst/>
                <a:latin typeface="+mn-lt"/>
                <a:ea typeface="+mn-ea"/>
                <a:cs typeface="+mn-cs"/>
              </a:rPr>
              <a:t> </a:t>
            </a:r>
            <a:r>
              <a:rPr lang="en-GB" sz="1200" b="0" i="0" u="none" strike="noStrike" kern="1200" dirty="0">
                <a:solidFill>
                  <a:schemeClr val="tx1"/>
                </a:solidFill>
                <a:effectLst/>
                <a:latin typeface="+mn-lt"/>
                <a:ea typeface="+mn-ea"/>
                <a:cs typeface="+mn-cs"/>
              </a:rPr>
              <a:t>(</a:t>
            </a:r>
            <a:r>
              <a:rPr lang="en-GB" sz="1200" b="0" i="0" kern="1200" dirty="0" err="1">
                <a:solidFill>
                  <a:schemeClr val="tx1"/>
                </a:solidFill>
                <a:effectLst/>
                <a:latin typeface="+mn-lt"/>
                <a:ea typeface="+mn-ea"/>
                <a:cs typeface="+mn-cs"/>
              </a:rPr>
              <a:t>Nussenblatt</a:t>
            </a:r>
            <a:r>
              <a:rPr lang="en-GB" sz="1200" b="0" i="0" kern="1200" dirty="0">
                <a:solidFill>
                  <a:schemeClr val="tx1"/>
                </a:solidFill>
                <a:effectLst/>
                <a:latin typeface="+mn-lt"/>
                <a:ea typeface="+mn-ea"/>
                <a:cs typeface="+mn-cs"/>
              </a:rPr>
              <a:t> RB, </a:t>
            </a:r>
            <a:r>
              <a:rPr lang="en-GB" sz="1200" b="0" i="0" kern="1200" dirty="0" err="1">
                <a:solidFill>
                  <a:schemeClr val="tx1"/>
                </a:solidFill>
                <a:effectLst/>
                <a:latin typeface="+mn-lt"/>
                <a:ea typeface="+mn-ea"/>
                <a:cs typeface="+mn-cs"/>
              </a:rPr>
              <a:t>Whitcup</a:t>
            </a:r>
            <a:r>
              <a:rPr lang="en-GB" sz="1200" b="0" i="0" kern="1200" dirty="0">
                <a:solidFill>
                  <a:schemeClr val="tx1"/>
                </a:solidFill>
                <a:effectLst/>
                <a:latin typeface="+mn-lt"/>
                <a:ea typeface="+mn-ea"/>
                <a:cs typeface="+mn-cs"/>
              </a:rPr>
              <a:t> SM. Uveitis; Fundamentals and Clinical Practice, 3rded. Philadelphia: Mosby, 2004)</a:t>
            </a:r>
            <a:endParaRPr lang="en-GB" b="0" dirty="0">
              <a:effectLst/>
            </a:endParaRPr>
          </a:p>
          <a:p>
            <a:pPr rtl="0" fontAlgn="t"/>
            <a:endParaRPr lang="en-GB" sz="1200" b="1" i="0" u="none" strike="noStrike" kern="1200" dirty="0">
              <a:solidFill>
                <a:schemeClr val="tx1"/>
              </a:solidFill>
              <a:effectLst/>
              <a:latin typeface="+mn-lt"/>
              <a:ea typeface="+mn-ea"/>
              <a:cs typeface="+mn-cs"/>
            </a:endParaRPr>
          </a:p>
          <a:p>
            <a:pPr rtl="0" fontAlgn="t"/>
            <a:r>
              <a:rPr lang="en-GB" sz="1200" b="1" i="0" u="sng" strike="noStrike" kern="1200" dirty="0">
                <a:solidFill>
                  <a:schemeClr val="tx1"/>
                </a:solidFill>
                <a:effectLst/>
                <a:latin typeface="+mn-lt"/>
                <a:ea typeface="+mn-ea"/>
                <a:cs typeface="+mn-cs"/>
              </a:rPr>
              <a:t>Posterior </a:t>
            </a:r>
            <a:r>
              <a:rPr lang="en-GB" sz="1200" b="1" i="0" u="sng" strike="noStrike" kern="1200" dirty="0" err="1">
                <a:solidFill>
                  <a:schemeClr val="tx1"/>
                </a:solidFill>
                <a:effectLst/>
                <a:latin typeface="+mn-lt"/>
                <a:ea typeface="+mn-ea"/>
                <a:cs typeface="+mn-cs"/>
              </a:rPr>
              <a:t>synechiae</a:t>
            </a:r>
            <a:endParaRPr lang="en-GB" b="0" u="sng" dirty="0">
              <a:effectLst/>
            </a:endParaRPr>
          </a:p>
          <a:p>
            <a:pPr rtl="0" fontAlgn="t"/>
            <a:r>
              <a:rPr lang="en-GB" sz="1200" b="0" i="0" u="none" strike="noStrike" kern="1200" dirty="0">
                <a:solidFill>
                  <a:schemeClr val="tx1"/>
                </a:solidFill>
                <a:effectLst/>
                <a:latin typeface="+mn-lt"/>
                <a:ea typeface="+mn-ea"/>
                <a:cs typeface="+mn-cs"/>
              </a:rPr>
              <a:t>If persistent</a:t>
            </a:r>
            <a:endParaRPr lang="en-GB" b="0" dirty="0">
              <a:effectLst/>
            </a:endParaRPr>
          </a:p>
          <a:p>
            <a:pPr rtl="0" fontAlgn="t"/>
            <a:r>
              <a:rPr lang="en-GB" sz="1200" b="0" i="0" u="none" strike="noStrike" kern="1200" dirty="0">
                <a:solidFill>
                  <a:schemeClr val="tx1"/>
                </a:solidFill>
                <a:effectLst/>
                <a:latin typeface="+mn-lt"/>
                <a:ea typeface="+mn-ea"/>
                <a:cs typeface="+mn-cs"/>
              </a:rPr>
              <a:t>2% homatropine &gt; 1% atropine &gt; 2.5% phenylephrine &gt; 10% phenylephrine &gt; </a:t>
            </a:r>
            <a:r>
              <a:rPr lang="en-GB" sz="1200" b="0" i="0" u="none" strike="noStrike" kern="1200" dirty="0" err="1">
                <a:solidFill>
                  <a:schemeClr val="tx1"/>
                </a:solidFill>
                <a:effectLst/>
                <a:latin typeface="+mn-lt"/>
                <a:ea typeface="+mn-ea"/>
                <a:cs typeface="+mn-cs"/>
              </a:rPr>
              <a:t>pledget</a:t>
            </a:r>
            <a:endParaRPr lang="en-GB" b="0" dirty="0">
              <a:effectLst/>
            </a:endParaRPr>
          </a:p>
          <a:p>
            <a:endParaRPr lang="en-GB" dirty="0"/>
          </a:p>
          <a:p>
            <a:r>
              <a:rPr lang="en-GB" dirty="0"/>
              <a:t>REM: Shake bottle (suspension) and allow sufficient time between diff drops, review 24hrs and then depending on clinician experience either daily or every 2-3 days until 2 step improvement in severity (i.e. G2 – G0 or G3 – G1 cells) then begin taper of steroids (SUN)</a:t>
            </a:r>
          </a:p>
          <a:p>
            <a:endParaRPr lang="en-GB" b="1" dirty="0"/>
          </a:p>
          <a:p>
            <a:r>
              <a:rPr lang="en-GB" b="1" dirty="0"/>
              <a:t>Why do we need to taper?</a:t>
            </a:r>
            <a:r>
              <a:rPr lang="en-GB" b="0" dirty="0"/>
              <a:t> </a:t>
            </a:r>
            <a:endParaRPr lang="en-GB" b="1" dirty="0"/>
          </a:p>
          <a:p>
            <a:r>
              <a:rPr lang="en-GB" b="1" dirty="0"/>
              <a:t>	</a:t>
            </a:r>
            <a:r>
              <a:rPr lang="en-GB" b="0" dirty="0"/>
              <a:t>To prevent rebound inflammation </a:t>
            </a:r>
            <a:endParaRPr lang="en-GB" b="1" dirty="0"/>
          </a:p>
          <a:p>
            <a:r>
              <a:rPr lang="en-GB" b="1" dirty="0"/>
              <a:t>What is typical tapering schedule like?</a:t>
            </a:r>
          </a:p>
          <a:p>
            <a:r>
              <a:rPr lang="en-GB" b="0" dirty="0"/>
              <a:t>	Most cases will require about 6 – 8 weeks of treatment (taper to 0 by this time). i.e. Week 1 q1h, Week 2 q2h, Week 3 </a:t>
            </a:r>
            <a:r>
              <a:rPr lang="en-GB" b="0" dirty="0" err="1"/>
              <a:t>qid</a:t>
            </a:r>
            <a:r>
              <a:rPr lang="en-GB" b="0" dirty="0"/>
              <a:t>, Week 4 </a:t>
            </a:r>
            <a:r>
              <a:rPr lang="en-GB" b="0" dirty="0" err="1"/>
              <a:t>tid</a:t>
            </a:r>
            <a:r>
              <a:rPr lang="en-GB" b="0" dirty="0"/>
              <a:t> Week 5 bid Week 6 </a:t>
            </a:r>
            <a:r>
              <a:rPr lang="en-GB" b="0" dirty="0" err="1"/>
              <a:t>qd</a:t>
            </a:r>
            <a:r>
              <a:rPr lang="en-GB" b="0" dirty="0"/>
              <a:t> </a:t>
            </a:r>
          </a:p>
          <a:p>
            <a:endParaRPr lang="en-GB" dirty="0"/>
          </a:p>
          <a:p>
            <a:r>
              <a:rPr lang="en-GB" b="1" dirty="0"/>
              <a:t>If steroid response?</a:t>
            </a:r>
          </a:p>
          <a:p>
            <a:r>
              <a:rPr lang="en-GB" sz="1200" b="0" i="0" kern="1200" dirty="0">
                <a:solidFill>
                  <a:schemeClr val="tx1"/>
                </a:solidFill>
                <a:effectLst/>
                <a:latin typeface="+mn-lt"/>
                <a:ea typeface="+mn-ea"/>
                <a:cs typeface="+mn-cs"/>
              </a:rPr>
              <a:t>	Therapy should target aqueous production because aqueous outflow is likely to be compromised. Topical beta antagonists are the first choice [Moorthy RS, </a:t>
            </a:r>
            <a:r>
              <a:rPr lang="en-GB" sz="1200" b="0" i="0" kern="1200" dirty="0" err="1">
                <a:solidFill>
                  <a:schemeClr val="tx1"/>
                </a:solidFill>
                <a:effectLst/>
                <a:latin typeface="+mn-lt"/>
                <a:ea typeface="+mn-ea"/>
                <a:cs typeface="+mn-cs"/>
              </a:rPr>
              <a:t>Mermoud</a:t>
            </a:r>
            <a:r>
              <a:rPr lang="en-GB" sz="1200" b="0" i="0" kern="1200" dirty="0">
                <a:solidFill>
                  <a:schemeClr val="tx1"/>
                </a:solidFill>
                <a:effectLst/>
                <a:latin typeface="+mn-lt"/>
                <a:ea typeface="+mn-ea"/>
                <a:cs typeface="+mn-cs"/>
              </a:rPr>
              <a:t> A, </a:t>
            </a:r>
            <a:r>
              <a:rPr lang="en-GB" sz="1200" b="0" i="0" kern="1200" dirty="0" err="1">
                <a:solidFill>
                  <a:schemeClr val="tx1"/>
                </a:solidFill>
                <a:effectLst/>
                <a:latin typeface="+mn-lt"/>
                <a:ea typeface="+mn-ea"/>
                <a:cs typeface="+mn-cs"/>
              </a:rPr>
              <a:t>Baerveldt</a:t>
            </a:r>
            <a:r>
              <a:rPr lang="en-GB" sz="1200" b="0" i="0" kern="1200" dirty="0">
                <a:solidFill>
                  <a:schemeClr val="tx1"/>
                </a:solidFill>
                <a:effectLst/>
                <a:latin typeface="+mn-lt"/>
                <a:ea typeface="+mn-ea"/>
                <a:cs typeface="+mn-cs"/>
              </a:rPr>
              <a:t> G, </a:t>
            </a:r>
            <a:r>
              <a:rPr lang="en-GB" sz="1200" b="0" i="0" kern="1200" dirty="0" err="1">
                <a:solidFill>
                  <a:schemeClr val="tx1"/>
                </a:solidFill>
                <a:effectLst/>
                <a:latin typeface="+mn-lt"/>
                <a:ea typeface="+mn-ea"/>
                <a:cs typeface="+mn-cs"/>
              </a:rPr>
              <a:t>Minckler</a:t>
            </a:r>
            <a:r>
              <a:rPr lang="en-GB" sz="1200" b="0" i="0" kern="1200" dirty="0">
                <a:solidFill>
                  <a:schemeClr val="tx1"/>
                </a:solidFill>
                <a:effectLst/>
                <a:latin typeface="+mn-lt"/>
                <a:ea typeface="+mn-ea"/>
                <a:cs typeface="+mn-cs"/>
              </a:rPr>
              <a:t> DS, Lee PP, Rao NA. Glaucoma associated with uveitis. </a:t>
            </a:r>
            <a:r>
              <a:rPr lang="en-GB" sz="1200" b="0" i="1" kern="1200" dirty="0" err="1">
                <a:solidFill>
                  <a:schemeClr val="tx1"/>
                </a:solidFill>
                <a:effectLst/>
                <a:latin typeface="+mn-lt"/>
                <a:ea typeface="+mn-ea"/>
                <a:cs typeface="+mn-cs"/>
              </a:rPr>
              <a:t>Surv</a:t>
            </a:r>
            <a:r>
              <a:rPr lang="en-GB" sz="1200" b="0" i="1" kern="1200" dirty="0">
                <a:solidFill>
                  <a:schemeClr val="tx1"/>
                </a:solidFill>
                <a:effectLst/>
                <a:latin typeface="+mn-lt"/>
                <a:ea typeface="+mn-ea"/>
                <a:cs typeface="+mn-cs"/>
              </a:rPr>
              <a:t> </a:t>
            </a:r>
            <a:r>
              <a:rPr lang="en-GB" sz="1200" b="0" i="1" kern="1200" dirty="0" err="1">
                <a:solidFill>
                  <a:schemeClr val="tx1"/>
                </a:solidFill>
                <a:effectLst/>
                <a:latin typeface="+mn-lt"/>
                <a:ea typeface="+mn-ea"/>
                <a:cs typeface="+mn-cs"/>
              </a:rPr>
              <a:t>Ophthalmol</a:t>
            </a:r>
            <a:r>
              <a:rPr lang="en-GB" sz="1200" b="0" i="0" kern="1200" dirty="0">
                <a:solidFill>
                  <a:schemeClr val="tx1"/>
                </a:solidFill>
                <a:effectLst/>
                <a:latin typeface="+mn-lt"/>
                <a:ea typeface="+mn-ea"/>
                <a:cs typeface="+mn-cs"/>
              </a:rPr>
              <a:t> 1997; </a:t>
            </a:r>
            <a:r>
              <a:rPr lang="en-GB" sz="1200" b="1" i="0" kern="1200" dirty="0">
                <a:solidFill>
                  <a:schemeClr val="tx1"/>
                </a:solidFill>
                <a:effectLst/>
                <a:latin typeface="+mn-lt"/>
                <a:ea typeface="+mn-ea"/>
                <a:cs typeface="+mn-cs"/>
              </a:rPr>
              <a:t>41</a:t>
            </a:r>
            <a:r>
              <a:rPr lang="en-GB" sz="1200" b="0" i="0" kern="1200" dirty="0">
                <a:solidFill>
                  <a:schemeClr val="tx1"/>
                </a:solidFill>
                <a:effectLst/>
                <a:latin typeface="+mn-lt"/>
                <a:ea typeface="+mn-ea"/>
                <a:cs typeface="+mn-cs"/>
              </a:rPr>
              <a:t>: 361–394.]</a:t>
            </a:r>
          </a:p>
          <a:p>
            <a:endParaRPr lang="en-GB" sz="1200" b="0" i="0" kern="1200" dirty="0">
              <a:solidFill>
                <a:schemeClr val="tx1"/>
              </a:solidFill>
              <a:effectLst/>
              <a:latin typeface="+mn-lt"/>
              <a:ea typeface="+mn-ea"/>
              <a:cs typeface="+mn-cs"/>
            </a:endParaRPr>
          </a:p>
          <a:p>
            <a:r>
              <a:rPr lang="en-GB" sz="1200" b="1" i="0" kern="1200" dirty="0">
                <a:solidFill>
                  <a:schemeClr val="tx1"/>
                </a:solidFill>
                <a:effectLst/>
                <a:latin typeface="+mn-lt"/>
                <a:ea typeface="+mn-ea"/>
                <a:cs typeface="+mn-cs"/>
              </a:rPr>
              <a:t>What are some common blood tests used to help localise </a:t>
            </a:r>
            <a:r>
              <a:rPr lang="en-GB" sz="1200" b="1" i="0" kern="1200" dirty="0" err="1">
                <a:solidFill>
                  <a:schemeClr val="tx1"/>
                </a:solidFill>
                <a:effectLst/>
                <a:latin typeface="+mn-lt"/>
                <a:ea typeface="+mn-ea"/>
                <a:cs typeface="+mn-cs"/>
              </a:rPr>
              <a:t>etiology</a:t>
            </a:r>
            <a:r>
              <a:rPr lang="en-GB" sz="1200" b="1" i="0" kern="1200" dirty="0">
                <a:solidFill>
                  <a:schemeClr val="tx1"/>
                </a:solidFill>
                <a:effectLst/>
                <a:latin typeface="+mn-lt"/>
                <a:ea typeface="+mn-ea"/>
                <a:cs typeface="+mn-cs"/>
              </a:rPr>
              <a:t> of uveitis?</a:t>
            </a:r>
          </a:p>
          <a:p>
            <a:pPr marL="628650" lvl="1" indent="-171450">
              <a:buFont typeface="Arial" panose="020B0604020202020204" pitchFamily="34" charset="0"/>
              <a:buChar char="•"/>
            </a:pPr>
            <a:r>
              <a:rPr lang="en-GB" sz="1200" b="1" i="0" kern="1200" dirty="0">
                <a:solidFill>
                  <a:schemeClr val="tx1"/>
                </a:solidFill>
                <a:effectLst/>
                <a:latin typeface="+mn-lt"/>
                <a:ea typeface="+mn-ea"/>
                <a:cs typeface="+mn-cs"/>
              </a:rPr>
              <a:t>CBC</a:t>
            </a:r>
            <a:r>
              <a:rPr lang="en-GB" sz="1200" b="0" i="0" kern="1200" dirty="0">
                <a:solidFill>
                  <a:schemeClr val="tx1"/>
                </a:solidFill>
                <a:effectLst/>
                <a:latin typeface="+mn-lt"/>
                <a:ea typeface="+mn-ea"/>
                <a:cs typeface="+mn-cs"/>
              </a:rPr>
              <a:t> (complete blood count) = general health status and identifying </a:t>
            </a:r>
            <a:r>
              <a:rPr lang="en-GB" sz="1200" b="1" i="0" kern="1200" dirty="0">
                <a:solidFill>
                  <a:schemeClr val="tx1"/>
                </a:solidFill>
                <a:effectLst/>
                <a:latin typeface="+mn-lt"/>
                <a:ea typeface="+mn-ea"/>
                <a:cs typeface="+mn-cs"/>
              </a:rPr>
              <a:t>anaemia, infection and leukaemia</a:t>
            </a:r>
          </a:p>
          <a:p>
            <a:pPr marL="628650" lvl="1" indent="-171450">
              <a:buFont typeface="Arial" panose="020B0604020202020204" pitchFamily="34" charset="0"/>
              <a:buChar char="•"/>
            </a:pPr>
            <a:r>
              <a:rPr lang="en-GB" sz="1200" b="1" i="0" kern="1200" dirty="0">
                <a:solidFill>
                  <a:schemeClr val="tx1"/>
                </a:solidFill>
                <a:effectLst/>
                <a:latin typeface="+mn-lt"/>
                <a:ea typeface="+mn-ea"/>
                <a:cs typeface="+mn-cs"/>
              </a:rPr>
              <a:t>HLA-B27 </a:t>
            </a:r>
            <a:r>
              <a:rPr lang="en-GB" sz="1200" b="0" i="0" kern="1200" dirty="0">
                <a:solidFill>
                  <a:schemeClr val="tx1"/>
                </a:solidFill>
                <a:effectLst/>
                <a:latin typeface="+mn-lt"/>
                <a:ea typeface="+mn-ea"/>
                <a:cs typeface="+mn-cs"/>
              </a:rPr>
              <a:t>(human leukocyte antigen B27) = found on surface of WBCs in autoimmune disorders e.g. </a:t>
            </a:r>
            <a:r>
              <a:rPr lang="en-GB" sz="1200" b="1" i="0" kern="1200" dirty="0">
                <a:solidFill>
                  <a:schemeClr val="tx1"/>
                </a:solidFill>
                <a:effectLst/>
                <a:latin typeface="+mn-lt"/>
                <a:ea typeface="+mn-ea"/>
                <a:cs typeface="+mn-cs"/>
              </a:rPr>
              <a:t>ankylosing spondylitis, Reiter syndrome</a:t>
            </a:r>
          </a:p>
          <a:p>
            <a:pPr marL="628650" lvl="1" indent="-171450">
              <a:buFont typeface="Arial" panose="020B0604020202020204" pitchFamily="34" charset="0"/>
              <a:buChar char="•"/>
            </a:pPr>
            <a:r>
              <a:rPr lang="en-GB" sz="1200" b="1" i="0" kern="1200" dirty="0">
                <a:solidFill>
                  <a:schemeClr val="tx1"/>
                </a:solidFill>
                <a:effectLst/>
                <a:latin typeface="+mn-lt"/>
                <a:ea typeface="+mn-ea"/>
                <a:cs typeface="+mn-cs"/>
              </a:rPr>
              <a:t>CRP </a:t>
            </a:r>
            <a:r>
              <a:rPr lang="en-GB" sz="1200" b="0" i="0" kern="1200" dirty="0">
                <a:solidFill>
                  <a:schemeClr val="tx1"/>
                </a:solidFill>
                <a:effectLst/>
                <a:latin typeface="+mn-lt"/>
                <a:ea typeface="+mn-ea"/>
                <a:cs typeface="+mn-cs"/>
              </a:rPr>
              <a:t>(c-reactive protein) = marker for inflammation and serves as </a:t>
            </a:r>
            <a:r>
              <a:rPr lang="en-GB" sz="1200" b="0" i="0" kern="1200" dirty="0" err="1">
                <a:solidFill>
                  <a:schemeClr val="tx1"/>
                </a:solidFill>
                <a:effectLst/>
                <a:latin typeface="+mn-lt"/>
                <a:ea typeface="+mn-ea"/>
                <a:cs typeface="+mn-cs"/>
              </a:rPr>
              <a:t>tx</a:t>
            </a:r>
            <a:r>
              <a:rPr lang="en-GB" sz="1200" b="0" i="0" kern="1200" dirty="0">
                <a:solidFill>
                  <a:schemeClr val="tx1"/>
                </a:solidFill>
                <a:effectLst/>
                <a:latin typeface="+mn-lt"/>
                <a:ea typeface="+mn-ea"/>
                <a:cs typeface="+mn-cs"/>
              </a:rPr>
              <a:t> response monitor (good for acute phase) but unable to determine location of inflammation</a:t>
            </a:r>
          </a:p>
          <a:p>
            <a:pPr marL="628650" lvl="1" indent="-171450">
              <a:buFont typeface="Arial" panose="020B0604020202020204" pitchFamily="34" charset="0"/>
              <a:buChar char="•"/>
            </a:pPr>
            <a:r>
              <a:rPr lang="en-GB" sz="1200" b="1" i="0" kern="1200" dirty="0">
                <a:solidFill>
                  <a:schemeClr val="tx1"/>
                </a:solidFill>
                <a:effectLst/>
                <a:latin typeface="+mn-lt"/>
                <a:ea typeface="+mn-ea"/>
                <a:cs typeface="+mn-cs"/>
              </a:rPr>
              <a:t>ESR </a:t>
            </a:r>
            <a:r>
              <a:rPr lang="en-GB" sz="1200" b="0" i="0" kern="1200" dirty="0">
                <a:solidFill>
                  <a:schemeClr val="tx1"/>
                </a:solidFill>
                <a:effectLst/>
                <a:latin typeface="+mn-lt"/>
                <a:ea typeface="+mn-ea"/>
                <a:cs typeface="+mn-cs"/>
              </a:rPr>
              <a:t>(erythrocyte sedimentation rate) = Same as above but better for chronic?</a:t>
            </a:r>
          </a:p>
          <a:p>
            <a:pPr marL="628650" lvl="1" indent="-171450">
              <a:buFont typeface="Arial" panose="020B0604020202020204" pitchFamily="34" charset="0"/>
              <a:buChar char="•"/>
            </a:pPr>
            <a:r>
              <a:rPr lang="en-GB" sz="1200" b="1" i="0" kern="1200" dirty="0">
                <a:solidFill>
                  <a:schemeClr val="tx1"/>
                </a:solidFill>
                <a:effectLst/>
                <a:latin typeface="+mn-lt"/>
                <a:ea typeface="+mn-ea"/>
                <a:cs typeface="+mn-cs"/>
              </a:rPr>
              <a:t>ANA </a:t>
            </a:r>
            <a:r>
              <a:rPr lang="en-GB" sz="1200" b="0" i="0" kern="1200" dirty="0">
                <a:solidFill>
                  <a:schemeClr val="tx1"/>
                </a:solidFill>
                <a:effectLst/>
                <a:latin typeface="+mn-lt"/>
                <a:ea typeface="+mn-ea"/>
                <a:cs typeface="+mn-cs"/>
              </a:rPr>
              <a:t>(antinuclear antibody) = autoimmune disorders e.g. systemic </a:t>
            </a:r>
            <a:r>
              <a:rPr lang="en-GB" sz="1200" b="1" i="0" kern="1200" dirty="0">
                <a:solidFill>
                  <a:schemeClr val="tx1"/>
                </a:solidFill>
                <a:effectLst/>
                <a:latin typeface="+mn-lt"/>
                <a:ea typeface="+mn-ea"/>
                <a:cs typeface="+mn-cs"/>
              </a:rPr>
              <a:t>lupus</a:t>
            </a:r>
            <a:r>
              <a:rPr lang="en-GB" sz="1200" b="0" i="0" kern="1200" dirty="0">
                <a:solidFill>
                  <a:schemeClr val="tx1"/>
                </a:solidFill>
                <a:effectLst/>
                <a:latin typeface="+mn-lt"/>
                <a:ea typeface="+mn-ea"/>
                <a:cs typeface="+mn-cs"/>
              </a:rPr>
              <a:t> erythematosus, scleroderma, juvenile </a:t>
            </a:r>
            <a:r>
              <a:rPr lang="en-GB" sz="1200" b="1" i="0" kern="1200" dirty="0">
                <a:solidFill>
                  <a:schemeClr val="tx1"/>
                </a:solidFill>
                <a:effectLst/>
                <a:latin typeface="+mn-lt"/>
                <a:ea typeface="+mn-ea"/>
                <a:cs typeface="+mn-cs"/>
              </a:rPr>
              <a:t>arthritis</a:t>
            </a:r>
            <a:r>
              <a:rPr lang="en-GB" sz="1200" b="0" i="0" kern="1200" dirty="0">
                <a:solidFill>
                  <a:schemeClr val="tx1"/>
                </a:solidFill>
                <a:effectLst/>
                <a:latin typeface="+mn-lt"/>
                <a:ea typeface="+mn-ea"/>
                <a:cs typeface="+mn-cs"/>
              </a:rPr>
              <a:t>, polymyositis, </a:t>
            </a:r>
            <a:r>
              <a:rPr lang="en-GB" sz="1200" b="1" i="0" kern="1200" dirty="0">
                <a:solidFill>
                  <a:schemeClr val="tx1"/>
                </a:solidFill>
                <a:effectLst/>
                <a:latin typeface="+mn-lt"/>
                <a:ea typeface="+mn-ea"/>
                <a:cs typeface="+mn-cs"/>
              </a:rPr>
              <a:t>inflammatory bowel disease </a:t>
            </a:r>
            <a:r>
              <a:rPr lang="en-GB" sz="1200" b="0" i="0" kern="1200" dirty="0">
                <a:solidFill>
                  <a:schemeClr val="tx1"/>
                </a:solidFill>
                <a:effectLst/>
                <a:latin typeface="+mn-lt"/>
                <a:ea typeface="+mn-ea"/>
                <a:cs typeface="+mn-cs"/>
              </a:rPr>
              <a:t>and </a:t>
            </a:r>
            <a:r>
              <a:rPr lang="en-GB" sz="1200" b="1" i="0" kern="1200" dirty="0">
                <a:solidFill>
                  <a:schemeClr val="tx1"/>
                </a:solidFill>
                <a:effectLst/>
                <a:latin typeface="+mn-lt"/>
                <a:ea typeface="+mn-ea"/>
                <a:cs typeface="+mn-cs"/>
              </a:rPr>
              <a:t>psoriasis</a:t>
            </a:r>
          </a:p>
          <a:p>
            <a:pPr marL="628650" lvl="1" indent="-171450">
              <a:buFont typeface="Arial" panose="020B0604020202020204" pitchFamily="34" charset="0"/>
              <a:buChar char="•"/>
            </a:pPr>
            <a:r>
              <a:rPr lang="en-GB" sz="1200" b="1" i="0" kern="1200" dirty="0">
                <a:solidFill>
                  <a:schemeClr val="tx1"/>
                </a:solidFill>
                <a:effectLst/>
                <a:latin typeface="+mn-lt"/>
                <a:ea typeface="+mn-ea"/>
                <a:cs typeface="+mn-cs"/>
              </a:rPr>
              <a:t>RF </a:t>
            </a:r>
            <a:r>
              <a:rPr lang="en-GB" sz="1200" b="0" i="0" kern="1200" dirty="0">
                <a:solidFill>
                  <a:schemeClr val="tx1"/>
                </a:solidFill>
                <a:effectLst/>
                <a:latin typeface="+mn-lt"/>
                <a:ea typeface="+mn-ea"/>
                <a:cs typeface="+mn-cs"/>
              </a:rPr>
              <a:t>(rheumatoid factor) </a:t>
            </a:r>
            <a:r>
              <a:rPr lang="en-GB" sz="1200" b="1" i="0" kern="1200" dirty="0">
                <a:solidFill>
                  <a:schemeClr val="tx1"/>
                </a:solidFill>
                <a:effectLst/>
                <a:latin typeface="+mn-lt"/>
                <a:ea typeface="+mn-ea"/>
                <a:cs typeface="+mn-cs"/>
              </a:rPr>
              <a:t>= rheumatoid arthritis </a:t>
            </a:r>
            <a:r>
              <a:rPr lang="en-GB" sz="1200" b="0" i="0" kern="1200" dirty="0">
                <a:solidFill>
                  <a:schemeClr val="tx1"/>
                </a:solidFill>
                <a:effectLst/>
                <a:latin typeface="+mn-lt"/>
                <a:ea typeface="+mn-ea"/>
                <a:cs typeface="+mn-cs"/>
              </a:rPr>
              <a:t>and </a:t>
            </a:r>
            <a:r>
              <a:rPr lang="en-GB" sz="1200" b="1" i="0" kern="1200" dirty="0">
                <a:solidFill>
                  <a:schemeClr val="tx1"/>
                </a:solidFill>
                <a:effectLst/>
                <a:latin typeface="+mn-lt"/>
                <a:ea typeface="+mn-ea"/>
                <a:cs typeface="+mn-cs"/>
              </a:rPr>
              <a:t>Sjogren’s</a:t>
            </a:r>
            <a:r>
              <a:rPr lang="en-GB" sz="1200" b="0" i="0" kern="1200" dirty="0">
                <a:solidFill>
                  <a:schemeClr val="tx1"/>
                </a:solidFill>
                <a:effectLst/>
                <a:latin typeface="+mn-lt"/>
                <a:ea typeface="+mn-ea"/>
                <a:cs typeface="+mn-cs"/>
              </a:rPr>
              <a:t> and others that overlap with ANA</a:t>
            </a:r>
          </a:p>
          <a:p>
            <a:pPr marL="628650" lvl="1" indent="-171450">
              <a:buFont typeface="Arial" panose="020B0604020202020204" pitchFamily="34" charset="0"/>
              <a:buChar char="•"/>
            </a:pPr>
            <a:r>
              <a:rPr lang="en-GB" sz="1200" b="1" i="0" kern="1200" dirty="0">
                <a:solidFill>
                  <a:schemeClr val="tx1"/>
                </a:solidFill>
                <a:effectLst/>
                <a:latin typeface="+mn-lt"/>
                <a:ea typeface="+mn-ea"/>
                <a:cs typeface="+mn-cs"/>
              </a:rPr>
              <a:t>RPR </a:t>
            </a:r>
            <a:r>
              <a:rPr lang="en-GB" sz="1200" b="0" i="0" kern="1200" dirty="0">
                <a:solidFill>
                  <a:schemeClr val="tx1"/>
                </a:solidFill>
                <a:effectLst/>
                <a:latin typeface="+mn-lt"/>
                <a:ea typeface="+mn-ea"/>
                <a:cs typeface="+mn-cs"/>
              </a:rPr>
              <a:t>(rapid plasma regain), </a:t>
            </a:r>
            <a:r>
              <a:rPr lang="en-GB" sz="1200" b="1" i="0" kern="1200" dirty="0">
                <a:solidFill>
                  <a:schemeClr val="tx1"/>
                </a:solidFill>
                <a:effectLst/>
                <a:latin typeface="+mn-lt"/>
                <a:ea typeface="+mn-ea"/>
                <a:cs typeface="+mn-cs"/>
              </a:rPr>
              <a:t>VDRL </a:t>
            </a:r>
            <a:r>
              <a:rPr lang="en-GB" sz="1200" b="0" i="0" kern="1200" dirty="0">
                <a:solidFill>
                  <a:schemeClr val="tx1"/>
                </a:solidFill>
                <a:effectLst/>
                <a:latin typeface="+mn-lt"/>
                <a:ea typeface="+mn-ea"/>
                <a:cs typeface="+mn-cs"/>
              </a:rPr>
              <a:t>(venereal disease research laboratory) </a:t>
            </a:r>
            <a:r>
              <a:rPr lang="en-GB" sz="1200" b="1" i="0" kern="1200" dirty="0">
                <a:solidFill>
                  <a:schemeClr val="tx1"/>
                </a:solidFill>
                <a:effectLst/>
                <a:latin typeface="+mn-lt"/>
                <a:ea typeface="+mn-ea"/>
                <a:cs typeface="+mn-cs"/>
              </a:rPr>
              <a:t>FTA-ABS </a:t>
            </a:r>
            <a:r>
              <a:rPr lang="en-GB" sz="1200" b="0" i="0" kern="1200" dirty="0">
                <a:solidFill>
                  <a:schemeClr val="tx1"/>
                </a:solidFill>
                <a:effectLst/>
                <a:latin typeface="+mn-lt"/>
                <a:ea typeface="+mn-ea"/>
                <a:cs typeface="+mn-cs"/>
              </a:rPr>
              <a:t>(fluorescent treponemal antibody absorption test = </a:t>
            </a:r>
            <a:r>
              <a:rPr lang="en-GB" sz="1200" b="1" i="0" kern="1200" dirty="0">
                <a:solidFill>
                  <a:schemeClr val="tx1"/>
                </a:solidFill>
                <a:effectLst/>
                <a:latin typeface="+mn-lt"/>
                <a:ea typeface="+mn-ea"/>
                <a:cs typeface="+mn-cs"/>
              </a:rPr>
              <a:t>syphilis </a:t>
            </a:r>
            <a:r>
              <a:rPr lang="en-GB" sz="1200" b="0" i="0" kern="1200" dirty="0">
                <a:solidFill>
                  <a:schemeClr val="tx1"/>
                </a:solidFill>
                <a:effectLst/>
                <a:latin typeface="+mn-lt"/>
                <a:ea typeface="+mn-ea"/>
                <a:cs typeface="+mn-cs"/>
              </a:rPr>
              <a:t>– </a:t>
            </a:r>
            <a:r>
              <a:rPr lang="en-GB" sz="1200" b="0" i="0" kern="1200" dirty="0" err="1">
                <a:solidFill>
                  <a:schemeClr val="tx1"/>
                </a:solidFill>
                <a:effectLst/>
                <a:latin typeface="+mn-lt"/>
                <a:ea typeface="+mn-ea"/>
                <a:cs typeface="+mn-cs"/>
              </a:rPr>
              <a:t>treponema</a:t>
            </a:r>
            <a:r>
              <a:rPr lang="en-GB" sz="1200" b="0" i="0" kern="1200" dirty="0">
                <a:solidFill>
                  <a:schemeClr val="tx1"/>
                </a:solidFill>
                <a:effectLst/>
                <a:latin typeface="+mn-lt"/>
                <a:ea typeface="+mn-ea"/>
                <a:cs typeface="+mn-cs"/>
              </a:rPr>
              <a:t> pallidum is bacteria in syphilis</a:t>
            </a:r>
          </a:p>
          <a:p>
            <a:pPr marL="628650" lvl="1" indent="-171450">
              <a:buFont typeface="Arial" panose="020B0604020202020204" pitchFamily="34" charset="0"/>
              <a:buChar char="•"/>
            </a:pPr>
            <a:r>
              <a:rPr lang="en-GB" sz="1200" b="1" i="0" kern="1200" dirty="0">
                <a:solidFill>
                  <a:schemeClr val="tx1"/>
                </a:solidFill>
                <a:effectLst/>
                <a:latin typeface="+mn-lt"/>
                <a:ea typeface="+mn-ea"/>
                <a:cs typeface="+mn-cs"/>
              </a:rPr>
              <a:t>ACE </a:t>
            </a:r>
            <a:r>
              <a:rPr lang="en-GB" sz="1200" b="0" i="0" kern="1200" dirty="0">
                <a:solidFill>
                  <a:schemeClr val="tx1"/>
                </a:solidFill>
                <a:effectLst/>
                <a:latin typeface="+mn-lt"/>
                <a:ea typeface="+mn-ea"/>
                <a:cs typeface="+mn-cs"/>
              </a:rPr>
              <a:t>(angiotensin converting enzyme) = </a:t>
            </a:r>
            <a:r>
              <a:rPr lang="en-GB" sz="1200" b="1" i="0" kern="1200" dirty="0">
                <a:solidFill>
                  <a:schemeClr val="tx1"/>
                </a:solidFill>
                <a:effectLst/>
                <a:latin typeface="+mn-lt"/>
                <a:ea typeface="+mn-ea"/>
                <a:cs typeface="+mn-cs"/>
              </a:rPr>
              <a:t>sarcoidosis</a:t>
            </a:r>
          </a:p>
          <a:p>
            <a:pPr marL="628650" lvl="1" indent="-171450">
              <a:buFont typeface="Arial" panose="020B0604020202020204" pitchFamily="34" charset="0"/>
              <a:buChar char="•"/>
            </a:pPr>
            <a:r>
              <a:rPr lang="en-GB" sz="1200" b="1" i="0" kern="1200" dirty="0">
                <a:solidFill>
                  <a:schemeClr val="tx1"/>
                </a:solidFill>
                <a:effectLst/>
                <a:latin typeface="+mn-lt"/>
                <a:ea typeface="+mn-ea"/>
                <a:cs typeface="+mn-cs"/>
              </a:rPr>
              <a:t>Chest X-Ray </a:t>
            </a:r>
            <a:r>
              <a:rPr lang="en-GB" sz="1200" b="0" i="0" kern="1200" dirty="0">
                <a:solidFill>
                  <a:schemeClr val="tx1"/>
                </a:solidFill>
                <a:effectLst/>
                <a:latin typeface="+mn-lt"/>
                <a:ea typeface="+mn-ea"/>
                <a:cs typeface="+mn-cs"/>
              </a:rPr>
              <a:t>= </a:t>
            </a:r>
            <a:r>
              <a:rPr lang="en-GB" sz="1200" b="1" i="0" kern="1200" dirty="0">
                <a:solidFill>
                  <a:schemeClr val="tx1"/>
                </a:solidFill>
                <a:effectLst/>
                <a:latin typeface="+mn-lt"/>
                <a:ea typeface="+mn-ea"/>
                <a:cs typeface="+mn-cs"/>
              </a:rPr>
              <a:t>tuberculosis or sarcoidosis</a:t>
            </a:r>
            <a:r>
              <a:rPr lang="en-GB" sz="1200" b="0" i="0" kern="1200" dirty="0">
                <a:solidFill>
                  <a:schemeClr val="tx1"/>
                </a:solidFill>
                <a:effectLst/>
                <a:latin typeface="+mn-lt"/>
                <a:ea typeface="+mn-ea"/>
                <a:cs typeface="+mn-cs"/>
              </a:rPr>
              <a:t> </a:t>
            </a:r>
          </a:p>
          <a:p>
            <a:pPr marL="628650" lvl="1" indent="-171450">
              <a:buFont typeface="Arial" panose="020B0604020202020204" pitchFamily="34" charset="0"/>
              <a:buChar char="•"/>
            </a:pPr>
            <a:r>
              <a:rPr lang="en-GB" sz="1200" b="1" i="0" kern="1200" dirty="0">
                <a:solidFill>
                  <a:schemeClr val="tx1"/>
                </a:solidFill>
                <a:effectLst/>
                <a:latin typeface="+mn-lt"/>
                <a:ea typeface="+mn-ea"/>
                <a:cs typeface="+mn-cs"/>
              </a:rPr>
              <a:t>PPD </a:t>
            </a:r>
            <a:r>
              <a:rPr lang="en-GB" sz="1200" b="0" i="0" kern="1200" dirty="0">
                <a:solidFill>
                  <a:schemeClr val="tx1"/>
                </a:solidFill>
                <a:effectLst/>
                <a:latin typeface="+mn-lt"/>
                <a:ea typeface="+mn-ea"/>
                <a:cs typeface="+mn-cs"/>
              </a:rPr>
              <a:t>(purified protein derivative) = tuberculosis</a:t>
            </a:r>
          </a:p>
          <a:p>
            <a:pPr marL="628650" lvl="1" indent="-171450">
              <a:buFont typeface="Arial" panose="020B0604020202020204" pitchFamily="34" charset="0"/>
              <a:buChar char="•"/>
            </a:pPr>
            <a:r>
              <a:rPr lang="en-GB" sz="1200" b="1" i="0" kern="1200" dirty="0">
                <a:solidFill>
                  <a:schemeClr val="tx1"/>
                </a:solidFill>
                <a:effectLst/>
                <a:latin typeface="+mn-lt"/>
                <a:ea typeface="+mn-ea"/>
                <a:cs typeface="+mn-cs"/>
              </a:rPr>
              <a:t>ELISA </a:t>
            </a:r>
            <a:r>
              <a:rPr lang="en-GB" sz="1200" b="0" i="0" kern="1200" dirty="0">
                <a:solidFill>
                  <a:schemeClr val="tx1"/>
                </a:solidFill>
                <a:effectLst/>
                <a:latin typeface="+mn-lt"/>
                <a:ea typeface="+mn-ea"/>
                <a:cs typeface="+mn-cs"/>
              </a:rPr>
              <a:t>(</a:t>
            </a:r>
            <a:r>
              <a:rPr lang="en-GB" sz="1200" b="0" i="0" kern="1200" dirty="0" err="1">
                <a:solidFill>
                  <a:schemeClr val="tx1"/>
                </a:solidFill>
                <a:effectLst/>
                <a:latin typeface="+mn-lt"/>
                <a:ea typeface="+mn-ea"/>
                <a:cs typeface="+mn-cs"/>
              </a:rPr>
              <a:t>lyme</a:t>
            </a:r>
            <a:r>
              <a:rPr lang="en-GB" sz="1200" b="0" i="0" kern="1200" dirty="0">
                <a:solidFill>
                  <a:schemeClr val="tx1"/>
                </a:solidFill>
                <a:effectLst/>
                <a:latin typeface="+mn-lt"/>
                <a:ea typeface="+mn-ea"/>
                <a:cs typeface="+mn-cs"/>
              </a:rPr>
              <a:t> titre and enzyme-linked immunosorbent assay) = </a:t>
            </a:r>
            <a:r>
              <a:rPr lang="en-GB" sz="1200" b="1" i="0" kern="1200" dirty="0">
                <a:solidFill>
                  <a:schemeClr val="tx1"/>
                </a:solidFill>
                <a:effectLst/>
                <a:latin typeface="+mn-lt"/>
                <a:ea typeface="+mn-ea"/>
                <a:cs typeface="+mn-cs"/>
              </a:rPr>
              <a:t>Lyme disease</a:t>
            </a:r>
            <a:r>
              <a:rPr lang="en-GB" sz="1200" b="0" i="0" kern="1200" dirty="0">
                <a:solidFill>
                  <a:schemeClr val="tx1"/>
                </a:solidFill>
                <a:effectLst/>
                <a:latin typeface="+mn-lt"/>
                <a:ea typeface="+mn-ea"/>
                <a:cs typeface="+mn-cs"/>
              </a:rPr>
              <a:t> and </a:t>
            </a:r>
            <a:r>
              <a:rPr lang="en-GB" sz="1200" b="1" i="0" kern="1200" dirty="0">
                <a:solidFill>
                  <a:schemeClr val="tx1"/>
                </a:solidFill>
                <a:effectLst/>
                <a:latin typeface="+mn-lt"/>
                <a:ea typeface="+mn-ea"/>
                <a:cs typeface="+mn-cs"/>
              </a:rPr>
              <a:t>HIV</a:t>
            </a:r>
          </a:p>
          <a:p>
            <a:pPr marL="628650" lvl="1" indent="-171450">
              <a:buFont typeface="Arial" panose="020B0604020202020204" pitchFamily="34" charset="0"/>
              <a:buChar char="•"/>
            </a:pPr>
            <a:endParaRPr lang="en-GB" sz="1200" b="1" i="0" kern="1200" dirty="0">
              <a:solidFill>
                <a:schemeClr val="tx1"/>
              </a:solidFill>
              <a:effectLst/>
              <a:latin typeface="+mn-lt"/>
              <a:ea typeface="+mn-ea"/>
              <a:cs typeface="+mn-cs"/>
            </a:endParaRPr>
          </a:p>
          <a:p>
            <a:endParaRPr lang="en-GB" sz="1200" b="0" i="0" kern="1200" dirty="0">
              <a:solidFill>
                <a:schemeClr val="tx1"/>
              </a:solidFill>
              <a:effectLst/>
              <a:latin typeface="+mn-lt"/>
              <a:ea typeface="+mn-ea"/>
              <a:cs typeface="+mn-cs"/>
            </a:endParaRPr>
          </a:p>
          <a:p>
            <a:r>
              <a:rPr lang="en-GB" sz="1200" b="1" i="0" kern="1200" dirty="0">
                <a:solidFill>
                  <a:schemeClr val="tx1"/>
                </a:solidFill>
                <a:effectLst/>
                <a:latin typeface="+mn-lt"/>
                <a:ea typeface="+mn-ea"/>
                <a:cs typeface="+mn-cs"/>
              </a:rPr>
              <a:t>When would you consider a referral to ophthalmologist?</a:t>
            </a:r>
          </a:p>
          <a:p>
            <a:pPr marL="628650" lvl="1" indent="-171450">
              <a:buFont typeface="Arial" panose="020B0604020202020204" pitchFamily="34" charset="0"/>
              <a:buChar char="•"/>
            </a:pPr>
            <a:r>
              <a:rPr lang="en-GB" sz="1200" b="0" i="0" kern="1200" dirty="0">
                <a:solidFill>
                  <a:schemeClr val="tx1"/>
                </a:solidFill>
                <a:effectLst/>
                <a:latin typeface="+mn-lt"/>
                <a:ea typeface="+mn-ea"/>
                <a:cs typeface="+mn-cs"/>
              </a:rPr>
              <a:t>Hypopyon</a:t>
            </a:r>
          </a:p>
          <a:p>
            <a:pPr marL="628650" lvl="1" indent="-171450">
              <a:buFont typeface="Arial" panose="020B0604020202020204" pitchFamily="34" charset="0"/>
              <a:buChar char="•"/>
            </a:pPr>
            <a:r>
              <a:rPr lang="en-GB" sz="1200" b="0" i="0" kern="1200" dirty="0">
                <a:solidFill>
                  <a:schemeClr val="tx1"/>
                </a:solidFill>
                <a:effectLst/>
                <a:latin typeface="+mn-lt"/>
                <a:ea typeface="+mn-ea"/>
                <a:cs typeface="+mn-cs"/>
              </a:rPr>
              <a:t>Bilateral</a:t>
            </a:r>
          </a:p>
          <a:p>
            <a:pPr marL="628650" lvl="1" indent="-171450">
              <a:buFont typeface="Arial" panose="020B0604020202020204" pitchFamily="34" charset="0"/>
              <a:buChar char="•"/>
            </a:pPr>
            <a:r>
              <a:rPr lang="en-GB" sz="1200" b="0" i="0" kern="1200" dirty="0">
                <a:solidFill>
                  <a:schemeClr val="tx1"/>
                </a:solidFill>
                <a:effectLst/>
                <a:latin typeface="+mn-lt"/>
                <a:ea typeface="+mn-ea"/>
                <a:cs typeface="+mn-cs"/>
              </a:rPr>
              <a:t>Intermediate/posterior/pan-uveitis</a:t>
            </a:r>
          </a:p>
          <a:p>
            <a:pPr marL="628650" lvl="1" indent="-171450">
              <a:buFont typeface="Arial" panose="020B0604020202020204" pitchFamily="34" charset="0"/>
              <a:buChar char="•"/>
            </a:pPr>
            <a:r>
              <a:rPr lang="en-GB" sz="1200" b="0" i="0" kern="1200" dirty="0">
                <a:solidFill>
                  <a:schemeClr val="tx1"/>
                </a:solidFill>
                <a:effectLst/>
                <a:latin typeface="+mn-lt"/>
                <a:ea typeface="+mn-ea"/>
                <a:cs typeface="+mn-cs"/>
              </a:rPr>
              <a:t>Recent surgery or presence of drainage bleb</a:t>
            </a:r>
          </a:p>
          <a:p>
            <a:pPr marL="628650" lvl="1" indent="-171450">
              <a:buFont typeface="Arial" panose="020B0604020202020204" pitchFamily="34" charset="0"/>
              <a:buChar char="•"/>
            </a:pPr>
            <a:r>
              <a:rPr lang="en-GB" sz="1200" b="0" i="0" kern="1200" dirty="0">
                <a:solidFill>
                  <a:schemeClr val="tx1"/>
                </a:solidFill>
                <a:effectLst/>
                <a:latin typeface="+mn-lt"/>
                <a:ea typeface="+mn-ea"/>
                <a:cs typeface="+mn-cs"/>
              </a:rPr>
              <a:t>Presence of severe or atypical inflammation</a:t>
            </a:r>
            <a:endParaRPr lang="en-GB" b="1" dirty="0"/>
          </a:p>
        </p:txBody>
      </p:sp>
      <p:sp>
        <p:nvSpPr>
          <p:cNvPr id="4" name="Slide Number Placeholder 3"/>
          <p:cNvSpPr>
            <a:spLocks noGrp="1"/>
          </p:cNvSpPr>
          <p:nvPr>
            <p:ph type="sldNum" sz="quarter" idx="10"/>
          </p:nvPr>
        </p:nvSpPr>
        <p:spPr/>
        <p:txBody>
          <a:bodyPr/>
          <a:lstStyle/>
          <a:p>
            <a:fld id="{32E38DB9-DF4D-4A16-8DDB-2246D19213B5}" type="slidenum">
              <a:rPr lang="en-GB" smtClean="0"/>
              <a:t>4</a:t>
            </a:fld>
            <a:endParaRPr lang="en-GB"/>
          </a:p>
        </p:txBody>
      </p:sp>
    </p:spTree>
    <p:extLst>
      <p:ext uri="{BB962C8B-B14F-4D97-AF65-F5344CB8AC3E}">
        <p14:creationId xmlns:p14="http://schemas.microsoft.com/office/powerpoint/2010/main" val="417771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Grade 2-3 Cells and flare = 16-25 vs 26-50 cells in 1mm x 1mm field </a:t>
            </a:r>
          </a:p>
          <a:p>
            <a:endParaRPr lang="en-GB" dirty="0"/>
          </a:p>
          <a:p>
            <a:r>
              <a:rPr lang="en-GB" b="1" dirty="0"/>
              <a:t>Let’s say they have ~ 25cells what is mx?</a:t>
            </a:r>
          </a:p>
          <a:p>
            <a:endParaRPr lang="en-GB" dirty="0"/>
          </a:p>
          <a:p>
            <a:r>
              <a:rPr lang="en-GB" b="1" dirty="0"/>
              <a:t>What is Grade 2-3 flare?</a:t>
            </a:r>
          </a:p>
          <a:p>
            <a:r>
              <a:rPr lang="en-GB" dirty="0"/>
              <a:t>0 = none, 1 = faint, 2 = moderate (iris and lens still clear). 3 = marked (iris and lens hazy), 4 = intense (fibrin or plastic aqueous)</a:t>
            </a:r>
          </a:p>
          <a:p>
            <a:endParaRPr lang="en-GB" dirty="0"/>
          </a:p>
          <a:p>
            <a:r>
              <a:rPr lang="en-GB" b="1" dirty="0"/>
              <a:t>What do you expect the IOP to be compared to other normal eye? </a:t>
            </a:r>
            <a:r>
              <a:rPr lang="en-GB" dirty="0"/>
              <a:t>Generally slightly less as CB inflamed so can’t produce as much and increase in released prostaglandins = increased uveoscleral outflow in acute phase but occasionally greater due to reduced outflow (trabeculitis, inflammatory cells or debris blocking angle, ant/post </a:t>
            </a:r>
            <a:r>
              <a:rPr lang="en-GB" dirty="0" err="1"/>
              <a:t>synechiae</a:t>
            </a:r>
            <a:r>
              <a:rPr lang="en-GB" dirty="0"/>
              <a:t>, </a:t>
            </a:r>
            <a:r>
              <a:rPr lang="en-GB" dirty="0" err="1"/>
              <a:t>trabeculosclerosis</a:t>
            </a:r>
            <a:r>
              <a:rPr lang="en-GB" dirty="0"/>
              <a:t> or steroid response)</a:t>
            </a:r>
          </a:p>
          <a:p>
            <a:endParaRPr lang="en-GB" dirty="0"/>
          </a:p>
          <a:p>
            <a:r>
              <a:rPr lang="en-GB" dirty="0"/>
              <a:t>	Elevated IOP more common in infectious uveitis (herpes/toxoplasmosis), </a:t>
            </a:r>
            <a:r>
              <a:rPr lang="en-GB" dirty="0" err="1"/>
              <a:t>Fuch’s</a:t>
            </a:r>
            <a:r>
              <a:rPr lang="en-GB" dirty="0"/>
              <a:t> </a:t>
            </a:r>
            <a:r>
              <a:rPr lang="en-GB" dirty="0" err="1"/>
              <a:t>heterochromic</a:t>
            </a:r>
            <a:r>
              <a:rPr lang="en-GB" dirty="0"/>
              <a:t> </a:t>
            </a:r>
            <a:r>
              <a:rPr lang="en-GB" dirty="0" err="1"/>
              <a:t>iridocyclitis</a:t>
            </a:r>
            <a:r>
              <a:rPr lang="en-GB" dirty="0"/>
              <a:t>, Posner-</a:t>
            </a:r>
            <a:r>
              <a:rPr lang="en-GB" dirty="0" err="1"/>
              <a:t>Schlossman</a:t>
            </a:r>
            <a:r>
              <a:rPr lang="en-GB" dirty="0"/>
              <a:t> syndrome, juvenile chronic arthritis associated uveitis and sarcoidosis [</a:t>
            </a:r>
            <a:r>
              <a:rPr lang="en-GB" sz="1200" b="0" i="0" kern="1200" dirty="0" err="1">
                <a:solidFill>
                  <a:schemeClr val="tx1"/>
                </a:solidFill>
                <a:effectLst/>
                <a:latin typeface="+mn-lt"/>
                <a:ea typeface="+mn-ea"/>
                <a:cs typeface="+mn-cs"/>
              </a:rPr>
              <a:t>Panek</a:t>
            </a:r>
            <a:r>
              <a:rPr lang="en-GB" sz="1200" b="0" i="0" kern="1200" dirty="0">
                <a:solidFill>
                  <a:schemeClr val="tx1"/>
                </a:solidFill>
                <a:effectLst/>
                <a:latin typeface="+mn-lt"/>
                <a:ea typeface="+mn-ea"/>
                <a:cs typeface="+mn-cs"/>
              </a:rPr>
              <a:t> WC, Holland GN, Lee DA, Christensen RE. Glaucoma in patients with uveitis. </a:t>
            </a:r>
            <a:r>
              <a:rPr lang="en-GB" sz="1200" b="0" i="1" kern="1200" dirty="0">
                <a:solidFill>
                  <a:schemeClr val="tx1"/>
                </a:solidFill>
                <a:effectLst/>
                <a:latin typeface="+mn-lt"/>
                <a:ea typeface="+mn-ea"/>
                <a:cs typeface="+mn-cs"/>
              </a:rPr>
              <a:t>Br J Ophthalmol</a:t>
            </a:r>
            <a:r>
              <a:rPr lang="en-GB" sz="1200" b="0" i="0" kern="1200" dirty="0">
                <a:solidFill>
                  <a:schemeClr val="tx1"/>
                </a:solidFill>
                <a:effectLst/>
                <a:latin typeface="+mn-lt"/>
                <a:ea typeface="+mn-ea"/>
                <a:cs typeface="+mn-cs"/>
              </a:rPr>
              <a:t>1990; </a:t>
            </a:r>
            <a:r>
              <a:rPr lang="en-GB" sz="1200" b="1" i="0" kern="1200" dirty="0">
                <a:solidFill>
                  <a:schemeClr val="tx1"/>
                </a:solidFill>
                <a:effectLst/>
                <a:latin typeface="+mn-lt"/>
                <a:ea typeface="+mn-ea"/>
                <a:cs typeface="+mn-cs"/>
              </a:rPr>
              <a:t>74</a:t>
            </a:r>
            <a:r>
              <a:rPr lang="en-GB" sz="1200" b="0" i="0" kern="1200" dirty="0">
                <a:solidFill>
                  <a:schemeClr val="tx1"/>
                </a:solidFill>
                <a:effectLst/>
                <a:latin typeface="+mn-lt"/>
                <a:ea typeface="+mn-ea"/>
                <a:cs typeface="+mn-cs"/>
              </a:rPr>
              <a:t>: 223–227. Moorthy RS, </a:t>
            </a:r>
            <a:r>
              <a:rPr lang="en-GB" sz="1200" b="0" i="0" kern="1200" dirty="0" err="1">
                <a:solidFill>
                  <a:schemeClr val="tx1"/>
                </a:solidFill>
                <a:effectLst/>
                <a:latin typeface="+mn-lt"/>
                <a:ea typeface="+mn-ea"/>
                <a:cs typeface="+mn-cs"/>
              </a:rPr>
              <a:t>Mermoud</a:t>
            </a:r>
            <a:r>
              <a:rPr lang="en-GB" sz="1200" b="0" i="0" kern="1200" dirty="0">
                <a:solidFill>
                  <a:schemeClr val="tx1"/>
                </a:solidFill>
                <a:effectLst/>
                <a:latin typeface="+mn-lt"/>
                <a:ea typeface="+mn-ea"/>
                <a:cs typeface="+mn-cs"/>
              </a:rPr>
              <a:t> A, </a:t>
            </a:r>
            <a:r>
              <a:rPr lang="en-GB" sz="1200" b="0" i="0" kern="1200" dirty="0" err="1">
                <a:solidFill>
                  <a:schemeClr val="tx1"/>
                </a:solidFill>
                <a:effectLst/>
                <a:latin typeface="+mn-lt"/>
                <a:ea typeface="+mn-ea"/>
                <a:cs typeface="+mn-cs"/>
              </a:rPr>
              <a:t>Baerveldt</a:t>
            </a:r>
            <a:r>
              <a:rPr lang="en-GB" sz="1200" b="0" i="0" kern="1200" dirty="0">
                <a:solidFill>
                  <a:schemeClr val="tx1"/>
                </a:solidFill>
                <a:effectLst/>
                <a:latin typeface="+mn-lt"/>
                <a:ea typeface="+mn-ea"/>
                <a:cs typeface="+mn-cs"/>
              </a:rPr>
              <a:t> G, </a:t>
            </a:r>
            <a:r>
              <a:rPr lang="en-GB" sz="1200" b="0" i="0" kern="1200" dirty="0" err="1">
                <a:solidFill>
                  <a:schemeClr val="tx1"/>
                </a:solidFill>
                <a:effectLst/>
                <a:latin typeface="+mn-lt"/>
                <a:ea typeface="+mn-ea"/>
                <a:cs typeface="+mn-cs"/>
              </a:rPr>
              <a:t>Minckler</a:t>
            </a:r>
            <a:r>
              <a:rPr lang="en-GB" sz="1200" b="0" i="0" kern="1200" dirty="0">
                <a:solidFill>
                  <a:schemeClr val="tx1"/>
                </a:solidFill>
                <a:effectLst/>
                <a:latin typeface="+mn-lt"/>
                <a:ea typeface="+mn-ea"/>
                <a:cs typeface="+mn-cs"/>
              </a:rPr>
              <a:t> DS, Lee PP, Rao NA. Glaucoma associated with uveitis. </a:t>
            </a:r>
            <a:r>
              <a:rPr lang="en-GB" sz="1200" b="0" i="1" kern="1200" dirty="0" err="1">
                <a:solidFill>
                  <a:schemeClr val="tx1"/>
                </a:solidFill>
                <a:effectLst/>
                <a:latin typeface="+mn-lt"/>
                <a:ea typeface="+mn-ea"/>
                <a:cs typeface="+mn-cs"/>
              </a:rPr>
              <a:t>Surv</a:t>
            </a:r>
            <a:r>
              <a:rPr lang="en-GB" sz="1200" b="0" i="1" kern="1200" dirty="0">
                <a:solidFill>
                  <a:schemeClr val="tx1"/>
                </a:solidFill>
                <a:effectLst/>
                <a:latin typeface="+mn-lt"/>
                <a:ea typeface="+mn-ea"/>
                <a:cs typeface="+mn-cs"/>
              </a:rPr>
              <a:t> </a:t>
            </a:r>
            <a:r>
              <a:rPr lang="en-GB" sz="1200" b="0" i="1" kern="1200" dirty="0" err="1">
                <a:solidFill>
                  <a:schemeClr val="tx1"/>
                </a:solidFill>
                <a:effectLst/>
                <a:latin typeface="+mn-lt"/>
                <a:ea typeface="+mn-ea"/>
                <a:cs typeface="+mn-cs"/>
              </a:rPr>
              <a:t>Ophthalmol</a:t>
            </a:r>
            <a:r>
              <a:rPr lang="en-GB" sz="1200" b="0" i="0" kern="1200" dirty="0">
                <a:solidFill>
                  <a:schemeClr val="tx1"/>
                </a:solidFill>
                <a:effectLst/>
                <a:latin typeface="+mn-lt"/>
                <a:ea typeface="+mn-ea"/>
                <a:cs typeface="+mn-cs"/>
              </a:rPr>
              <a:t> 1997; </a:t>
            </a:r>
            <a:r>
              <a:rPr lang="en-GB" sz="1200" b="1" i="0" kern="1200" dirty="0">
                <a:solidFill>
                  <a:schemeClr val="tx1"/>
                </a:solidFill>
                <a:effectLst/>
                <a:latin typeface="+mn-lt"/>
                <a:ea typeface="+mn-ea"/>
                <a:cs typeface="+mn-cs"/>
              </a:rPr>
              <a:t>41</a:t>
            </a:r>
            <a:r>
              <a:rPr lang="en-GB" sz="1200" b="0" i="0" kern="1200" dirty="0">
                <a:solidFill>
                  <a:schemeClr val="tx1"/>
                </a:solidFill>
                <a:effectLst/>
                <a:latin typeface="+mn-lt"/>
                <a:ea typeface="+mn-ea"/>
                <a:cs typeface="+mn-cs"/>
              </a:rPr>
              <a:t>: 361–394.]</a:t>
            </a:r>
            <a:endParaRPr lang="en-GB" dirty="0"/>
          </a:p>
          <a:p>
            <a:endParaRPr lang="en-GB" dirty="0"/>
          </a:p>
          <a:p>
            <a:r>
              <a:rPr lang="en-GB" dirty="0"/>
              <a:t>http://onlinelibrary.wiley.com/doi/10.1111/j.1444-0938.2006.00128.x/full </a:t>
            </a:r>
          </a:p>
          <a:p>
            <a:pPr rtl="0" fontAlgn="t"/>
            <a:endParaRPr lang="en-GB" b="0" dirty="0">
              <a:effectLst/>
            </a:endParaRPr>
          </a:p>
          <a:p>
            <a:pPr rtl="0" fontAlgn="t"/>
            <a:r>
              <a:rPr lang="en-GB" b="1" dirty="0">
                <a:effectLst/>
              </a:rPr>
              <a:t>Review of systems</a:t>
            </a:r>
          </a:p>
          <a:p>
            <a:pPr fontAlgn="base"/>
            <a:r>
              <a:rPr lang="en-GB" sz="1200" b="0" i="0" kern="1200" dirty="0">
                <a:solidFill>
                  <a:schemeClr val="tx1"/>
                </a:solidFill>
                <a:effectLst/>
                <a:latin typeface="+mn-lt"/>
                <a:ea typeface="+mn-ea"/>
                <a:cs typeface="+mn-cs"/>
              </a:rPr>
              <a:t>• Rheumatological: </a:t>
            </a:r>
            <a:r>
              <a:rPr lang="en-GB" sz="1200" b="0" i="0" kern="1200" dirty="0" err="1">
                <a:solidFill>
                  <a:schemeClr val="tx1"/>
                </a:solidFill>
                <a:effectLst/>
                <a:latin typeface="+mn-lt"/>
                <a:ea typeface="+mn-ea"/>
                <a:cs typeface="+mn-cs"/>
              </a:rPr>
              <a:t>spondyloarthropathies</a:t>
            </a:r>
            <a:r>
              <a:rPr lang="en-GB" sz="1200" b="0" i="0" kern="1200" dirty="0">
                <a:solidFill>
                  <a:schemeClr val="tx1"/>
                </a:solidFill>
                <a:effectLst/>
                <a:latin typeface="+mn-lt"/>
                <a:ea typeface="+mn-ea"/>
                <a:cs typeface="+mn-cs"/>
              </a:rPr>
              <a:t>, especially ankylosing spondylitis</a:t>
            </a:r>
          </a:p>
          <a:p>
            <a:pPr fontAlgn="base"/>
            <a:r>
              <a:rPr lang="en-GB" sz="1200" b="0" i="0" kern="1200" dirty="0">
                <a:solidFill>
                  <a:schemeClr val="tx1"/>
                </a:solidFill>
                <a:effectLst/>
                <a:latin typeface="+mn-lt"/>
                <a:ea typeface="+mn-ea"/>
                <a:cs typeface="+mn-cs"/>
              </a:rPr>
              <a:t>• Genito-urinary: Reiter’s syndrome, </a:t>
            </a:r>
            <a:r>
              <a:rPr lang="en-GB" sz="1200" b="0" i="0" kern="1200" dirty="0" err="1">
                <a:solidFill>
                  <a:schemeClr val="tx1"/>
                </a:solidFill>
                <a:effectLst/>
                <a:latin typeface="+mn-lt"/>
                <a:ea typeface="+mn-ea"/>
                <a:cs typeface="+mn-cs"/>
              </a:rPr>
              <a:t>Behçet’s</a:t>
            </a:r>
            <a:r>
              <a:rPr lang="en-GB" sz="1200" b="0" i="0" kern="1200" dirty="0">
                <a:solidFill>
                  <a:schemeClr val="tx1"/>
                </a:solidFill>
                <a:effectLst/>
                <a:latin typeface="+mn-lt"/>
                <a:ea typeface="+mn-ea"/>
                <a:cs typeface="+mn-cs"/>
              </a:rPr>
              <a:t> disease, syphilis</a:t>
            </a:r>
          </a:p>
          <a:p>
            <a:pPr fontAlgn="base"/>
            <a:r>
              <a:rPr lang="en-GB" sz="1200" b="0" i="0" kern="1200" dirty="0">
                <a:solidFill>
                  <a:schemeClr val="tx1"/>
                </a:solidFill>
                <a:effectLst/>
                <a:latin typeface="+mn-lt"/>
                <a:ea typeface="+mn-ea"/>
                <a:cs typeface="+mn-cs"/>
              </a:rPr>
              <a:t>• Respiratory: sarcoidosis, tuberculosis</a:t>
            </a:r>
          </a:p>
          <a:p>
            <a:pPr fontAlgn="base"/>
            <a:r>
              <a:rPr lang="en-GB" sz="1200" b="0" i="0" kern="1200" dirty="0">
                <a:solidFill>
                  <a:schemeClr val="tx1"/>
                </a:solidFill>
                <a:effectLst/>
                <a:latin typeface="+mn-lt"/>
                <a:ea typeface="+mn-ea"/>
                <a:cs typeface="+mn-cs"/>
              </a:rPr>
              <a:t>• Gastrointestinal: inflammatory bowel disease</a:t>
            </a:r>
          </a:p>
          <a:p>
            <a:pPr fontAlgn="base"/>
            <a:r>
              <a:rPr lang="en-GB" sz="1200" b="0" i="0" kern="1200" dirty="0">
                <a:solidFill>
                  <a:schemeClr val="tx1"/>
                </a:solidFill>
                <a:effectLst/>
                <a:latin typeface="+mn-lt"/>
                <a:ea typeface="+mn-ea"/>
                <a:cs typeface="+mn-cs"/>
              </a:rPr>
              <a:t>• Dermatological: psoriasis, syphilis, sarcoidosis, herpes simplex, herpes zoster, </a:t>
            </a:r>
            <a:r>
              <a:rPr lang="en-GB" sz="1200" b="0" i="0" kern="1200" dirty="0" err="1">
                <a:solidFill>
                  <a:schemeClr val="tx1"/>
                </a:solidFill>
                <a:effectLst/>
                <a:latin typeface="+mn-lt"/>
                <a:ea typeface="+mn-ea"/>
                <a:cs typeface="+mn-cs"/>
              </a:rPr>
              <a:t>Behçet’s</a:t>
            </a:r>
            <a:r>
              <a:rPr lang="en-GB" sz="1200" b="0" i="0" kern="1200" dirty="0">
                <a:solidFill>
                  <a:schemeClr val="tx1"/>
                </a:solidFill>
                <a:effectLst/>
                <a:latin typeface="+mn-lt"/>
                <a:ea typeface="+mn-ea"/>
                <a:cs typeface="+mn-cs"/>
              </a:rPr>
              <a:t> disease.</a:t>
            </a:r>
          </a:p>
          <a:p>
            <a:pPr rtl="0" fontAlgn="t"/>
            <a:endParaRPr lang="en-GB" b="0" dirty="0">
              <a:effectLst/>
            </a:endParaRPr>
          </a:p>
          <a:p>
            <a:pPr rtl="0" fontAlgn="t"/>
            <a:r>
              <a:rPr lang="en-GB" b="1" dirty="0">
                <a:effectLst/>
              </a:rPr>
              <a:t>Pathophysiology of AAU?</a:t>
            </a:r>
          </a:p>
          <a:p>
            <a:pPr rtl="0" fontAlgn="t"/>
            <a:r>
              <a:rPr lang="en-GB" b="0" dirty="0">
                <a:effectLst/>
              </a:rPr>
              <a:t>- Breakdown of blood aqueous barrier i.e. increased permeability of iris/ciliary body </a:t>
            </a:r>
            <a:r>
              <a:rPr lang="en-GB" b="0" dirty="0" err="1">
                <a:effectLst/>
              </a:rPr>
              <a:t>capiliaries</a:t>
            </a:r>
            <a:r>
              <a:rPr lang="en-GB" b="0" dirty="0">
                <a:effectLst/>
              </a:rPr>
              <a:t> </a:t>
            </a:r>
            <a:r>
              <a:rPr lang="en-GB" b="0" dirty="0">
                <a:effectLst/>
                <a:sym typeface="Wingdings" panose="05000000000000000000" pitchFamily="2" charset="2"/>
              </a:rPr>
              <a:t> escape of leukocytes, protein and fibrin into aqueous </a:t>
            </a:r>
            <a:endParaRPr lang="en-GB" b="0" dirty="0">
              <a:effectLst/>
            </a:endParaRPr>
          </a:p>
          <a:p>
            <a:pPr rtl="0" fontAlgn="t"/>
            <a:r>
              <a:rPr lang="en-GB" b="0" dirty="0">
                <a:effectLst/>
              </a:rPr>
              <a:t/>
            </a:r>
            <a:br>
              <a:rPr lang="en-GB" b="0" dirty="0">
                <a:effectLst/>
              </a:rPr>
            </a:br>
            <a:r>
              <a:rPr lang="en-GB" sz="1200" b="1" i="0" u="sng" strike="noStrike" kern="1200" dirty="0">
                <a:solidFill>
                  <a:schemeClr val="tx1"/>
                </a:solidFill>
                <a:effectLst/>
                <a:latin typeface="+mn-lt"/>
                <a:ea typeface="+mn-ea"/>
                <a:cs typeface="+mn-cs"/>
              </a:rPr>
              <a:t>Steroids</a:t>
            </a:r>
            <a:r>
              <a:rPr lang="en-GB" sz="1200" b="1" i="0" u="none" strike="noStrike" kern="1200" dirty="0">
                <a:solidFill>
                  <a:schemeClr val="tx1"/>
                </a:solidFill>
                <a:effectLst/>
                <a:latin typeface="+mn-lt"/>
                <a:ea typeface="+mn-ea"/>
                <a:cs typeface="+mn-cs"/>
              </a:rPr>
              <a:t>:</a:t>
            </a:r>
            <a:endParaRPr lang="en-GB" b="0" dirty="0">
              <a:effectLst/>
            </a:endParaRPr>
          </a:p>
          <a:p>
            <a:pPr rtl="0" fontAlgn="t"/>
            <a:r>
              <a:rPr lang="en-GB" sz="1200" b="0" i="0" u="none" strike="noStrike" kern="1200" dirty="0">
                <a:solidFill>
                  <a:schemeClr val="tx1"/>
                </a:solidFill>
                <a:effectLst/>
                <a:latin typeface="+mn-lt"/>
                <a:ea typeface="+mn-ea"/>
                <a:cs typeface="+mn-cs"/>
              </a:rPr>
              <a:t>Mild/Moderate – </a:t>
            </a:r>
            <a:r>
              <a:rPr lang="en-GB" sz="1200" b="0" i="0" u="none" strike="noStrike" kern="1200" dirty="0" err="1">
                <a:solidFill>
                  <a:schemeClr val="tx1"/>
                </a:solidFill>
                <a:effectLst/>
                <a:latin typeface="+mn-lt"/>
                <a:ea typeface="+mn-ea"/>
                <a:cs typeface="+mn-cs"/>
              </a:rPr>
              <a:t>predforte</a:t>
            </a:r>
            <a:r>
              <a:rPr lang="en-GB" sz="1200" b="0" i="0" u="none" strike="noStrike" kern="1200" dirty="0">
                <a:solidFill>
                  <a:schemeClr val="tx1"/>
                </a:solidFill>
                <a:effectLst/>
                <a:latin typeface="+mn-lt"/>
                <a:ea typeface="+mn-ea"/>
                <a:cs typeface="+mn-cs"/>
              </a:rPr>
              <a:t> 1% every 2 hours</a:t>
            </a:r>
            <a:endParaRPr lang="en-GB" b="0" dirty="0">
              <a:effectLst/>
            </a:endParaRPr>
          </a:p>
          <a:p>
            <a:pPr rtl="0" fontAlgn="t"/>
            <a:r>
              <a:rPr lang="en-GB" sz="1200" b="0" i="0" u="none" strike="noStrike" kern="1200" dirty="0">
                <a:solidFill>
                  <a:schemeClr val="tx1"/>
                </a:solidFill>
                <a:effectLst/>
                <a:latin typeface="+mn-lt"/>
                <a:ea typeface="+mn-ea"/>
                <a:cs typeface="+mn-cs"/>
              </a:rPr>
              <a:t>Severe – </a:t>
            </a:r>
            <a:r>
              <a:rPr lang="en-GB" sz="1200" b="0" i="0" u="none" strike="noStrike" kern="1200" dirty="0" err="1">
                <a:solidFill>
                  <a:schemeClr val="tx1"/>
                </a:solidFill>
                <a:effectLst/>
                <a:latin typeface="+mn-lt"/>
                <a:ea typeface="+mn-ea"/>
                <a:cs typeface="+mn-cs"/>
              </a:rPr>
              <a:t>predforte</a:t>
            </a:r>
            <a:r>
              <a:rPr lang="en-GB" sz="1200" b="0" i="0" u="none" strike="noStrike" kern="1200" dirty="0">
                <a:solidFill>
                  <a:schemeClr val="tx1"/>
                </a:solidFill>
                <a:effectLst/>
                <a:latin typeface="+mn-lt"/>
                <a:ea typeface="+mn-ea"/>
                <a:cs typeface="+mn-cs"/>
              </a:rPr>
              <a:t> 1% every hour</a:t>
            </a:r>
          </a:p>
          <a:p>
            <a:pPr rtl="0" fontAlgn="t"/>
            <a:r>
              <a:rPr lang="en-GB" sz="1200" b="0" i="0" u="none" strike="noStrike" kern="1200" dirty="0">
                <a:solidFill>
                  <a:schemeClr val="tx1"/>
                </a:solidFill>
                <a:effectLst/>
                <a:latin typeface="+mn-lt"/>
                <a:ea typeface="+mn-ea"/>
                <a:cs typeface="+mn-cs"/>
              </a:rPr>
              <a:t>Consider loading dose i.e. 1 drop every 15mins for 1</a:t>
            </a:r>
            <a:r>
              <a:rPr lang="en-GB" sz="1200" b="0" i="0" u="none" strike="noStrike" kern="1200" baseline="30000" dirty="0">
                <a:solidFill>
                  <a:schemeClr val="tx1"/>
                </a:solidFill>
                <a:effectLst/>
                <a:latin typeface="+mn-lt"/>
                <a:ea typeface="+mn-ea"/>
                <a:cs typeface="+mn-cs"/>
              </a:rPr>
              <a:t>st</a:t>
            </a:r>
            <a:r>
              <a:rPr lang="en-GB" sz="1200" b="0" i="0" u="none" strike="noStrike" kern="1200" dirty="0">
                <a:solidFill>
                  <a:schemeClr val="tx1"/>
                </a:solidFill>
                <a:effectLst/>
                <a:latin typeface="+mn-lt"/>
                <a:ea typeface="+mn-ea"/>
                <a:cs typeface="+mn-cs"/>
              </a:rPr>
              <a:t> hour OR 1 drop every 30mins for 1</a:t>
            </a:r>
            <a:r>
              <a:rPr lang="en-GB" sz="1200" b="0" i="0" u="none" strike="noStrike" kern="1200" baseline="30000" dirty="0">
                <a:solidFill>
                  <a:schemeClr val="tx1"/>
                </a:solidFill>
                <a:effectLst/>
                <a:latin typeface="+mn-lt"/>
                <a:ea typeface="+mn-ea"/>
                <a:cs typeface="+mn-cs"/>
              </a:rPr>
              <a:t>st</a:t>
            </a:r>
            <a:r>
              <a:rPr lang="en-GB" sz="1200" b="0" i="0" u="none" strike="noStrike" kern="1200" dirty="0">
                <a:solidFill>
                  <a:schemeClr val="tx1"/>
                </a:solidFill>
                <a:effectLst/>
                <a:latin typeface="+mn-lt"/>
                <a:ea typeface="+mn-ea"/>
                <a:cs typeface="+mn-cs"/>
              </a:rPr>
              <a:t> 2 hours (</a:t>
            </a:r>
            <a:r>
              <a:rPr lang="en-GB" sz="1200" b="0" i="0" kern="1200" dirty="0" err="1">
                <a:solidFill>
                  <a:schemeClr val="tx1"/>
                </a:solidFill>
                <a:effectLst/>
                <a:latin typeface="+mn-lt"/>
                <a:ea typeface="+mn-ea"/>
                <a:cs typeface="+mn-cs"/>
              </a:rPr>
              <a:t>Nussenblatt</a:t>
            </a:r>
            <a:r>
              <a:rPr lang="en-GB" sz="1200" b="0" i="0" kern="1200" dirty="0">
                <a:solidFill>
                  <a:schemeClr val="tx1"/>
                </a:solidFill>
                <a:effectLst/>
                <a:latin typeface="+mn-lt"/>
                <a:ea typeface="+mn-ea"/>
                <a:cs typeface="+mn-cs"/>
              </a:rPr>
              <a:t> RB, </a:t>
            </a:r>
            <a:r>
              <a:rPr lang="en-GB" sz="1200" b="0" i="0" kern="1200" dirty="0" err="1">
                <a:solidFill>
                  <a:schemeClr val="tx1"/>
                </a:solidFill>
                <a:effectLst/>
                <a:latin typeface="+mn-lt"/>
                <a:ea typeface="+mn-ea"/>
                <a:cs typeface="+mn-cs"/>
              </a:rPr>
              <a:t>Whitcup</a:t>
            </a:r>
            <a:r>
              <a:rPr lang="en-GB" sz="1200" b="0" i="0" kern="1200" dirty="0">
                <a:solidFill>
                  <a:schemeClr val="tx1"/>
                </a:solidFill>
                <a:effectLst/>
                <a:latin typeface="+mn-lt"/>
                <a:ea typeface="+mn-ea"/>
                <a:cs typeface="+mn-cs"/>
              </a:rPr>
              <a:t> SM. Uveitis; Fundamentals and Clinical Practice, 3rded. Philadelphia: Mosby, 2004)</a:t>
            </a:r>
          </a:p>
          <a:p>
            <a:pPr rtl="0" fontAlgn="t"/>
            <a:r>
              <a:rPr lang="en-GB" sz="1200" b="0" i="0" kern="1200" dirty="0">
                <a:solidFill>
                  <a:schemeClr val="tx1"/>
                </a:solidFill>
                <a:effectLst/>
                <a:latin typeface="+mn-lt"/>
                <a:ea typeface="+mn-ea"/>
                <a:cs typeface="+mn-cs"/>
              </a:rPr>
              <a:t>	</a:t>
            </a:r>
            <a:r>
              <a:rPr lang="en-GB" sz="1200" b="1" i="0" kern="1200" dirty="0">
                <a:solidFill>
                  <a:schemeClr val="tx1"/>
                </a:solidFill>
                <a:effectLst/>
                <a:latin typeface="+mn-lt"/>
                <a:ea typeface="+mn-ea"/>
                <a:cs typeface="+mn-cs"/>
              </a:rPr>
              <a:t>What is the mechanism of action of steroid? </a:t>
            </a:r>
            <a:endParaRPr lang="en-GB" sz="1200" b="0" i="0" kern="1200" dirty="0">
              <a:solidFill>
                <a:schemeClr val="tx1"/>
              </a:solidFill>
              <a:effectLst/>
              <a:latin typeface="+mn-lt"/>
              <a:ea typeface="+mn-ea"/>
              <a:cs typeface="+mn-cs"/>
            </a:endParaRPr>
          </a:p>
          <a:p>
            <a:pPr rtl="0" fontAlgn="t"/>
            <a:r>
              <a:rPr lang="en-GB" sz="1200" b="0" i="0" kern="1200" dirty="0">
                <a:solidFill>
                  <a:schemeClr val="tx1"/>
                </a:solidFill>
                <a:effectLst/>
                <a:latin typeface="+mn-lt"/>
                <a:ea typeface="+mn-ea"/>
                <a:cs typeface="+mn-cs"/>
              </a:rPr>
              <a:t>	Steroids inhibit phospholipases which convert cell membrane phospholipids to arachidonic acid</a:t>
            </a:r>
          </a:p>
          <a:p>
            <a:pPr rtl="0" fontAlgn="t"/>
            <a:r>
              <a:rPr lang="en-GB" sz="1200" b="1" i="0" kern="1200" dirty="0">
                <a:solidFill>
                  <a:schemeClr val="tx1"/>
                </a:solidFill>
                <a:effectLst/>
                <a:latin typeface="+mn-lt"/>
                <a:ea typeface="+mn-ea"/>
                <a:cs typeface="+mn-cs"/>
              </a:rPr>
              <a:t>	Why </a:t>
            </a:r>
            <a:r>
              <a:rPr lang="en-GB" sz="1200" b="1" i="0" kern="1200" dirty="0" err="1">
                <a:solidFill>
                  <a:schemeClr val="tx1"/>
                </a:solidFill>
                <a:effectLst/>
                <a:latin typeface="+mn-lt"/>
                <a:ea typeface="+mn-ea"/>
                <a:cs typeface="+mn-cs"/>
              </a:rPr>
              <a:t>pred</a:t>
            </a:r>
            <a:r>
              <a:rPr lang="en-GB" sz="1200" b="1" i="0" kern="1200" dirty="0">
                <a:solidFill>
                  <a:schemeClr val="tx1"/>
                </a:solidFill>
                <a:effectLst/>
                <a:latin typeface="+mn-lt"/>
                <a:ea typeface="+mn-ea"/>
                <a:cs typeface="+mn-cs"/>
              </a:rPr>
              <a:t> forte?</a:t>
            </a:r>
            <a:r>
              <a:rPr lang="en-GB" sz="1200" b="0" i="0" kern="1200" dirty="0">
                <a:solidFill>
                  <a:schemeClr val="tx1"/>
                </a:solidFill>
                <a:effectLst/>
                <a:latin typeface="+mn-lt"/>
                <a:ea typeface="+mn-ea"/>
                <a:cs typeface="+mn-cs"/>
              </a:rPr>
              <a:t> </a:t>
            </a:r>
          </a:p>
          <a:p>
            <a:pPr rtl="0" fontAlgn="t"/>
            <a:r>
              <a:rPr lang="en-GB" sz="1200" b="0" i="0" kern="1200" dirty="0">
                <a:solidFill>
                  <a:schemeClr val="tx1"/>
                </a:solidFill>
                <a:effectLst/>
                <a:latin typeface="+mn-lt"/>
                <a:ea typeface="+mn-ea"/>
                <a:cs typeface="+mn-cs"/>
              </a:rPr>
              <a:t>	Acetate form penetrates intact corneal epithelium and prednisolone acetate has greatest </a:t>
            </a:r>
            <a:r>
              <a:rPr lang="en-GB" sz="1200" b="0" i="0" kern="1200" dirty="0" err="1">
                <a:solidFill>
                  <a:schemeClr val="tx1"/>
                </a:solidFill>
                <a:effectLst/>
                <a:latin typeface="+mn-lt"/>
                <a:ea typeface="+mn-ea"/>
                <a:cs typeface="+mn-cs"/>
              </a:rPr>
              <a:t>antiinflamamtory</a:t>
            </a:r>
            <a:r>
              <a:rPr lang="en-GB" sz="1200" b="0" i="0" kern="1200" dirty="0">
                <a:solidFill>
                  <a:schemeClr val="tx1"/>
                </a:solidFill>
                <a:effectLst/>
                <a:latin typeface="+mn-lt"/>
                <a:ea typeface="+mn-ea"/>
                <a:cs typeface="+mn-cs"/>
              </a:rPr>
              <a:t> effect [Leibowitz HM. Management of inflammation in the cornea and conjunctiva. </a:t>
            </a:r>
            <a:r>
              <a:rPr lang="en-GB" sz="1200" b="0" i="1" kern="1200" dirty="0">
                <a:solidFill>
                  <a:schemeClr val="tx1"/>
                </a:solidFill>
                <a:effectLst/>
                <a:latin typeface="+mn-lt"/>
                <a:ea typeface="+mn-ea"/>
                <a:cs typeface="+mn-cs"/>
              </a:rPr>
              <a:t>Ophthalmology</a:t>
            </a:r>
            <a:r>
              <a:rPr lang="en-GB" sz="1200" b="0" i="0" kern="1200" dirty="0">
                <a:solidFill>
                  <a:schemeClr val="tx1"/>
                </a:solidFill>
                <a:effectLst/>
                <a:latin typeface="+mn-lt"/>
                <a:ea typeface="+mn-ea"/>
                <a:cs typeface="+mn-cs"/>
              </a:rPr>
              <a:t> 1980; </a:t>
            </a:r>
            <a:r>
              <a:rPr lang="en-GB" sz="1200" b="1" i="0" kern="1200" dirty="0">
                <a:solidFill>
                  <a:schemeClr val="tx1"/>
                </a:solidFill>
                <a:effectLst/>
                <a:latin typeface="+mn-lt"/>
                <a:ea typeface="+mn-ea"/>
                <a:cs typeface="+mn-cs"/>
              </a:rPr>
              <a:t>87</a:t>
            </a:r>
            <a:r>
              <a:rPr lang="en-GB" sz="1200" b="0" i="0" kern="1200" dirty="0">
                <a:solidFill>
                  <a:schemeClr val="tx1"/>
                </a:solidFill>
                <a:effectLst/>
                <a:latin typeface="+mn-lt"/>
                <a:ea typeface="+mn-ea"/>
                <a:cs typeface="+mn-cs"/>
              </a:rPr>
              <a:t>: 753–758.]</a:t>
            </a:r>
          </a:p>
          <a:p>
            <a:pPr rtl="0" fontAlgn="t"/>
            <a:r>
              <a:rPr lang="en-GB" sz="1200" b="0" i="0" kern="1200" dirty="0">
                <a:solidFill>
                  <a:schemeClr val="tx1"/>
                </a:solidFill>
                <a:effectLst/>
                <a:latin typeface="+mn-lt"/>
                <a:ea typeface="+mn-ea"/>
                <a:cs typeface="+mn-cs"/>
              </a:rPr>
              <a:t>	</a:t>
            </a:r>
            <a:r>
              <a:rPr lang="en-GB" sz="1200" b="1" i="0" kern="1200" dirty="0">
                <a:solidFill>
                  <a:schemeClr val="tx1"/>
                </a:solidFill>
                <a:effectLst/>
                <a:latin typeface="+mn-lt"/>
                <a:ea typeface="+mn-ea"/>
                <a:cs typeface="+mn-cs"/>
              </a:rPr>
              <a:t>Does dosage include night time hours?</a:t>
            </a:r>
            <a:r>
              <a:rPr lang="en-GB" sz="1200" b="0" i="0" kern="1200" dirty="0">
                <a:solidFill>
                  <a:schemeClr val="tx1"/>
                </a:solidFill>
                <a:effectLst/>
                <a:latin typeface="+mn-lt"/>
                <a:ea typeface="+mn-ea"/>
                <a:cs typeface="+mn-cs"/>
              </a:rPr>
              <a:t> In severe cases yes, otherwise an alternative is to double dose during waking hours</a:t>
            </a:r>
          </a:p>
          <a:p>
            <a:pPr rtl="0" fontAlgn="t"/>
            <a:r>
              <a:rPr lang="en-GB" sz="1200" b="0" i="0" kern="1200" dirty="0">
                <a:solidFill>
                  <a:schemeClr val="tx1"/>
                </a:solidFill>
                <a:effectLst/>
                <a:latin typeface="+mn-lt"/>
                <a:ea typeface="+mn-ea"/>
                <a:cs typeface="+mn-cs"/>
              </a:rPr>
              <a:t>	</a:t>
            </a:r>
            <a:r>
              <a:rPr lang="en-GB" sz="1200" b="1" i="0" kern="1200" dirty="0">
                <a:solidFill>
                  <a:schemeClr val="tx1"/>
                </a:solidFill>
                <a:effectLst/>
                <a:latin typeface="+mn-lt"/>
                <a:ea typeface="+mn-ea"/>
                <a:cs typeface="+mn-cs"/>
              </a:rPr>
              <a:t>What are some ocular side effects of steroids?</a:t>
            </a:r>
          </a:p>
          <a:p>
            <a:pPr marL="1600200" lvl="3" indent="-228600" rtl="0" fontAlgn="t">
              <a:buFont typeface="+mj-lt"/>
              <a:buAutoNum type="arabicPeriod"/>
            </a:pPr>
            <a:r>
              <a:rPr lang="en-GB" sz="1200" b="0" i="0" kern="1200" dirty="0">
                <a:solidFill>
                  <a:schemeClr val="tx1"/>
                </a:solidFill>
                <a:effectLst/>
                <a:latin typeface="+mn-lt"/>
                <a:ea typeface="+mn-ea"/>
                <a:cs typeface="+mn-cs"/>
              </a:rPr>
              <a:t>IOP response – elevation</a:t>
            </a:r>
          </a:p>
          <a:p>
            <a:pPr marL="1600200" lvl="3" indent="-228600" rtl="0" fontAlgn="t">
              <a:buFont typeface="+mj-lt"/>
              <a:buAutoNum type="arabicPeriod"/>
            </a:pPr>
            <a:r>
              <a:rPr lang="en-GB" sz="1200" b="0" i="0" kern="1200" dirty="0">
                <a:solidFill>
                  <a:schemeClr val="tx1"/>
                </a:solidFill>
                <a:effectLst/>
                <a:latin typeface="+mn-lt"/>
                <a:ea typeface="+mn-ea"/>
                <a:cs typeface="+mn-cs"/>
              </a:rPr>
              <a:t>Posterior subcapsular cataract</a:t>
            </a:r>
          </a:p>
          <a:p>
            <a:pPr marL="1600200" lvl="3" indent="-228600" rtl="0" fontAlgn="t">
              <a:buFont typeface="+mj-lt"/>
              <a:buAutoNum type="arabicPeriod"/>
            </a:pPr>
            <a:r>
              <a:rPr lang="en-GB" b="0" dirty="0">
                <a:effectLst/>
              </a:rPr>
              <a:t>Increased susceptibility to infection</a:t>
            </a:r>
          </a:p>
          <a:p>
            <a:pPr marL="1600200" lvl="3" indent="-228600" rtl="0" fontAlgn="t">
              <a:buFont typeface="+mj-lt"/>
              <a:buAutoNum type="arabicPeriod"/>
            </a:pPr>
            <a:r>
              <a:rPr lang="en-GB" b="0" dirty="0">
                <a:effectLst/>
              </a:rPr>
              <a:t>Corneal thinning</a:t>
            </a:r>
          </a:p>
          <a:p>
            <a:pPr marL="914400" lvl="2" indent="0" rtl="0" fontAlgn="t">
              <a:buFont typeface="+mj-lt"/>
              <a:buNone/>
            </a:pPr>
            <a:r>
              <a:rPr lang="en-GB" b="1" dirty="0">
                <a:effectLst/>
              </a:rPr>
              <a:t>What other options of therapy are there and would you consider these?</a:t>
            </a:r>
          </a:p>
          <a:p>
            <a:pPr marL="1371600" lvl="3" indent="0" rtl="0" fontAlgn="t">
              <a:buFont typeface="+mj-lt"/>
              <a:buNone/>
            </a:pPr>
            <a:r>
              <a:rPr lang="en-GB" b="0" dirty="0">
                <a:effectLst/>
              </a:rPr>
              <a:t>NSAIDs have theoretical advantages which act on the cyclooxygenase pathway (COX). However, generally believed that NSAIDs have inadequate anti-inflammatory effect in AAU but could be considered if contraindications to topical steroids. Study comparing dexamethasone and indomethacin used 6x/day for AAU showed significantly less inflammation in steroid group after 7 days of </a:t>
            </a:r>
            <a:r>
              <a:rPr lang="en-GB" b="0" dirty="0" err="1">
                <a:effectLst/>
              </a:rPr>
              <a:t>tx</a:t>
            </a:r>
            <a:r>
              <a:rPr lang="en-GB" b="0" dirty="0">
                <a:effectLst/>
              </a:rPr>
              <a:t> [</a:t>
            </a:r>
            <a:r>
              <a:rPr lang="en-GB" sz="1200" b="0" i="0" kern="1200" dirty="0">
                <a:solidFill>
                  <a:schemeClr val="tx1"/>
                </a:solidFill>
                <a:effectLst/>
                <a:latin typeface="+mn-lt"/>
                <a:ea typeface="+mn-ea"/>
                <a:cs typeface="+mn-cs"/>
              </a:rPr>
              <a:t/>
            </a:r>
            <a:br>
              <a:rPr lang="en-GB" sz="1200" b="0" i="0" kern="1200" dirty="0">
                <a:solidFill>
                  <a:schemeClr val="tx1"/>
                </a:solidFill>
                <a:effectLst/>
                <a:latin typeface="+mn-lt"/>
                <a:ea typeface="+mn-ea"/>
                <a:cs typeface="+mn-cs"/>
              </a:rPr>
            </a:br>
            <a:r>
              <a:rPr lang="en-GB" sz="1200" b="0" i="0" kern="1200" dirty="0">
                <a:solidFill>
                  <a:schemeClr val="tx1"/>
                </a:solidFill>
                <a:effectLst/>
                <a:latin typeface="+mn-lt"/>
                <a:ea typeface="+mn-ea"/>
                <a:cs typeface="+mn-cs"/>
              </a:rPr>
              <a:t>Sand BB, Krogh E. Topical indomethacin, a prostaglandin inhibitor, in acute anterior uveitis. A controlled clinical trial of non-steroidal versus steroid anti-inflammatory treatment. </a:t>
            </a:r>
            <a:r>
              <a:rPr lang="en-GB" sz="1200" b="0" i="1" kern="1200" dirty="0">
                <a:solidFill>
                  <a:schemeClr val="tx1"/>
                </a:solidFill>
                <a:effectLst/>
                <a:latin typeface="+mn-lt"/>
                <a:ea typeface="+mn-ea"/>
                <a:cs typeface="+mn-cs"/>
              </a:rPr>
              <a:t>Acta </a:t>
            </a:r>
            <a:r>
              <a:rPr lang="en-GB" sz="1200" b="0" i="1" kern="1200" dirty="0" err="1">
                <a:solidFill>
                  <a:schemeClr val="tx1"/>
                </a:solidFill>
                <a:effectLst/>
                <a:latin typeface="+mn-lt"/>
                <a:ea typeface="+mn-ea"/>
                <a:cs typeface="+mn-cs"/>
              </a:rPr>
              <a:t>Ophthalmol</a:t>
            </a:r>
            <a:r>
              <a:rPr lang="en-GB" sz="1200" b="0" i="0" kern="1200" dirty="0">
                <a:solidFill>
                  <a:schemeClr val="tx1"/>
                </a:solidFill>
                <a:effectLst/>
                <a:latin typeface="+mn-lt"/>
                <a:ea typeface="+mn-ea"/>
                <a:cs typeface="+mn-cs"/>
              </a:rPr>
              <a:t> 1991; </a:t>
            </a:r>
            <a:r>
              <a:rPr lang="en-GB" sz="1200" b="1" i="0" kern="1200" dirty="0">
                <a:solidFill>
                  <a:schemeClr val="tx1"/>
                </a:solidFill>
                <a:effectLst/>
                <a:latin typeface="+mn-lt"/>
                <a:ea typeface="+mn-ea"/>
                <a:cs typeface="+mn-cs"/>
              </a:rPr>
              <a:t>6</a:t>
            </a:r>
            <a:r>
              <a:rPr lang="en-GB" sz="1200" b="0" i="0" kern="1200" dirty="0">
                <a:solidFill>
                  <a:schemeClr val="tx1"/>
                </a:solidFill>
                <a:effectLst/>
                <a:latin typeface="+mn-lt"/>
                <a:ea typeface="+mn-ea"/>
                <a:cs typeface="+mn-cs"/>
              </a:rPr>
              <a:t>: 145–148.]</a:t>
            </a:r>
            <a:r>
              <a:rPr lang="en-GB" b="0" dirty="0">
                <a:effectLst/>
              </a:rPr>
              <a:t> </a:t>
            </a:r>
          </a:p>
          <a:p>
            <a:pPr rtl="0" fontAlgn="t"/>
            <a:r>
              <a:rPr lang="en-GB" sz="1200" b="1" i="0" u="sng" strike="noStrike" kern="1200" dirty="0">
                <a:solidFill>
                  <a:schemeClr val="tx1"/>
                </a:solidFill>
                <a:effectLst/>
                <a:latin typeface="+mn-lt"/>
                <a:ea typeface="+mn-ea"/>
                <a:cs typeface="+mn-cs"/>
              </a:rPr>
              <a:t>Cycloplegics</a:t>
            </a:r>
            <a:endParaRPr lang="en-GB" b="0" u="sng" dirty="0">
              <a:effectLst/>
            </a:endParaRPr>
          </a:p>
          <a:p>
            <a:pPr rtl="0" fontAlgn="t"/>
            <a:r>
              <a:rPr lang="en-GB" sz="1200" b="0" i="0" u="none" strike="noStrike" kern="1200" dirty="0">
                <a:solidFill>
                  <a:schemeClr val="tx1"/>
                </a:solidFill>
                <a:effectLst/>
                <a:latin typeface="+mn-lt"/>
                <a:ea typeface="+mn-ea"/>
                <a:cs typeface="+mn-cs"/>
              </a:rPr>
              <a:t>Homatropine 2%, 3x a day OR atropine 1% 3x a day</a:t>
            </a:r>
          </a:p>
          <a:p>
            <a:pPr rtl="0" fontAlgn="t"/>
            <a:r>
              <a:rPr lang="en-GB" sz="1200" b="1" i="0" u="none" strike="noStrike" kern="1200" dirty="0">
                <a:solidFill>
                  <a:schemeClr val="tx1"/>
                </a:solidFill>
                <a:effectLst/>
                <a:latin typeface="+mn-lt"/>
                <a:ea typeface="+mn-ea"/>
                <a:cs typeface="+mn-cs"/>
              </a:rPr>
              <a:t>	What about cyclopentolate?</a:t>
            </a:r>
            <a:r>
              <a:rPr lang="en-GB" sz="1200" b="0" i="0" u="none" strike="noStrike" kern="1200" dirty="0">
                <a:solidFill>
                  <a:schemeClr val="tx1"/>
                </a:solidFill>
                <a:effectLst/>
                <a:latin typeface="+mn-lt"/>
                <a:ea typeface="+mn-ea"/>
                <a:cs typeface="+mn-cs"/>
              </a:rPr>
              <a:t>- </a:t>
            </a:r>
            <a:r>
              <a:rPr lang="en-GB" sz="1200" b="0" i="0" kern="1200" dirty="0">
                <a:solidFill>
                  <a:schemeClr val="tx1"/>
                </a:solidFill>
                <a:effectLst/>
                <a:latin typeface="+mn-lt"/>
                <a:ea typeface="+mn-ea"/>
                <a:cs typeface="+mn-cs"/>
              </a:rPr>
              <a:t>Cyclopentolate may act as a chemo-attractant for leukocytes and should be avoided in the presence of inflammation </a:t>
            </a:r>
            <a:r>
              <a:rPr lang="en-GB" sz="1200" b="0" i="0" u="none" strike="noStrike" kern="1200" dirty="0">
                <a:solidFill>
                  <a:schemeClr val="tx1"/>
                </a:solidFill>
                <a:effectLst/>
                <a:latin typeface="+mn-lt"/>
                <a:ea typeface="+mn-ea"/>
                <a:cs typeface="+mn-cs"/>
              </a:rPr>
              <a:t>(</a:t>
            </a:r>
            <a:r>
              <a:rPr lang="en-GB" sz="1200" b="0" i="0" kern="1200" dirty="0" err="1">
                <a:solidFill>
                  <a:schemeClr val="tx1"/>
                </a:solidFill>
                <a:effectLst/>
                <a:latin typeface="+mn-lt"/>
                <a:ea typeface="+mn-ea"/>
                <a:cs typeface="+mn-cs"/>
              </a:rPr>
              <a:t>Nussenblatt</a:t>
            </a:r>
            <a:r>
              <a:rPr lang="en-GB" sz="1200" b="0" i="0" kern="1200" dirty="0">
                <a:solidFill>
                  <a:schemeClr val="tx1"/>
                </a:solidFill>
                <a:effectLst/>
                <a:latin typeface="+mn-lt"/>
                <a:ea typeface="+mn-ea"/>
                <a:cs typeface="+mn-cs"/>
              </a:rPr>
              <a:t> RB, </a:t>
            </a:r>
            <a:r>
              <a:rPr lang="en-GB" sz="1200" b="0" i="0" kern="1200" dirty="0" err="1">
                <a:solidFill>
                  <a:schemeClr val="tx1"/>
                </a:solidFill>
                <a:effectLst/>
                <a:latin typeface="+mn-lt"/>
                <a:ea typeface="+mn-ea"/>
                <a:cs typeface="+mn-cs"/>
              </a:rPr>
              <a:t>Whitcup</a:t>
            </a:r>
            <a:r>
              <a:rPr lang="en-GB" sz="1200" b="0" i="0" kern="1200" dirty="0">
                <a:solidFill>
                  <a:schemeClr val="tx1"/>
                </a:solidFill>
                <a:effectLst/>
                <a:latin typeface="+mn-lt"/>
                <a:ea typeface="+mn-ea"/>
                <a:cs typeface="+mn-cs"/>
              </a:rPr>
              <a:t> SM. Uveitis; Fundamentals and Clinical Practice, 3rded. Philadelphia: Mosby, 2004)</a:t>
            </a:r>
          </a:p>
          <a:p>
            <a:pPr rtl="0" fontAlgn="t"/>
            <a:r>
              <a:rPr lang="en-GB" sz="1200" b="1" i="0" kern="1200" dirty="0">
                <a:solidFill>
                  <a:schemeClr val="tx1"/>
                </a:solidFill>
                <a:effectLst/>
                <a:latin typeface="+mn-lt"/>
                <a:ea typeface="+mn-ea"/>
                <a:cs typeface="+mn-cs"/>
              </a:rPr>
              <a:t>	What about tropicamide?</a:t>
            </a:r>
            <a:r>
              <a:rPr lang="en-GB" sz="1200" b="0" i="0" kern="1200" dirty="0">
                <a:solidFill>
                  <a:schemeClr val="tx1"/>
                </a:solidFill>
                <a:effectLst/>
                <a:latin typeface="+mn-lt"/>
                <a:ea typeface="+mn-ea"/>
                <a:cs typeface="+mn-cs"/>
              </a:rPr>
              <a:t> - In patients with mild inflammation and no </a:t>
            </a:r>
            <a:r>
              <a:rPr lang="en-GB" sz="1200" b="0" i="0" kern="1200" dirty="0" err="1">
                <a:solidFill>
                  <a:schemeClr val="tx1"/>
                </a:solidFill>
                <a:effectLst/>
                <a:latin typeface="+mn-lt"/>
                <a:ea typeface="+mn-ea"/>
                <a:cs typeface="+mn-cs"/>
              </a:rPr>
              <a:t>synechiae</a:t>
            </a:r>
            <a:r>
              <a:rPr lang="en-GB" sz="1200" b="0" i="0" kern="1200" dirty="0">
                <a:solidFill>
                  <a:schemeClr val="tx1"/>
                </a:solidFill>
                <a:effectLst/>
                <a:latin typeface="+mn-lt"/>
                <a:ea typeface="+mn-ea"/>
                <a:cs typeface="+mn-cs"/>
              </a:rPr>
              <a:t> at initial presentation, some clinicians argue that tropicamide can be effective by permitting enough iris movement to prevent the formation of new </a:t>
            </a:r>
            <a:r>
              <a:rPr lang="en-GB" sz="1200" b="0" i="0" kern="1200" dirty="0" err="1">
                <a:solidFill>
                  <a:schemeClr val="tx1"/>
                </a:solidFill>
                <a:effectLst/>
                <a:latin typeface="+mn-lt"/>
                <a:ea typeface="+mn-ea"/>
                <a:cs typeface="+mn-cs"/>
              </a:rPr>
              <a:t>synechiae</a:t>
            </a:r>
            <a:r>
              <a:rPr lang="en-GB" sz="1200" b="0" i="0" kern="1200" dirty="0">
                <a:solidFill>
                  <a:schemeClr val="tx1"/>
                </a:solidFill>
                <a:effectLst/>
                <a:latin typeface="+mn-lt"/>
                <a:ea typeface="+mn-ea"/>
                <a:cs typeface="+mn-cs"/>
              </a:rPr>
              <a:t> </a:t>
            </a:r>
            <a:r>
              <a:rPr lang="en-GB" sz="1200" b="0" i="0" u="none" strike="noStrike" kern="1200" dirty="0">
                <a:solidFill>
                  <a:schemeClr val="tx1"/>
                </a:solidFill>
                <a:effectLst/>
                <a:latin typeface="+mn-lt"/>
                <a:ea typeface="+mn-ea"/>
                <a:cs typeface="+mn-cs"/>
              </a:rPr>
              <a:t>(</a:t>
            </a:r>
            <a:r>
              <a:rPr lang="en-GB" sz="1200" b="0" i="0" kern="1200" dirty="0" err="1">
                <a:solidFill>
                  <a:schemeClr val="tx1"/>
                </a:solidFill>
                <a:effectLst/>
                <a:latin typeface="+mn-lt"/>
                <a:ea typeface="+mn-ea"/>
                <a:cs typeface="+mn-cs"/>
              </a:rPr>
              <a:t>Nussenblatt</a:t>
            </a:r>
            <a:r>
              <a:rPr lang="en-GB" sz="1200" b="0" i="0" kern="1200" dirty="0">
                <a:solidFill>
                  <a:schemeClr val="tx1"/>
                </a:solidFill>
                <a:effectLst/>
                <a:latin typeface="+mn-lt"/>
                <a:ea typeface="+mn-ea"/>
                <a:cs typeface="+mn-cs"/>
              </a:rPr>
              <a:t> RB, </a:t>
            </a:r>
            <a:r>
              <a:rPr lang="en-GB" sz="1200" b="0" i="0" kern="1200" dirty="0" err="1">
                <a:solidFill>
                  <a:schemeClr val="tx1"/>
                </a:solidFill>
                <a:effectLst/>
                <a:latin typeface="+mn-lt"/>
                <a:ea typeface="+mn-ea"/>
                <a:cs typeface="+mn-cs"/>
              </a:rPr>
              <a:t>Whitcup</a:t>
            </a:r>
            <a:r>
              <a:rPr lang="en-GB" sz="1200" b="0" i="0" kern="1200" dirty="0">
                <a:solidFill>
                  <a:schemeClr val="tx1"/>
                </a:solidFill>
                <a:effectLst/>
                <a:latin typeface="+mn-lt"/>
                <a:ea typeface="+mn-ea"/>
                <a:cs typeface="+mn-cs"/>
              </a:rPr>
              <a:t> SM. Uveitis; Fundamentals and Clinical Practice, 3rded. Philadelphia: Mosby, 2004)</a:t>
            </a:r>
            <a:endParaRPr lang="en-GB" b="0" dirty="0">
              <a:effectLst/>
            </a:endParaRPr>
          </a:p>
          <a:p>
            <a:pPr rtl="0" fontAlgn="t"/>
            <a:endParaRPr lang="en-GB" sz="1200" b="1" i="0" u="none" strike="noStrike" kern="1200" dirty="0">
              <a:solidFill>
                <a:schemeClr val="tx1"/>
              </a:solidFill>
              <a:effectLst/>
              <a:latin typeface="+mn-lt"/>
              <a:ea typeface="+mn-ea"/>
              <a:cs typeface="+mn-cs"/>
            </a:endParaRPr>
          </a:p>
          <a:p>
            <a:pPr rtl="0" fontAlgn="t"/>
            <a:r>
              <a:rPr lang="en-GB" sz="1200" b="1" i="0" u="sng" strike="noStrike" kern="1200" dirty="0">
                <a:solidFill>
                  <a:schemeClr val="tx1"/>
                </a:solidFill>
                <a:effectLst/>
                <a:latin typeface="+mn-lt"/>
                <a:ea typeface="+mn-ea"/>
                <a:cs typeface="+mn-cs"/>
              </a:rPr>
              <a:t>Posterior </a:t>
            </a:r>
            <a:r>
              <a:rPr lang="en-GB" sz="1200" b="1" i="0" u="sng" strike="noStrike" kern="1200" dirty="0" err="1">
                <a:solidFill>
                  <a:schemeClr val="tx1"/>
                </a:solidFill>
                <a:effectLst/>
                <a:latin typeface="+mn-lt"/>
                <a:ea typeface="+mn-ea"/>
                <a:cs typeface="+mn-cs"/>
              </a:rPr>
              <a:t>synechiae</a:t>
            </a:r>
            <a:endParaRPr lang="en-GB" b="0" u="sng" dirty="0">
              <a:effectLst/>
            </a:endParaRPr>
          </a:p>
          <a:p>
            <a:pPr rtl="0" fontAlgn="t"/>
            <a:r>
              <a:rPr lang="en-GB" sz="1200" b="0" i="0" u="none" strike="noStrike" kern="1200" dirty="0">
                <a:solidFill>
                  <a:schemeClr val="tx1"/>
                </a:solidFill>
                <a:effectLst/>
                <a:latin typeface="+mn-lt"/>
                <a:ea typeface="+mn-ea"/>
                <a:cs typeface="+mn-cs"/>
              </a:rPr>
              <a:t>If persistent</a:t>
            </a:r>
            <a:endParaRPr lang="en-GB" b="0" dirty="0">
              <a:effectLst/>
            </a:endParaRPr>
          </a:p>
          <a:p>
            <a:pPr rtl="0" fontAlgn="t"/>
            <a:r>
              <a:rPr lang="en-GB" sz="1200" b="0" i="0" u="none" strike="noStrike" kern="1200" dirty="0">
                <a:solidFill>
                  <a:schemeClr val="tx1"/>
                </a:solidFill>
                <a:effectLst/>
                <a:latin typeface="+mn-lt"/>
                <a:ea typeface="+mn-ea"/>
                <a:cs typeface="+mn-cs"/>
              </a:rPr>
              <a:t>2% homatropine &gt; 1% atropine &gt; 2.5% phenylephrine &gt; 10% phenylephrine &gt; </a:t>
            </a:r>
            <a:r>
              <a:rPr lang="en-GB" sz="1200" b="0" i="0" u="none" strike="noStrike" kern="1200" dirty="0" err="1">
                <a:solidFill>
                  <a:schemeClr val="tx1"/>
                </a:solidFill>
                <a:effectLst/>
                <a:latin typeface="+mn-lt"/>
                <a:ea typeface="+mn-ea"/>
                <a:cs typeface="+mn-cs"/>
              </a:rPr>
              <a:t>pledget</a:t>
            </a:r>
            <a:endParaRPr lang="en-GB" b="0" dirty="0">
              <a:effectLst/>
            </a:endParaRPr>
          </a:p>
          <a:p>
            <a:endParaRPr lang="en-GB" dirty="0"/>
          </a:p>
          <a:p>
            <a:r>
              <a:rPr lang="en-GB" dirty="0"/>
              <a:t>REM: Shake bottle (suspension) and allow sufficient time between diff drops, review 24hrs and then depending on clinician experience either daily or every 2-3 days until 2 step improvement in severity (i.e. G2 – G0 or G3 – G1 cells) then begin taper of steroids (SUN)</a:t>
            </a:r>
          </a:p>
          <a:p>
            <a:endParaRPr lang="en-GB" b="1" dirty="0"/>
          </a:p>
          <a:p>
            <a:r>
              <a:rPr lang="en-GB" b="1" dirty="0"/>
              <a:t>Why do we need to taper?</a:t>
            </a:r>
            <a:r>
              <a:rPr lang="en-GB" b="0" dirty="0"/>
              <a:t> </a:t>
            </a:r>
            <a:endParaRPr lang="en-GB" b="1" dirty="0"/>
          </a:p>
          <a:p>
            <a:r>
              <a:rPr lang="en-GB" b="1" dirty="0"/>
              <a:t>	</a:t>
            </a:r>
            <a:r>
              <a:rPr lang="en-GB" b="0" dirty="0"/>
              <a:t>To prevent rebound inflammation </a:t>
            </a:r>
            <a:endParaRPr lang="en-GB" b="1" dirty="0"/>
          </a:p>
          <a:p>
            <a:r>
              <a:rPr lang="en-GB" b="1" dirty="0"/>
              <a:t>What is typical tapering schedule like?</a:t>
            </a:r>
          </a:p>
          <a:p>
            <a:r>
              <a:rPr lang="en-GB" b="0" dirty="0"/>
              <a:t>	Most cases will require about 6 – 8 weeks of treatment (taper to 0 by this time). i.e. Week 1 q1h, Week 2 q2h, Week 3 </a:t>
            </a:r>
            <a:r>
              <a:rPr lang="en-GB" b="0" dirty="0" err="1"/>
              <a:t>qid</a:t>
            </a:r>
            <a:r>
              <a:rPr lang="en-GB" b="0" dirty="0"/>
              <a:t>, Week 4 </a:t>
            </a:r>
            <a:r>
              <a:rPr lang="en-GB" b="0" dirty="0" err="1"/>
              <a:t>tid</a:t>
            </a:r>
            <a:r>
              <a:rPr lang="en-GB" b="0" dirty="0"/>
              <a:t> Week 5 bid Week 6 </a:t>
            </a:r>
            <a:r>
              <a:rPr lang="en-GB" b="0" dirty="0" err="1"/>
              <a:t>qd</a:t>
            </a:r>
            <a:r>
              <a:rPr lang="en-GB" b="0" dirty="0"/>
              <a:t> </a:t>
            </a:r>
          </a:p>
          <a:p>
            <a:endParaRPr lang="en-GB" dirty="0"/>
          </a:p>
          <a:p>
            <a:r>
              <a:rPr lang="en-GB" b="1" dirty="0"/>
              <a:t>If steroid response?</a:t>
            </a:r>
          </a:p>
          <a:p>
            <a:r>
              <a:rPr lang="en-GB" sz="1200" b="0" i="0" kern="1200" dirty="0">
                <a:solidFill>
                  <a:schemeClr val="tx1"/>
                </a:solidFill>
                <a:effectLst/>
                <a:latin typeface="+mn-lt"/>
                <a:ea typeface="+mn-ea"/>
                <a:cs typeface="+mn-cs"/>
              </a:rPr>
              <a:t>	Therapy should target aqueous production because aqueous outflow is likely to be compromised. Topical beta antagonists are the first choice [Moorthy RS, </a:t>
            </a:r>
            <a:r>
              <a:rPr lang="en-GB" sz="1200" b="0" i="0" kern="1200" dirty="0" err="1">
                <a:solidFill>
                  <a:schemeClr val="tx1"/>
                </a:solidFill>
                <a:effectLst/>
                <a:latin typeface="+mn-lt"/>
                <a:ea typeface="+mn-ea"/>
                <a:cs typeface="+mn-cs"/>
              </a:rPr>
              <a:t>Mermoud</a:t>
            </a:r>
            <a:r>
              <a:rPr lang="en-GB" sz="1200" b="0" i="0" kern="1200" dirty="0">
                <a:solidFill>
                  <a:schemeClr val="tx1"/>
                </a:solidFill>
                <a:effectLst/>
                <a:latin typeface="+mn-lt"/>
                <a:ea typeface="+mn-ea"/>
                <a:cs typeface="+mn-cs"/>
              </a:rPr>
              <a:t> A, </a:t>
            </a:r>
            <a:r>
              <a:rPr lang="en-GB" sz="1200" b="0" i="0" kern="1200" dirty="0" err="1">
                <a:solidFill>
                  <a:schemeClr val="tx1"/>
                </a:solidFill>
                <a:effectLst/>
                <a:latin typeface="+mn-lt"/>
                <a:ea typeface="+mn-ea"/>
                <a:cs typeface="+mn-cs"/>
              </a:rPr>
              <a:t>Baerveldt</a:t>
            </a:r>
            <a:r>
              <a:rPr lang="en-GB" sz="1200" b="0" i="0" kern="1200" dirty="0">
                <a:solidFill>
                  <a:schemeClr val="tx1"/>
                </a:solidFill>
                <a:effectLst/>
                <a:latin typeface="+mn-lt"/>
                <a:ea typeface="+mn-ea"/>
                <a:cs typeface="+mn-cs"/>
              </a:rPr>
              <a:t> G, </a:t>
            </a:r>
            <a:r>
              <a:rPr lang="en-GB" sz="1200" b="0" i="0" kern="1200" dirty="0" err="1">
                <a:solidFill>
                  <a:schemeClr val="tx1"/>
                </a:solidFill>
                <a:effectLst/>
                <a:latin typeface="+mn-lt"/>
                <a:ea typeface="+mn-ea"/>
                <a:cs typeface="+mn-cs"/>
              </a:rPr>
              <a:t>Minckler</a:t>
            </a:r>
            <a:r>
              <a:rPr lang="en-GB" sz="1200" b="0" i="0" kern="1200" dirty="0">
                <a:solidFill>
                  <a:schemeClr val="tx1"/>
                </a:solidFill>
                <a:effectLst/>
                <a:latin typeface="+mn-lt"/>
                <a:ea typeface="+mn-ea"/>
                <a:cs typeface="+mn-cs"/>
              </a:rPr>
              <a:t> DS, Lee PP, Rao NA. Glaucoma associated with uveitis. </a:t>
            </a:r>
            <a:r>
              <a:rPr lang="en-GB" sz="1200" b="0" i="1" kern="1200" dirty="0" err="1">
                <a:solidFill>
                  <a:schemeClr val="tx1"/>
                </a:solidFill>
                <a:effectLst/>
                <a:latin typeface="+mn-lt"/>
                <a:ea typeface="+mn-ea"/>
                <a:cs typeface="+mn-cs"/>
              </a:rPr>
              <a:t>Surv</a:t>
            </a:r>
            <a:r>
              <a:rPr lang="en-GB" sz="1200" b="0" i="1" kern="1200" dirty="0">
                <a:solidFill>
                  <a:schemeClr val="tx1"/>
                </a:solidFill>
                <a:effectLst/>
                <a:latin typeface="+mn-lt"/>
                <a:ea typeface="+mn-ea"/>
                <a:cs typeface="+mn-cs"/>
              </a:rPr>
              <a:t> </a:t>
            </a:r>
            <a:r>
              <a:rPr lang="en-GB" sz="1200" b="0" i="1" kern="1200" dirty="0" err="1">
                <a:solidFill>
                  <a:schemeClr val="tx1"/>
                </a:solidFill>
                <a:effectLst/>
                <a:latin typeface="+mn-lt"/>
                <a:ea typeface="+mn-ea"/>
                <a:cs typeface="+mn-cs"/>
              </a:rPr>
              <a:t>Ophthalmol</a:t>
            </a:r>
            <a:r>
              <a:rPr lang="en-GB" sz="1200" b="0" i="0" kern="1200" dirty="0">
                <a:solidFill>
                  <a:schemeClr val="tx1"/>
                </a:solidFill>
                <a:effectLst/>
                <a:latin typeface="+mn-lt"/>
                <a:ea typeface="+mn-ea"/>
                <a:cs typeface="+mn-cs"/>
              </a:rPr>
              <a:t> 1997; </a:t>
            </a:r>
            <a:r>
              <a:rPr lang="en-GB" sz="1200" b="1" i="0" kern="1200" dirty="0">
                <a:solidFill>
                  <a:schemeClr val="tx1"/>
                </a:solidFill>
                <a:effectLst/>
                <a:latin typeface="+mn-lt"/>
                <a:ea typeface="+mn-ea"/>
                <a:cs typeface="+mn-cs"/>
              </a:rPr>
              <a:t>41</a:t>
            </a:r>
            <a:r>
              <a:rPr lang="en-GB" sz="1200" b="0" i="0" kern="1200" dirty="0">
                <a:solidFill>
                  <a:schemeClr val="tx1"/>
                </a:solidFill>
                <a:effectLst/>
                <a:latin typeface="+mn-lt"/>
                <a:ea typeface="+mn-ea"/>
                <a:cs typeface="+mn-cs"/>
              </a:rPr>
              <a:t>: 361–394.]</a:t>
            </a:r>
          </a:p>
          <a:p>
            <a:endParaRPr lang="en-GB" sz="1200" b="0" i="0" kern="1200" dirty="0">
              <a:solidFill>
                <a:schemeClr val="tx1"/>
              </a:solidFill>
              <a:effectLst/>
              <a:latin typeface="+mn-lt"/>
              <a:ea typeface="+mn-ea"/>
              <a:cs typeface="+mn-cs"/>
            </a:endParaRPr>
          </a:p>
          <a:p>
            <a:r>
              <a:rPr lang="en-GB" sz="1200" b="1" i="0" kern="1200" dirty="0">
                <a:solidFill>
                  <a:schemeClr val="tx1"/>
                </a:solidFill>
                <a:effectLst/>
                <a:latin typeface="+mn-lt"/>
                <a:ea typeface="+mn-ea"/>
                <a:cs typeface="+mn-cs"/>
              </a:rPr>
              <a:t>What are some common blood tests used to help localise </a:t>
            </a:r>
            <a:r>
              <a:rPr lang="en-GB" sz="1200" b="1" i="0" kern="1200" dirty="0" err="1">
                <a:solidFill>
                  <a:schemeClr val="tx1"/>
                </a:solidFill>
                <a:effectLst/>
                <a:latin typeface="+mn-lt"/>
                <a:ea typeface="+mn-ea"/>
                <a:cs typeface="+mn-cs"/>
              </a:rPr>
              <a:t>etiology</a:t>
            </a:r>
            <a:r>
              <a:rPr lang="en-GB" sz="1200" b="1" i="0" kern="1200" dirty="0">
                <a:solidFill>
                  <a:schemeClr val="tx1"/>
                </a:solidFill>
                <a:effectLst/>
                <a:latin typeface="+mn-lt"/>
                <a:ea typeface="+mn-ea"/>
                <a:cs typeface="+mn-cs"/>
              </a:rPr>
              <a:t> of uveitis?</a:t>
            </a:r>
          </a:p>
          <a:p>
            <a:pPr marL="628650" lvl="1" indent="-171450">
              <a:buFont typeface="Arial" panose="020B0604020202020204" pitchFamily="34" charset="0"/>
              <a:buChar char="•"/>
            </a:pPr>
            <a:r>
              <a:rPr lang="en-GB" sz="1200" b="1" i="0" kern="1200" dirty="0">
                <a:solidFill>
                  <a:schemeClr val="tx1"/>
                </a:solidFill>
                <a:effectLst/>
                <a:latin typeface="+mn-lt"/>
                <a:ea typeface="+mn-ea"/>
                <a:cs typeface="+mn-cs"/>
              </a:rPr>
              <a:t>CBC</a:t>
            </a:r>
            <a:r>
              <a:rPr lang="en-GB" sz="1200" b="0" i="0" kern="1200" dirty="0">
                <a:solidFill>
                  <a:schemeClr val="tx1"/>
                </a:solidFill>
                <a:effectLst/>
                <a:latin typeface="+mn-lt"/>
                <a:ea typeface="+mn-ea"/>
                <a:cs typeface="+mn-cs"/>
              </a:rPr>
              <a:t> (complete blood count) = general health status and identifying </a:t>
            </a:r>
            <a:r>
              <a:rPr lang="en-GB" sz="1200" b="1" i="0" kern="1200" dirty="0">
                <a:solidFill>
                  <a:schemeClr val="tx1"/>
                </a:solidFill>
                <a:effectLst/>
                <a:latin typeface="+mn-lt"/>
                <a:ea typeface="+mn-ea"/>
                <a:cs typeface="+mn-cs"/>
              </a:rPr>
              <a:t>anaemia, infection and leukaemia</a:t>
            </a:r>
          </a:p>
          <a:p>
            <a:pPr marL="628650" lvl="1" indent="-171450">
              <a:buFont typeface="Arial" panose="020B0604020202020204" pitchFamily="34" charset="0"/>
              <a:buChar char="•"/>
            </a:pPr>
            <a:r>
              <a:rPr lang="en-GB" sz="1200" b="1" i="0" kern="1200" dirty="0">
                <a:solidFill>
                  <a:schemeClr val="tx1"/>
                </a:solidFill>
                <a:effectLst/>
                <a:latin typeface="+mn-lt"/>
                <a:ea typeface="+mn-ea"/>
                <a:cs typeface="+mn-cs"/>
              </a:rPr>
              <a:t>HLA-B27 </a:t>
            </a:r>
            <a:r>
              <a:rPr lang="en-GB" sz="1200" b="0" i="0" kern="1200" dirty="0">
                <a:solidFill>
                  <a:schemeClr val="tx1"/>
                </a:solidFill>
                <a:effectLst/>
                <a:latin typeface="+mn-lt"/>
                <a:ea typeface="+mn-ea"/>
                <a:cs typeface="+mn-cs"/>
              </a:rPr>
              <a:t>(human leukocyte antigen B27) = found on surface of WBCs in autoimmune disorders e.g. </a:t>
            </a:r>
            <a:r>
              <a:rPr lang="en-GB" sz="1200" b="1" i="0" kern="1200" dirty="0">
                <a:solidFill>
                  <a:schemeClr val="tx1"/>
                </a:solidFill>
                <a:effectLst/>
                <a:latin typeface="+mn-lt"/>
                <a:ea typeface="+mn-ea"/>
                <a:cs typeface="+mn-cs"/>
              </a:rPr>
              <a:t>ankylosing spondylitis, Reiter syndrome</a:t>
            </a:r>
          </a:p>
          <a:p>
            <a:pPr marL="628650" lvl="1" indent="-171450">
              <a:buFont typeface="Arial" panose="020B0604020202020204" pitchFamily="34" charset="0"/>
              <a:buChar char="•"/>
            </a:pPr>
            <a:r>
              <a:rPr lang="en-GB" sz="1200" b="1" i="0" kern="1200" dirty="0">
                <a:solidFill>
                  <a:schemeClr val="tx1"/>
                </a:solidFill>
                <a:effectLst/>
                <a:latin typeface="+mn-lt"/>
                <a:ea typeface="+mn-ea"/>
                <a:cs typeface="+mn-cs"/>
              </a:rPr>
              <a:t>CRP </a:t>
            </a:r>
            <a:r>
              <a:rPr lang="en-GB" sz="1200" b="0" i="0" kern="1200" dirty="0">
                <a:solidFill>
                  <a:schemeClr val="tx1"/>
                </a:solidFill>
                <a:effectLst/>
                <a:latin typeface="+mn-lt"/>
                <a:ea typeface="+mn-ea"/>
                <a:cs typeface="+mn-cs"/>
              </a:rPr>
              <a:t>(c-reactive protein) = marker for inflammation and serves as </a:t>
            </a:r>
            <a:r>
              <a:rPr lang="en-GB" sz="1200" b="0" i="0" kern="1200" dirty="0" err="1">
                <a:solidFill>
                  <a:schemeClr val="tx1"/>
                </a:solidFill>
                <a:effectLst/>
                <a:latin typeface="+mn-lt"/>
                <a:ea typeface="+mn-ea"/>
                <a:cs typeface="+mn-cs"/>
              </a:rPr>
              <a:t>tx</a:t>
            </a:r>
            <a:r>
              <a:rPr lang="en-GB" sz="1200" b="0" i="0" kern="1200" dirty="0">
                <a:solidFill>
                  <a:schemeClr val="tx1"/>
                </a:solidFill>
                <a:effectLst/>
                <a:latin typeface="+mn-lt"/>
                <a:ea typeface="+mn-ea"/>
                <a:cs typeface="+mn-cs"/>
              </a:rPr>
              <a:t> response monitor (good for acute phase) but unable to determine location of inflammation</a:t>
            </a:r>
          </a:p>
          <a:p>
            <a:pPr marL="628650" lvl="1" indent="-171450">
              <a:buFont typeface="Arial" panose="020B0604020202020204" pitchFamily="34" charset="0"/>
              <a:buChar char="•"/>
            </a:pPr>
            <a:r>
              <a:rPr lang="en-GB" sz="1200" b="1" i="0" kern="1200" dirty="0">
                <a:solidFill>
                  <a:schemeClr val="tx1"/>
                </a:solidFill>
                <a:effectLst/>
                <a:latin typeface="+mn-lt"/>
                <a:ea typeface="+mn-ea"/>
                <a:cs typeface="+mn-cs"/>
              </a:rPr>
              <a:t>ESR </a:t>
            </a:r>
            <a:r>
              <a:rPr lang="en-GB" sz="1200" b="0" i="0" kern="1200" dirty="0">
                <a:solidFill>
                  <a:schemeClr val="tx1"/>
                </a:solidFill>
                <a:effectLst/>
                <a:latin typeface="+mn-lt"/>
                <a:ea typeface="+mn-ea"/>
                <a:cs typeface="+mn-cs"/>
              </a:rPr>
              <a:t>(erythrocyte sedimentation rate) = Same as above but better for chronic?</a:t>
            </a:r>
          </a:p>
          <a:p>
            <a:pPr marL="628650" lvl="1" indent="-171450">
              <a:buFont typeface="Arial" panose="020B0604020202020204" pitchFamily="34" charset="0"/>
              <a:buChar char="•"/>
            </a:pPr>
            <a:r>
              <a:rPr lang="en-GB" sz="1200" b="1" i="0" kern="1200" dirty="0">
                <a:solidFill>
                  <a:schemeClr val="tx1"/>
                </a:solidFill>
                <a:effectLst/>
                <a:latin typeface="+mn-lt"/>
                <a:ea typeface="+mn-ea"/>
                <a:cs typeface="+mn-cs"/>
              </a:rPr>
              <a:t>ANA </a:t>
            </a:r>
            <a:r>
              <a:rPr lang="en-GB" sz="1200" b="0" i="0" kern="1200" dirty="0">
                <a:solidFill>
                  <a:schemeClr val="tx1"/>
                </a:solidFill>
                <a:effectLst/>
                <a:latin typeface="+mn-lt"/>
                <a:ea typeface="+mn-ea"/>
                <a:cs typeface="+mn-cs"/>
              </a:rPr>
              <a:t>(antinuclear antibody) = autoimmune disorders e.g. systemic </a:t>
            </a:r>
            <a:r>
              <a:rPr lang="en-GB" sz="1200" b="1" i="0" kern="1200" dirty="0">
                <a:solidFill>
                  <a:schemeClr val="tx1"/>
                </a:solidFill>
                <a:effectLst/>
                <a:latin typeface="+mn-lt"/>
                <a:ea typeface="+mn-ea"/>
                <a:cs typeface="+mn-cs"/>
              </a:rPr>
              <a:t>lupus</a:t>
            </a:r>
            <a:r>
              <a:rPr lang="en-GB" sz="1200" b="0" i="0" kern="1200" dirty="0">
                <a:solidFill>
                  <a:schemeClr val="tx1"/>
                </a:solidFill>
                <a:effectLst/>
                <a:latin typeface="+mn-lt"/>
                <a:ea typeface="+mn-ea"/>
                <a:cs typeface="+mn-cs"/>
              </a:rPr>
              <a:t> erythematosus, scleroderma, juvenile </a:t>
            </a:r>
            <a:r>
              <a:rPr lang="en-GB" sz="1200" b="1" i="0" kern="1200" dirty="0">
                <a:solidFill>
                  <a:schemeClr val="tx1"/>
                </a:solidFill>
                <a:effectLst/>
                <a:latin typeface="+mn-lt"/>
                <a:ea typeface="+mn-ea"/>
                <a:cs typeface="+mn-cs"/>
              </a:rPr>
              <a:t>arthritis</a:t>
            </a:r>
            <a:r>
              <a:rPr lang="en-GB" sz="1200" b="0" i="0" kern="1200" dirty="0">
                <a:solidFill>
                  <a:schemeClr val="tx1"/>
                </a:solidFill>
                <a:effectLst/>
                <a:latin typeface="+mn-lt"/>
                <a:ea typeface="+mn-ea"/>
                <a:cs typeface="+mn-cs"/>
              </a:rPr>
              <a:t>, polymyositis, </a:t>
            </a:r>
            <a:r>
              <a:rPr lang="en-GB" sz="1200" b="1" i="0" kern="1200" dirty="0">
                <a:solidFill>
                  <a:schemeClr val="tx1"/>
                </a:solidFill>
                <a:effectLst/>
                <a:latin typeface="+mn-lt"/>
                <a:ea typeface="+mn-ea"/>
                <a:cs typeface="+mn-cs"/>
              </a:rPr>
              <a:t>inflammatory bowel disease </a:t>
            </a:r>
            <a:r>
              <a:rPr lang="en-GB" sz="1200" b="0" i="0" kern="1200" dirty="0">
                <a:solidFill>
                  <a:schemeClr val="tx1"/>
                </a:solidFill>
                <a:effectLst/>
                <a:latin typeface="+mn-lt"/>
                <a:ea typeface="+mn-ea"/>
                <a:cs typeface="+mn-cs"/>
              </a:rPr>
              <a:t>and </a:t>
            </a:r>
            <a:r>
              <a:rPr lang="en-GB" sz="1200" b="1" i="0" kern="1200" dirty="0">
                <a:solidFill>
                  <a:schemeClr val="tx1"/>
                </a:solidFill>
                <a:effectLst/>
                <a:latin typeface="+mn-lt"/>
                <a:ea typeface="+mn-ea"/>
                <a:cs typeface="+mn-cs"/>
              </a:rPr>
              <a:t>psoriasis</a:t>
            </a:r>
          </a:p>
          <a:p>
            <a:pPr marL="628650" lvl="1" indent="-171450">
              <a:buFont typeface="Arial" panose="020B0604020202020204" pitchFamily="34" charset="0"/>
              <a:buChar char="•"/>
            </a:pPr>
            <a:r>
              <a:rPr lang="en-GB" sz="1200" b="1" i="0" kern="1200" dirty="0">
                <a:solidFill>
                  <a:schemeClr val="tx1"/>
                </a:solidFill>
                <a:effectLst/>
                <a:latin typeface="+mn-lt"/>
                <a:ea typeface="+mn-ea"/>
                <a:cs typeface="+mn-cs"/>
              </a:rPr>
              <a:t>RF </a:t>
            </a:r>
            <a:r>
              <a:rPr lang="en-GB" sz="1200" b="0" i="0" kern="1200" dirty="0">
                <a:solidFill>
                  <a:schemeClr val="tx1"/>
                </a:solidFill>
                <a:effectLst/>
                <a:latin typeface="+mn-lt"/>
                <a:ea typeface="+mn-ea"/>
                <a:cs typeface="+mn-cs"/>
              </a:rPr>
              <a:t>(rheumatoid factor) </a:t>
            </a:r>
            <a:r>
              <a:rPr lang="en-GB" sz="1200" b="1" i="0" kern="1200" dirty="0">
                <a:solidFill>
                  <a:schemeClr val="tx1"/>
                </a:solidFill>
                <a:effectLst/>
                <a:latin typeface="+mn-lt"/>
                <a:ea typeface="+mn-ea"/>
                <a:cs typeface="+mn-cs"/>
              </a:rPr>
              <a:t>= rheumatoid arthritis </a:t>
            </a:r>
            <a:r>
              <a:rPr lang="en-GB" sz="1200" b="0" i="0" kern="1200" dirty="0">
                <a:solidFill>
                  <a:schemeClr val="tx1"/>
                </a:solidFill>
                <a:effectLst/>
                <a:latin typeface="+mn-lt"/>
                <a:ea typeface="+mn-ea"/>
                <a:cs typeface="+mn-cs"/>
              </a:rPr>
              <a:t>and </a:t>
            </a:r>
            <a:r>
              <a:rPr lang="en-GB" sz="1200" b="1" i="0" kern="1200" dirty="0">
                <a:solidFill>
                  <a:schemeClr val="tx1"/>
                </a:solidFill>
                <a:effectLst/>
                <a:latin typeface="+mn-lt"/>
                <a:ea typeface="+mn-ea"/>
                <a:cs typeface="+mn-cs"/>
              </a:rPr>
              <a:t>Sjogren’s</a:t>
            </a:r>
            <a:r>
              <a:rPr lang="en-GB" sz="1200" b="0" i="0" kern="1200" dirty="0">
                <a:solidFill>
                  <a:schemeClr val="tx1"/>
                </a:solidFill>
                <a:effectLst/>
                <a:latin typeface="+mn-lt"/>
                <a:ea typeface="+mn-ea"/>
                <a:cs typeface="+mn-cs"/>
              </a:rPr>
              <a:t> and others that overlap with ANA</a:t>
            </a:r>
          </a:p>
          <a:p>
            <a:pPr marL="628650" lvl="1" indent="-171450">
              <a:buFont typeface="Arial" panose="020B0604020202020204" pitchFamily="34" charset="0"/>
              <a:buChar char="•"/>
            </a:pPr>
            <a:r>
              <a:rPr lang="en-GB" sz="1200" b="1" i="0" kern="1200" dirty="0">
                <a:solidFill>
                  <a:schemeClr val="tx1"/>
                </a:solidFill>
                <a:effectLst/>
                <a:latin typeface="+mn-lt"/>
                <a:ea typeface="+mn-ea"/>
                <a:cs typeface="+mn-cs"/>
              </a:rPr>
              <a:t>RPR </a:t>
            </a:r>
            <a:r>
              <a:rPr lang="en-GB" sz="1200" b="0" i="0" kern="1200" dirty="0">
                <a:solidFill>
                  <a:schemeClr val="tx1"/>
                </a:solidFill>
                <a:effectLst/>
                <a:latin typeface="+mn-lt"/>
                <a:ea typeface="+mn-ea"/>
                <a:cs typeface="+mn-cs"/>
              </a:rPr>
              <a:t>(rapid plasma regain), </a:t>
            </a:r>
            <a:r>
              <a:rPr lang="en-GB" sz="1200" b="1" i="0" kern="1200" dirty="0">
                <a:solidFill>
                  <a:schemeClr val="tx1"/>
                </a:solidFill>
                <a:effectLst/>
                <a:latin typeface="+mn-lt"/>
                <a:ea typeface="+mn-ea"/>
                <a:cs typeface="+mn-cs"/>
              </a:rPr>
              <a:t>VDRL </a:t>
            </a:r>
            <a:r>
              <a:rPr lang="en-GB" sz="1200" b="0" i="0" kern="1200" dirty="0">
                <a:solidFill>
                  <a:schemeClr val="tx1"/>
                </a:solidFill>
                <a:effectLst/>
                <a:latin typeface="+mn-lt"/>
                <a:ea typeface="+mn-ea"/>
                <a:cs typeface="+mn-cs"/>
              </a:rPr>
              <a:t>(venereal disease research laboratory) </a:t>
            </a:r>
            <a:r>
              <a:rPr lang="en-GB" sz="1200" b="1" i="0" kern="1200" dirty="0">
                <a:solidFill>
                  <a:schemeClr val="tx1"/>
                </a:solidFill>
                <a:effectLst/>
                <a:latin typeface="+mn-lt"/>
                <a:ea typeface="+mn-ea"/>
                <a:cs typeface="+mn-cs"/>
              </a:rPr>
              <a:t>FTA-ABS </a:t>
            </a:r>
            <a:r>
              <a:rPr lang="en-GB" sz="1200" b="0" i="0" kern="1200" dirty="0">
                <a:solidFill>
                  <a:schemeClr val="tx1"/>
                </a:solidFill>
                <a:effectLst/>
                <a:latin typeface="+mn-lt"/>
                <a:ea typeface="+mn-ea"/>
                <a:cs typeface="+mn-cs"/>
              </a:rPr>
              <a:t>(fluorescent treponemal antibody absorption test = </a:t>
            </a:r>
            <a:r>
              <a:rPr lang="en-GB" sz="1200" b="1" i="0" kern="1200" dirty="0">
                <a:solidFill>
                  <a:schemeClr val="tx1"/>
                </a:solidFill>
                <a:effectLst/>
                <a:latin typeface="+mn-lt"/>
                <a:ea typeface="+mn-ea"/>
                <a:cs typeface="+mn-cs"/>
              </a:rPr>
              <a:t>syphilis </a:t>
            </a:r>
            <a:r>
              <a:rPr lang="en-GB" sz="1200" b="0" i="0" kern="1200" dirty="0">
                <a:solidFill>
                  <a:schemeClr val="tx1"/>
                </a:solidFill>
                <a:effectLst/>
                <a:latin typeface="+mn-lt"/>
                <a:ea typeface="+mn-ea"/>
                <a:cs typeface="+mn-cs"/>
              </a:rPr>
              <a:t>– </a:t>
            </a:r>
            <a:r>
              <a:rPr lang="en-GB" sz="1200" b="0" i="0" kern="1200" dirty="0" err="1">
                <a:solidFill>
                  <a:schemeClr val="tx1"/>
                </a:solidFill>
                <a:effectLst/>
                <a:latin typeface="+mn-lt"/>
                <a:ea typeface="+mn-ea"/>
                <a:cs typeface="+mn-cs"/>
              </a:rPr>
              <a:t>treponema</a:t>
            </a:r>
            <a:r>
              <a:rPr lang="en-GB" sz="1200" b="0" i="0" kern="1200" dirty="0">
                <a:solidFill>
                  <a:schemeClr val="tx1"/>
                </a:solidFill>
                <a:effectLst/>
                <a:latin typeface="+mn-lt"/>
                <a:ea typeface="+mn-ea"/>
                <a:cs typeface="+mn-cs"/>
              </a:rPr>
              <a:t> pallidum is bacteria in syphilis</a:t>
            </a:r>
          </a:p>
          <a:p>
            <a:pPr marL="628650" lvl="1" indent="-171450">
              <a:buFont typeface="Arial" panose="020B0604020202020204" pitchFamily="34" charset="0"/>
              <a:buChar char="•"/>
            </a:pPr>
            <a:r>
              <a:rPr lang="en-GB" sz="1200" b="1" i="0" kern="1200" dirty="0">
                <a:solidFill>
                  <a:schemeClr val="tx1"/>
                </a:solidFill>
                <a:effectLst/>
                <a:latin typeface="+mn-lt"/>
                <a:ea typeface="+mn-ea"/>
                <a:cs typeface="+mn-cs"/>
              </a:rPr>
              <a:t>ACE </a:t>
            </a:r>
            <a:r>
              <a:rPr lang="en-GB" sz="1200" b="0" i="0" kern="1200" dirty="0">
                <a:solidFill>
                  <a:schemeClr val="tx1"/>
                </a:solidFill>
                <a:effectLst/>
                <a:latin typeface="+mn-lt"/>
                <a:ea typeface="+mn-ea"/>
                <a:cs typeface="+mn-cs"/>
              </a:rPr>
              <a:t>(angiotensin converting enzyme) = </a:t>
            </a:r>
            <a:r>
              <a:rPr lang="en-GB" sz="1200" b="1" i="0" kern="1200" dirty="0">
                <a:solidFill>
                  <a:schemeClr val="tx1"/>
                </a:solidFill>
                <a:effectLst/>
                <a:latin typeface="+mn-lt"/>
                <a:ea typeface="+mn-ea"/>
                <a:cs typeface="+mn-cs"/>
              </a:rPr>
              <a:t>sarcoidosis</a:t>
            </a:r>
          </a:p>
          <a:p>
            <a:pPr marL="628650" lvl="1" indent="-171450">
              <a:buFont typeface="Arial" panose="020B0604020202020204" pitchFamily="34" charset="0"/>
              <a:buChar char="•"/>
            </a:pPr>
            <a:r>
              <a:rPr lang="en-GB" sz="1200" b="1" i="0" kern="1200" dirty="0">
                <a:solidFill>
                  <a:schemeClr val="tx1"/>
                </a:solidFill>
                <a:effectLst/>
                <a:latin typeface="+mn-lt"/>
                <a:ea typeface="+mn-ea"/>
                <a:cs typeface="+mn-cs"/>
              </a:rPr>
              <a:t>Chest X-Ray </a:t>
            </a:r>
            <a:r>
              <a:rPr lang="en-GB" sz="1200" b="0" i="0" kern="1200" dirty="0">
                <a:solidFill>
                  <a:schemeClr val="tx1"/>
                </a:solidFill>
                <a:effectLst/>
                <a:latin typeface="+mn-lt"/>
                <a:ea typeface="+mn-ea"/>
                <a:cs typeface="+mn-cs"/>
              </a:rPr>
              <a:t>= </a:t>
            </a:r>
            <a:r>
              <a:rPr lang="en-GB" sz="1200" b="1" i="0" kern="1200" dirty="0">
                <a:solidFill>
                  <a:schemeClr val="tx1"/>
                </a:solidFill>
                <a:effectLst/>
                <a:latin typeface="+mn-lt"/>
                <a:ea typeface="+mn-ea"/>
                <a:cs typeface="+mn-cs"/>
              </a:rPr>
              <a:t>tuberculosis or sarcoidosis</a:t>
            </a:r>
            <a:r>
              <a:rPr lang="en-GB" sz="1200" b="0" i="0" kern="1200" dirty="0">
                <a:solidFill>
                  <a:schemeClr val="tx1"/>
                </a:solidFill>
                <a:effectLst/>
                <a:latin typeface="+mn-lt"/>
                <a:ea typeface="+mn-ea"/>
                <a:cs typeface="+mn-cs"/>
              </a:rPr>
              <a:t> </a:t>
            </a:r>
          </a:p>
          <a:p>
            <a:pPr marL="628650" lvl="1" indent="-171450">
              <a:buFont typeface="Arial" panose="020B0604020202020204" pitchFamily="34" charset="0"/>
              <a:buChar char="•"/>
            </a:pPr>
            <a:r>
              <a:rPr lang="en-GB" sz="1200" b="1" i="0" kern="1200" dirty="0">
                <a:solidFill>
                  <a:schemeClr val="tx1"/>
                </a:solidFill>
                <a:effectLst/>
                <a:latin typeface="+mn-lt"/>
                <a:ea typeface="+mn-ea"/>
                <a:cs typeface="+mn-cs"/>
              </a:rPr>
              <a:t>PPD </a:t>
            </a:r>
            <a:r>
              <a:rPr lang="en-GB" sz="1200" b="0" i="0" kern="1200" dirty="0">
                <a:solidFill>
                  <a:schemeClr val="tx1"/>
                </a:solidFill>
                <a:effectLst/>
                <a:latin typeface="+mn-lt"/>
                <a:ea typeface="+mn-ea"/>
                <a:cs typeface="+mn-cs"/>
              </a:rPr>
              <a:t>(purified protein derivative) = tuberculosis</a:t>
            </a:r>
          </a:p>
          <a:p>
            <a:pPr marL="628650" lvl="1" indent="-171450">
              <a:buFont typeface="Arial" panose="020B0604020202020204" pitchFamily="34" charset="0"/>
              <a:buChar char="•"/>
            </a:pPr>
            <a:r>
              <a:rPr lang="en-GB" sz="1200" b="1" i="0" kern="1200" dirty="0">
                <a:solidFill>
                  <a:schemeClr val="tx1"/>
                </a:solidFill>
                <a:effectLst/>
                <a:latin typeface="+mn-lt"/>
                <a:ea typeface="+mn-ea"/>
                <a:cs typeface="+mn-cs"/>
              </a:rPr>
              <a:t>ELISA </a:t>
            </a:r>
            <a:r>
              <a:rPr lang="en-GB" sz="1200" b="0" i="0" kern="1200" dirty="0">
                <a:solidFill>
                  <a:schemeClr val="tx1"/>
                </a:solidFill>
                <a:effectLst/>
                <a:latin typeface="+mn-lt"/>
                <a:ea typeface="+mn-ea"/>
                <a:cs typeface="+mn-cs"/>
              </a:rPr>
              <a:t>(</a:t>
            </a:r>
            <a:r>
              <a:rPr lang="en-GB" sz="1200" b="0" i="0" kern="1200" dirty="0" err="1">
                <a:solidFill>
                  <a:schemeClr val="tx1"/>
                </a:solidFill>
                <a:effectLst/>
                <a:latin typeface="+mn-lt"/>
                <a:ea typeface="+mn-ea"/>
                <a:cs typeface="+mn-cs"/>
              </a:rPr>
              <a:t>lyme</a:t>
            </a:r>
            <a:r>
              <a:rPr lang="en-GB" sz="1200" b="0" i="0" kern="1200" dirty="0">
                <a:solidFill>
                  <a:schemeClr val="tx1"/>
                </a:solidFill>
                <a:effectLst/>
                <a:latin typeface="+mn-lt"/>
                <a:ea typeface="+mn-ea"/>
                <a:cs typeface="+mn-cs"/>
              </a:rPr>
              <a:t> titre and enzyme-linked immunosorbent assay) = </a:t>
            </a:r>
            <a:r>
              <a:rPr lang="en-GB" sz="1200" b="1" i="0" kern="1200" dirty="0">
                <a:solidFill>
                  <a:schemeClr val="tx1"/>
                </a:solidFill>
                <a:effectLst/>
                <a:latin typeface="+mn-lt"/>
                <a:ea typeface="+mn-ea"/>
                <a:cs typeface="+mn-cs"/>
              </a:rPr>
              <a:t>Lyme disease</a:t>
            </a:r>
            <a:r>
              <a:rPr lang="en-GB" sz="1200" b="0" i="0" kern="1200" dirty="0">
                <a:solidFill>
                  <a:schemeClr val="tx1"/>
                </a:solidFill>
                <a:effectLst/>
                <a:latin typeface="+mn-lt"/>
                <a:ea typeface="+mn-ea"/>
                <a:cs typeface="+mn-cs"/>
              </a:rPr>
              <a:t> and </a:t>
            </a:r>
            <a:r>
              <a:rPr lang="en-GB" sz="1200" b="1" i="0" kern="1200" dirty="0">
                <a:solidFill>
                  <a:schemeClr val="tx1"/>
                </a:solidFill>
                <a:effectLst/>
                <a:latin typeface="+mn-lt"/>
                <a:ea typeface="+mn-ea"/>
                <a:cs typeface="+mn-cs"/>
              </a:rPr>
              <a:t>HIV</a:t>
            </a:r>
          </a:p>
          <a:p>
            <a:pPr marL="628650" lvl="1" indent="-171450">
              <a:buFont typeface="Arial" panose="020B0604020202020204" pitchFamily="34" charset="0"/>
              <a:buChar char="•"/>
            </a:pPr>
            <a:endParaRPr lang="en-GB" sz="1200" b="1" i="0" kern="1200" dirty="0">
              <a:solidFill>
                <a:schemeClr val="tx1"/>
              </a:solidFill>
              <a:effectLst/>
              <a:latin typeface="+mn-lt"/>
              <a:ea typeface="+mn-ea"/>
              <a:cs typeface="+mn-cs"/>
            </a:endParaRPr>
          </a:p>
          <a:p>
            <a:endParaRPr lang="en-GB" sz="1200" b="0" i="0" kern="1200" dirty="0">
              <a:solidFill>
                <a:schemeClr val="tx1"/>
              </a:solidFill>
              <a:effectLst/>
              <a:latin typeface="+mn-lt"/>
              <a:ea typeface="+mn-ea"/>
              <a:cs typeface="+mn-cs"/>
            </a:endParaRPr>
          </a:p>
          <a:p>
            <a:r>
              <a:rPr lang="en-GB" sz="1200" b="1" i="0" kern="1200" dirty="0">
                <a:solidFill>
                  <a:schemeClr val="tx1"/>
                </a:solidFill>
                <a:effectLst/>
                <a:latin typeface="+mn-lt"/>
                <a:ea typeface="+mn-ea"/>
                <a:cs typeface="+mn-cs"/>
              </a:rPr>
              <a:t>When would you consider a referral to ophthalmologist?</a:t>
            </a:r>
          </a:p>
          <a:p>
            <a:pPr marL="628650" lvl="1" indent="-171450">
              <a:buFont typeface="Arial" panose="020B0604020202020204" pitchFamily="34" charset="0"/>
              <a:buChar char="•"/>
            </a:pPr>
            <a:r>
              <a:rPr lang="en-GB" sz="1200" b="0" i="0" kern="1200" dirty="0">
                <a:solidFill>
                  <a:schemeClr val="tx1"/>
                </a:solidFill>
                <a:effectLst/>
                <a:latin typeface="+mn-lt"/>
                <a:ea typeface="+mn-ea"/>
                <a:cs typeface="+mn-cs"/>
              </a:rPr>
              <a:t>Hypopyon</a:t>
            </a:r>
          </a:p>
          <a:p>
            <a:pPr marL="628650" lvl="1" indent="-171450">
              <a:buFont typeface="Arial" panose="020B0604020202020204" pitchFamily="34" charset="0"/>
              <a:buChar char="•"/>
            </a:pPr>
            <a:r>
              <a:rPr lang="en-GB" sz="1200" b="0" i="0" kern="1200" dirty="0">
                <a:solidFill>
                  <a:schemeClr val="tx1"/>
                </a:solidFill>
                <a:effectLst/>
                <a:latin typeface="+mn-lt"/>
                <a:ea typeface="+mn-ea"/>
                <a:cs typeface="+mn-cs"/>
              </a:rPr>
              <a:t>Bilateral</a:t>
            </a:r>
          </a:p>
          <a:p>
            <a:pPr marL="628650" lvl="1" indent="-171450">
              <a:buFont typeface="Arial" panose="020B0604020202020204" pitchFamily="34" charset="0"/>
              <a:buChar char="•"/>
            </a:pPr>
            <a:r>
              <a:rPr lang="en-GB" sz="1200" b="0" i="0" kern="1200" dirty="0">
                <a:solidFill>
                  <a:schemeClr val="tx1"/>
                </a:solidFill>
                <a:effectLst/>
                <a:latin typeface="+mn-lt"/>
                <a:ea typeface="+mn-ea"/>
                <a:cs typeface="+mn-cs"/>
              </a:rPr>
              <a:t>Intermediate/posterior/pan-uveitis</a:t>
            </a:r>
          </a:p>
          <a:p>
            <a:pPr marL="628650" lvl="1" indent="-171450">
              <a:buFont typeface="Arial" panose="020B0604020202020204" pitchFamily="34" charset="0"/>
              <a:buChar char="•"/>
            </a:pPr>
            <a:r>
              <a:rPr lang="en-GB" sz="1200" b="0" i="0" kern="1200" dirty="0">
                <a:solidFill>
                  <a:schemeClr val="tx1"/>
                </a:solidFill>
                <a:effectLst/>
                <a:latin typeface="+mn-lt"/>
                <a:ea typeface="+mn-ea"/>
                <a:cs typeface="+mn-cs"/>
              </a:rPr>
              <a:t>Recent surgery or presence of drainage bleb</a:t>
            </a:r>
          </a:p>
          <a:p>
            <a:pPr marL="628650" lvl="1" indent="-171450">
              <a:buFont typeface="Arial" panose="020B0604020202020204" pitchFamily="34" charset="0"/>
              <a:buChar char="•"/>
            </a:pPr>
            <a:r>
              <a:rPr lang="en-GB" sz="1200" b="0" i="0" kern="1200" dirty="0">
                <a:solidFill>
                  <a:schemeClr val="tx1"/>
                </a:solidFill>
                <a:effectLst/>
                <a:latin typeface="+mn-lt"/>
                <a:ea typeface="+mn-ea"/>
                <a:cs typeface="+mn-cs"/>
              </a:rPr>
              <a:t>Presence of severe or atypical inflammation</a:t>
            </a:r>
            <a:endParaRPr lang="en-GB" b="1" dirty="0"/>
          </a:p>
        </p:txBody>
      </p:sp>
      <p:sp>
        <p:nvSpPr>
          <p:cNvPr id="4" name="Slide Number Placeholder 3"/>
          <p:cNvSpPr>
            <a:spLocks noGrp="1"/>
          </p:cNvSpPr>
          <p:nvPr>
            <p:ph type="sldNum" sz="quarter" idx="10"/>
          </p:nvPr>
        </p:nvSpPr>
        <p:spPr/>
        <p:txBody>
          <a:bodyPr/>
          <a:lstStyle/>
          <a:p>
            <a:fld id="{32E38DB9-DF4D-4A16-8DDB-2246D19213B5}" type="slidenum">
              <a:rPr lang="en-GB" smtClean="0"/>
              <a:t>5</a:t>
            </a:fld>
            <a:endParaRPr lang="en-GB"/>
          </a:p>
        </p:txBody>
      </p:sp>
    </p:spTree>
    <p:extLst>
      <p:ext uri="{BB962C8B-B14F-4D97-AF65-F5344CB8AC3E}">
        <p14:creationId xmlns:p14="http://schemas.microsoft.com/office/powerpoint/2010/main" val="26876839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Common </a:t>
            </a:r>
            <a:r>
              <a:rPr lang="en-GB" dirty="0" err="1"/>
              <a:t>sx</a:t>
            </a:r>
            <a:r>
              <a:rPr lang="en-GB" dirty="0"/>
              <a:t>: Redness, serous discharge, photophobia, FBS, blurry vision, pain (severe/mild/absent), unilateral</a:t>
            </a:r>
          </a:p>
          <a:p>
            <a:endParaRPr lang="en-GB" dirty="0"/>
          </a:p>
          <a:p>
            <a:r>
              <a:rPr lang="en-GB" dirty="0"/>
              <a:t>Signs: IOP may be elevated (</a:t>
            </a:r>
            <a:r>
              <a:rPr lang="en-GB" dirty="0" err="1"/>
              <a:t>esp</a:t>
            </a:r>
            <a:r>
              <a:rPr lang="en-GB" dirty="0"/>
              <a:t> if iritis), reduced corneal sensation (damage to </a:t>
            </a:r>
            <a:r>
              <a:rPr lang="en-GB" dirty="0" err="1"/>
              <a:t>CNVi</a:t>
            </a:r>
            <a:r>
              <a:rPr lang="en-GB" dirty="0"/>
              <a:t>), preauricular lymphadenopathy, grouped vesicular or vesiculopustular eruption of eyelid and adjacent skin</a:t>
            </a:r>
          </a:p>
          <a:p>
            <a:endParaRPr lang="en-GB" dirty="0"/>
          </a:p>
          <a:p>
            <a:r>
              <a:rPr lang="en-GB" b="1" dirty="0"/>
              <a:t>Adeno Vs. HSV – HSV rarely forms </a:t>
            </a:r>
            <a:r>
              <a:rPr lang="en-GB" b="1" dirty="0" err="1"/>
              <a:t>pseudomembranes</a:t>
            </a:r>
            <a:endParaRPr lang="en-GB" b="1" dirty="0"/>
          </a:p>
          <a:p>
            <a:endParaRPr lang="en-GB" dirty="0"/>
          </a:p>
          <a:p>
            <a:r>
              <a:rPr lang="en-GB" dirty="0" err="1"/>
              <a:t>DDx</a:t>
            </a:r>
            <a:r>
              <a:rPr lang="en-GB" dirty="0"/>
              <a:t>: Non-HSV viral keratitis (Adeno, VZV, EBV, CMV), Acanthamoeba keratitis, Fungal keratitis, Bacterial keratitis, Infected corneal ulcer, Neurotrophic keratitis, Exposure keratopathy, Basement membrane dystrophy, Abrasion</a:t>
            </a:r>
          </a:p>
          <a:p>
            <a:endParaRPr lang="en-GB" dirty="0"/>
          </a:p>
          <a:p>
            <a:r>
              <a:rPr lang="en-GB" sz="1200" b="0" i="0" u="none" strike="noStrike" kern="1200" baseline="0" dirty="0">
                <a:solidFill>
                  <a:schemeClr val="tx1"/>
                </a:solidFill>
                <a:latin typeface="+mn-lt"/>
                <a:ea typeface="+mn-ea"/>
                <a:cs typeface="+mn-cs"/>
              </a:rPr>
              <a:t>More than one ocular site may be involved; breakdown of the Minnesota data suggests that approximately 72% of ocular HSV disease involves the corneal epithelium; 41%, the lid or conjunctiva; 12%, the corneal stroma; and 9%, the iris and associated uveal tract [Pavan-Langston D. Part one: the research perspective. Advances in the management of ocular herpetic disease. </a:t>
            </a:r>
            <a:r>
              <a:rPr lang="en-GB" sz="1200" b="0" i="0" u="none" strike="noStrike" kern="1200" baseline="0" dirty="0" err="1">
                <a:solidFill>
                  <a:schemeClr val="tx1"/>
                </a:solidFill>
                <a:latin typeface="+mn-lt"/>
                <a:ea typeface="+mn-ea"/>
                <a:cs typeface="+mn-cs"/>
              </a:rPr>
              <a:t>Candeo</a:t>
            </a:r>
            <a:r>
              <a:rPr lang="en-GB" sz="1200" b="0" i="0" u="none" strike="noStrike" kern="1200" baseline="0" dirty="0">
                <a:solidFill>
                  <a:schemeClr val="tx1"/>
                </a:solidFill>
                <a:latin typeface="+mn-lt"/>
                <a:ea typeface="+mn-ea"/>
                <a:cs typeface="+mn-cs"/>
              </a:rPr>
              <a:t> Clinical/Science Communications. 2011;1-9.]</a:t>
            </a:r>
          </a:p>
          <a:p>
            <a:endParaRPr lang="en-GB" sz="1200" b="0" i="0" u="none" strike="noStrike" kern="1200" baseline="0" dirty="0">
              <a:solidFill>
                <a:schemeClr val="tx1"/>
              </a:solidFill>
              <a:latin typeface="+mn-lt"/>
              <a:ea typeface="+mn-ea"/>
              <a:cs typeface="+mn-cs"/>
            </a:endParaRPr>
          </a:p>
          <a:p>
            <a:r>
              <a:rPr lang="en-GB" sz="1200" b="0" i="0" u="none" strike="noStrike" kern="1200" baseline="0" dirty="0">
                <a:solidFill>
                  <a:schemeClr val="tx1"/>
                </a:solidFill>
                <a:latin typeface="+mn-lt"/>
                <a:ea typeface="+mn-ea"/>
                <a:cs typeface="+mn-cs"/>
              </a:rPr>
              <a:t>A retrospective study at the Cullen Eye Institute found recurrence rates in children to be similar to those in adults, although there was a higher risk of bilateral involvement among children</a:t>
            </a:r>
          </a:p>
          <a:p>
            <a:endParaRPr lang="en-GB" sz="1200" b="0" i="0" u="none" strike="noStrike" kern="1200" baseline="0" dirty="0">
              <a:solidFill>
                <a:schemeClr val="tx1"/>
              </a:solidFill>
              <a:latin typeface="+mn-lt"/>
              <a:ea typeface="+mn-ea"/>
              <a:cs typeface="+mn-cs"/>
            </a:endParaRPr>
          </a:p>
          <a:p>
            <a:r>
              <a:rPr lang="en-GB" sz="1200" b="0" i="0" u="none" strike="noStrike" kern="1200" baseline="0" dirty="0">
                <a:solidFill>
                  <a:schemeClr val="tx1"/>
                </a:solidFill>
                <a:latin typeface="+mn-lt"/>
                <a:ea typeface="+mn-ea"/>
                <a:cs typeface="+mn-cs"/>
              </a:rPr>
              <a:t>Studies suggest that 10% of patients with epithelial keratitis will go on to experience stromal disease within a year, and patients with a history of multiple recurrences remain at increased risk for future recurrences. [The Herpetic Eye Disease Study Group. A controlled trial of oral acyclovir for the prevention of stromal keratitis or iritis in patients with herpes simplex virus epithelial keratitis. The Epithelial Keratitis Trial. </a:t>
            </a:r>
            <a:r>
              <a:rPr lang="en-GB" sz="1200" b="0" i="1" u="none" strike="noStrike" kern="1200" baseline="0" dirty="0">
                <a:solidFill>
                  <a:schemeClr val="tx1"/>
                </a:solidFill>
                <a:latin typeface="+mn-lt"/>
                <a:ea typeface="+mn-ea"/>
                <a:cs typeface="+mn-cs"/>
              </a:rPr>
              <a:t>Arch </a:t>
            </a:r>
            <a:r>
              <a:rPr lang="en-GB" sz="1200" b="0" i="1" u="none" strike="noStrike" kern="1200" baseline="0" dirty="0" err="1">
                <a:solidFill>
                  <a:schemeClr val="tx1"/>
                </a:solidFill>
                <a:latin typeface="+mn-lt"/>
                <a:ea typeface="+mn-ea"/>
                <a:cs typeface="+mn-cs"/>
              </a:rPr>
              <a:t>Ophthalmol</a:t>
            </a:r>
            <a:r>
              <a:rPr lang="en-GB" sz="1200" b="0" i="1" u="none" strike="noStrike" kern="1200" baseline="0" dirty="0">
                <a:solidFill>
                  <a:schemeClr val="tx1"/>
                </a:solidFill>
                <a:latin typeface="+mn-lt"/>
                <a:ea typeface="+mn-ea"/>
                <a:cs typeface="+mn-cs"/>
              </a:rPr>
              <a:t>. </a:t>
            </a:r>
            <a:r>
              <a:rPr lang="en-GB" sz="1200" b="0" i="0" u="none" strike="noStrike" kern="1200" baseline="0" dirty="0">
                <a:solidFill>
                  <a:schemeClr val="tx1"/>
                </a:solidFill>
                <a:latin typeface="+mn-lt"/>
                <a:ea typeface="+mn-ea"/>
                <a:cs typeface="+mn-cs"/>
              </a:rPr>
              <a:t>1997;115:703-12.]</a:t>
            </a:r>
          </a:p>
          <a:p>
            <a:endParaRPr lang="en-GB" sz="1200" b="0" i="0" u="none" strike="noStrike" kern="1200" baseline="0" dirty="0">
              <a:solidFill>
                <a:schemeClr val="tx1"/>
              </a:solidFill>
              <a:latin typeface="+mn-lt"/>
              <a:ea typeface="+mn-ea"/>
              <a:cs typeface="+mn-cs"/>
            </a:endParaRPr>
          </a:p>
          <a:p>
            <a:r>
              <a:rPr lang="en-GB" sz="1200" b="0" i="0" u="none" strike="noStrike" kern="1200" baseline="0" dirty="0">
                <a:solidFill>
                  <a:schemeClr val="tx1"/>
                </a:solidFill>
                <a:latin typeface="+mn-lt"/>
                <a:ea typeface="+mn-ea"/>
                <a:cs typeface="+mn-cs"/>
              </a:rPr>
              <a:t>Pregnancy category B3 = Insufficient human trials, animal studies showed increased occurrence of </a:t>
            </a:r>
            <a:r>
              <a:rPr lang="en-GB" sz="1200" b="0" i="0" u="none" strike="noStrike" kern="1200" baseline="0" dirty="0" err="1">
                <a:solidFill>
                  <a:schemeClr val="tx1"/>
                </a:solidFill>
                <a:latin typeface="+mn-lt"/>
                <a:ea typeface="+mn-ea"/>
                <a:cs typeface="+mn-cs"/>
              </a:rPr>
              <a:t>fetal</a:t>
            </a:r>
            <a:r>
              <a:rPr lang="en-GB" sz="1200" b="0" i="0" u="none" strike="noStrike" kern="1200" baseline="0" dirty="0">
                <a:solidFill>
                  <a:schemeClr val="tx1"/>
                </a:solidFill>
                <a:latin typeface="+mn-lt"/>
                <a:ea typeface="+mn-ea"/>
                <a:cs typeface="+mn-cs"/>
              </a:rPr>
              <a:t> damage, significance of which is considered uncertain in humans.</a:t>
            </a:r>
          </a:p>
          <a:p>
            <a:endParaRPr lang="en-GB" sz="1200" b="0" i="0" u="none" strike="noStrike" kern="1200" baseline="0" dirty="0">
              <a:solidFill>
                <a:schemeClr val="tx1"/>
              </a:solidFill>
              <a:latin typeface="+mn-lt"/>
              <a:ea typeface="+mn-ea"/>
              <a:cs typeface="+mn-cs"/>
            </a:endParaRPr>
          </a:p>
          <a:p>
            <a:r>
              <a:rPr lang="en-GB" sz="1200" b="0" i="0" u="none" strike="noStrike" kern="1200" baseline="0" dirty="0">
                <a:solidFill>
                  <a:schemeClr val="tx1"/>
                </a:solidFill>
                <a:latin typeface="+mn-lt"/>
                <a:ea typeface="+mn-ea"/>
                <a:cs typeface="+mn-cs"/>
              </a:rPr>
              <a:t>Lactation = limited </a:t>
            </a:r>
            <a:r>
              <a:rPr lang="en-GB" sz="1200" b="0" i="0" u="none" strike="noStrike" kern="1200" baseline="0" dirty="0" err="1">
                <a:solidFill>
                  <a:schemeClr val="tx1"/>
                </a:solidFill>
                <a:latin typeface="+mn-lt"/>
                <a:ea typeface="+mn-ea"/>
                <a:cs typeface="+mn-cs"/>
              </a:rPr>
              <a:t>hman</a:t>
            </a:r>
            <a:r>
              <a:rPr lang="en-GB" sz="1200" b="0" i="0" u="none" strike="noStrike" kern="1200" baseline="0" dirty="0">
                <a:solidFill>
                  <a:schemeClr val="tx1"/>
                </a:solidFill>
                <a:latin typeface="+mn-lt"/>
                <a:ea typeface="+mn-ea"/>
                <a:cs typeface="+mn-cs"/>
              </a:rPr>
              <a:t> data shows it does NOT pass into breast milk</a:t>
            </a:r>
            <a:endParaRPr lang="en-GB" dirty="0"/>
          </a:p>
        </p:txBody>
      </p:sp>
      <p:sp>
        <p:nvSpPr>
          <p:cNvPr id="4" name="Slide Number Placeholder 3"/>
          <p:cNvSpPr>
            <a:spLocks noGrp="1"/>
          </p:cNvSpPr>
          <p:nvPr>
            <p:ph type="sldNum" sz="quarter" idx="10"/>
          </p:nvPr>
        </p:nvSpPr>
        <p:spPr/>
        <p:txBody>
          <a:bodyPr/>
          <a:lstStyle/>
          <a:p>
            <a:fld id="{32E38DB9-DF4D-4A16-8DDB-2246D19213B5}" type="slidenum">
              <a:rPr lang="en-GB" smtClean="0"/>
              <a:t>6</a:t>
            </a:fld>
            <a:endParaRPr lang="en-GB"/>
          </a:p>
        </p:txBody>
      </p:sp>
    </p:spTree>
    <p:extLst>
      <p:ext uri="{BB962C8B-B14F-4D97-AF65-F5344CB8AC3E}">
        <p14:creationId xmlns:p14="http://schemas.microsoft.com/office/powerpoint/2010/main" val="21646303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Common </a:t>
            </a:r>
            <a:r>
              <a:rPr lang="en-GB" dirty="0" err="1"/>
              <a:t>sx</a:t>
            </a:r>
            <a:r>
              <a:rPr lang="en-GB" dirty="0"/>
              <a:t>: Redness, serous discharge, photophobia, FBS, blurry vision, pain (severe/mild/absent), unilateral</a:t>
            </a:r>
          </a:p>
          <a:p>
            <a:endParaRPr lang="en-GB" dirty="0"/>
          </a:p>
          <a:p>
            <a:r>
              <a:rPr lang="en-GB" dirty="0"/>
              <a:t>Signs: IOP may be elevated (</a:t>
            </a:r>
            <a:r>
              <a:rPr lang="en-GB" dirty="0" err="1"/>
              <a:t>esp</a:t>
            </a:r>
            <a:r>
              <a:rPr lang="en-GB" dirty="0"/>
              <a:t> if iritis), reduced corneal sensation (damage to </a:t>
            </a:r>
            <a:r>
              <a:rPr lang="en-GB" dirty="0" err="1"/>
              <a:t>CNVi</a:t>
            </a:r>
            <a:r>
              <a:rPr lang="en-GB" dirty="0"/>
              <a:t>), preauricular lymphadenopathy, grouped vesicular or vesiculopustular eruption of eyelid and adjacent skin</a:t>
            </a:r>
          </a:p>
          <a:p>
            <a:endParaRPr lang="en-GB" dirty="0"/>
          </a:p>
          <a:p>
            <a:r>
              <a:rPr lang="en-GB" b="1" dirty="0"/>
              <a:t>Adeno Vs. HSV – HSV rarely forms </a:t>
            </a:r>
            <a:r>
              <a:rPr lang="en-GB" b="1" dirty="0" err="1"/>
              <a:t>pseudomembranes</a:t>
            </a:r>
            <a:endParaRPr lang="en-GB" b="1" dirty="0"/>
          </a:p>
          <a:p>
            <a:endParaRPr lang="en-GB" dirty="0"/>
          </a:p>
          <a:p>
            <a:r>
              <a:rPr lang="en-GB" dirty="0" err="1"/>
              <a:t>DDx</a:t>
            </a:r>
            <a:r>
              <a:rPr lang="en-GB" dirty="0"/>
              <a:t>: Non-HSV viral keratitis (Adeno, VZV, EBV, CMV), Acanthamoeba keratitis, Fungal keratitis, Bacterial keratitis, Infected corneal ulcer, Neurotrophic keratitis, Exposure keratopathy, Basement membrane dystrophy, Abrasion</a:t>
            </a:r>
          </a:p>
          <a:p>
            <a:endParaRPr lang="en-GB" dirty="0"/>
          </a:p>
          <a:p>
            <a:r>
              <a:rPr lang="en-GB" sz="1200" b="0" i="0" u="none" strike="noStrike" kern="1200" baseline="0" dirty="0">
                <a:solidFill>
                  <a:schemeClr val="tx1"/>
                </a:solidFill>
                <a:latin typeface="+mn-lt"/>
                <a:ea typeface="+mn-ea"/>
                <a:cs typeface="+mn-cs"/>
              </a:rPr>
              <a:t>More than one ocular site may be involved; breakdown of the Minnesota data suggests that approximately 72% of ocular HSV disease involves the corneal epithelium; 41%, the lid or conjunctiva; 12%, the corneal stroma; and 9%, the iris and associated uveal tract [Pavan-Langston D. Part one: the research perspective. Advances in the management of ocular herpetic disease. </a:t>
            </a:r>
            <a:r>
              <a:rPr lang="en-GB" sz="1200" b="0" i="0" u="none" strike="noStrike" kern="1200" baseline="0" dirty="0" err="1">
                <a:solidFill>
                  <a:schemeClr val="tx1"/>
                </a:solidFill>
                <a:latin typeface="+mn-lt"/>
                <a:ea typeface="+mn-ea"/>
                <a:cs typeface="+mn-cs"/>
              </a:rPr>
              <a:t>Candeo</a:t>
            </a:r>
            <a:r>
              <a:rPr lang="en-GB" sz="1200" b="0" i="0" u="none" strike="noStrike" kern="1200" baseline="0" dirty="0">
                <a:solidFill>
                  <a:schemeClr val="tx1"/>
                </a:solidFill>
                <a:latin typeface="+mn-lt"/>
                <a:ea typeface="+mn-ea"/>
                <a:cs typeface="+mn-cs"/>
              </a:rPr>
              <a:t> Clinical/Science Communications. 2011;1-9.]</a:t>
            </a:r>
          </a:p>
          <a:p>
            <a:endParaRPr lang="en-GB" sz="1200" b="0" i="0" u="none" strike="noStrike" kern="1200" baseline="0" dirty="0">
              <a:solidFill>
                <a:schemeClr val="tx1"/>
              </a:solidFill>
              <a:latin typeface="+mn-lt"/>
              <a:ea typeface="+mn-ea"/>
              <a:cs typeface="+mn-cs"/>
            </a:endParaRPr>
          </a:p>
          <a:p>
            <a:r>
              <a:rPr lang="en-GB" sz="1200" b="0" i="0" u="none" strike="noStrike" kern="1200" baseline="0" dirty="0">
                <a:solidFill>
                  <a:schemeClr val="tx1"/>
                </a:solidFill>
                <a:latin typeface="+mn-lt"/>
                <a:ea typeface="+mn-ea"/>
                <a:cs typeface="+mn-cs"/>
              </a:rPr>
              <a:t>A retrospective study at the Cullen Eye Institute found recurrence rates in children to be similar to those in adults, although there was a higher risk of bilateral involvement among children</a:t>
            </a:r>
          </a:p>
          <a:p>
            <a:endParaRPr lang="en-GB" sz="1200" b="0" i="0" u="none" strike="noStrike" kern="1200" baseline="0" dirty="0">
              <a:solidFill>
                <a:schemeClr val="tx1"/>
              </a:solidFill>
              <a:latin typeface="+mn-lt"/>
              <a:ea typeface="+mn-ea"/>
              <a:cs typeface="+mn-cs"/>
            </a:endParaRPr>
          </a:p>
          <a:p>
            <a:r>
              <a:rPr lang="en-GB" sz="1200" b="0" i="0" u="none" strike="noStrike" kern="1200" baseline="0" dirty="0">
                <a:solidFill>
                  <a:schemeClr val="tx1"/>
                </a:solidFill>
                <a:latin typeface="+mn-lt"/>
                <a:ea typeface="+mn-ea"/>
                <a:cs typeface="+mn-cs"/>
              </a:rPr>
              <a:t>Studies suggest that 10% of patients with epithelial keratitis will go on to experience stromal disease within a year, and patients with a history of multiple recurrences remain at increased risk for future recurrences. [The Herpetic Eye Disease Study Group. A controlled trial of oral acyclovir for the prevention of stromal keratitis or iritis in patients with herpes simplex virus epithelial keratitis. The Epithelial Keratitis Trial. </a:t>
            </a:r>
            <a:r>
              <a:rPr lang="en-GB" sz="1200" b="0" i="1" u="none" strike="noStrike" kern="1200" baseline="0" dirty="0">
                <a:solidFill>
                  <a:schemeClr val="tx1"/>
                </a:solidFill>
                <a:latin typeface="+mn-lt"/>
                <a:ea typeface="+mn-ea"/>
                <a:cs typeface="+mn-cs"/>
              </a:rPr>
              <a:t>Arch </a:t>
            </a:r>
            <a:r>
              <a:rPr lang="en-GB" sz="1200" b="0" i="1" u="none" strike="noStrike" kern="1200" baseline="0" dirty="0" err="1">
                <a:solidFill>
                  <a:schemeClr val="tx1"/>
                </a:solidFill>
                <a:latin typeface="+mn-lt"/>
                <a:ea typeface="+mn-ea"/>
                <a:cs typeface="+mn-cs"/>
              </a:rPr>
              <a:t>Ophthalmol</a:t>
            </a:r>
            <a:r>
              <a:rPr lang="en-GB" sz="1200" b="0" i="1" u="none" strike="noStrike" kern="1200" baseline="0" dirty="0">
                <a:solidFill>
                  <a:schemeClr val="tx1"/>
                </a:solidFill>
                <a:latin typeface="+mn-lt"/>
                <a:ea typeface="+mn-ea"/>
                <a:cs typeface="+mn-cs"/>
              </a:rPr>
              <a:t>. </a:t>
            </a:r>
            <a:r>
              <a:rPr lang="en-GB" sz="1200" b="0" i="0" u="none" strike="noStrike" kern="1200" baseline="0" dirty="0">
                <a:solidFill>
                  <a:schemeClr val="tx1"/>
                </a:solidFill>
                <a:latin typeface="+mn-lt"/>
                <a:ea typeface="+mn-ea"/>
                <a:cs typeface="+mn-cs"/>
              </a:rPr>
              <a:t>1997;115:703-12.]</a:t>
            </a:r>
          </a:p>
          <a:p>
            <a:endParaRPr lang="en-GB" sz="1200" b="0" i="0" u="none" strike="noStrike" kern="1200" baseline="0" dirty="0">
              <a:solidFill>
                <a:schemeClr val="tx1"/>
              </a:solidFill>
              <a:latin typeface="+mn-lt"/>
              <a:ea typeface="+mn-ea"/>
              <a:cs typeface="+mn-cs"/>
            </a:endParaRPr>
          </a:p>
          <a:p>
            <a:r>
              <a:rPr lang="en-GB" sz="1200" b="0" i="0" u="none" strike="noStrike" kern="1200" baseline="0" dirty="0">
                <a:solidFill>
                  <a:schemeClr val="tx1"/>
                </a:solidFill>
                <a:latin typeface="+mn-lt"/>
                <a:ea typeface="+mn-ea"/>
                <a:cs typeface="+mn-cs"/>
              </a:rPr>
              <a:t>Pregnancy category B3 = Insufficient human trials, animal studies showed increased occurrence of </a:t>
            </a:r>
            <a:r>
              <a:rPr lang="en-GB" sz="1200" b="0" i="0" u="none" strike="noStrike" kern="1200" baseline="0" dirty="0" err="1">
                <a:solidFill>
                  <a:schemeClr val="tx1"/>
                </a:solidFill>
                <a:latin typeface="+mn-lt"/>
                <a:ea typeface="+mn-ea"/>
                <a:cs typeface="+mn-cs"/>
              </a:rPr>
              <a:t>fetal</a:t>
            </a:r>
            <a:r>
              <a:rPr lang="en-GB" sz="1200" b="0" i="0" u="none" strike="noStrike" kern="1200" baseline="0" dirty="0">
                <a:solidFill>
                  <a:schemeClr val="tx1"/>
                </a:solidFill>
                <a:latin typeface="+mn-lt"/>
                <a:ea typeface="+mn-ea"/>
                <a:cs typeface="+mn-cs"/>
              </a:rPr>
              <a:t> damage, significance of which is considered uncertain in humans.</a:t>
            </a:r>
          </a:p>
          <a:p>
            <a:endParaRPr lang="en-GB" sz="1200" b="0" i="0" u="none" strike="noStrike" kern="1200" baseline="0" dirty="0">
              <a:solidFill>
                <a:schemeClr val="tx1"/>
              </a:solidFill>
              <a:latin typeface="+mn-lt"/>
              <a:ea typeface="+mn-ea"/>
              <a:cs typeface="+mn-cs"/>
            </a:endParaRPr>
          </a:p>
          <a:p>
            <a:r>
              <a:rPr lang="en-GB" sz="1200" b="0" i="0" u="none" strike="noStrike" kern="1200" baseline="0" dirty="0">
                <a:solidFill>
                  <a:schemeClr val="tx1"/>
                </a:solidFill>
                <a:latin typeface="+mn-lt"/>
                <a:ea typeface="+mn-ea"/>
                <a:cs typeface="+mn-cs"/>
              </a:rPr>
              <a:t>Lactation = limited </a:t>
            </a:r>
            <a:r>
              <a:rPr lang="en-GB" sz="1200" b="0" i="0" u="none" strike="noStrike" kern="1200" baseline="0" dirty="0" err="1">
                <a:solidFill>
                  <a:schemeClr val="tx1"/>
                </a:solidFill>
                <a:latin typeface="+mn-lt"/>
                <a:ea typeface="+mn-ea"/>
                <a:cs typeface="+mn-cs"/>
              </a:rPr>
              <a:t>hman</a:t>
            </a:r>
            <a:r>
              <a:rPr lang="en-GB" sz="1200" b="0" i="0" u="none" strike="noStrike" kern="1200" baseline="0" dirty="0">
                <a:solidFill>
                  <a:schemeClr val="tx1"/>
                </a:solidFill>
                <a:latin typeface="+mn-lt"/>
                <a:ea typeface="+mn-ea"/>
                <a:cs typeface="+mn-cs"/>
              </a:rPr>
              <a:t> data shows it does NOT pass into breast milk</a:t>
            </a:r>
          </a:p>
          <a:p>
            <a:endParaRPr lang="en-GB" sz="1200" b="0" i="0" u="none" strike="noStrike" kern="1200" baseline="0" dirty="0">
              <a:solidFill>
                <a:schemeClr val="tx1"/>
              </a:solidFill>
              <a:latin typeface="+mn-lt"/>
              <a:ea typeface="+mn-ea"/>
              <a:cs typeface="+mn-cs"/>
            </a:endParaRPr>
          </a:p>
          <a:p>
            <a:r>
              <a:rPr lang="en-GB" sz="1200" b="0" i="0" u="none" strike="noStrike" kern="1200" baseline="0" dirty="0">
                <a:solidFill>
                  <a:schemeClr val="tx1"/>
                </a:solidFill>
                <a:latin typeface="+mn-lt"/>
                <a:ea typeface="+mn-ea"/>
                <a:cs typeface="+mn-cs"/>
              </a:rPr>
              <a:t>Most cases of HSV epithelial keratitis resolve spontaneously within 3 weeks, however American Academy of ophthalmology recommends treating to prevent recurrence and progression to stromal or endothelial keratitis</a:t>
            </a:r>
          </a:p>
          <a:p>
            <a:endParaRPr lang="en-GB" sz="1200" b="0" i="0" u="none" strike="noStrike" kern="1200" baseline="0" dirty="0">
              <a:solidFill>
                <a:schemeClr val="tx1"/>
              </a:solidFill>
              <a:latin typeface="+mn-lt"/>
              <a:ea typeface="+mn-ea"/>
              <a:cs typeface="+mn-cs"/>
            </a:endParaRPr>
          </a:p>
          <a:p>
            <a:r>
              <a:rPr lang="en-GB" sz="1200" b="0" i="0" u="none" strike="noStrike" kern="1200" baseline="0" dirty="0">
                <a:solidFill>
                  <a:schemeClr val="tx1"/>
                </a:solidFill>
                <a:latin typeface="+mn-lt"/>
                <a:ea typeface="+mn-ea"/>
                <a:cs typeface="+mn-cs"/>
              </a:rPr>
              <a:t>Steroids can hasten progression of dendritic to geographic [</a:t>
            </a:r>
            <a:r>
              <a:rPr lang="en-GB" sz="1200" b="0" i="0" u="none" strike="noStrike" kern="1200" baseline="0" dirty="0" err="1">
                <a:solidFill>
                  <a:schemeClr val="tx1"/>
                </a:solidFill>
                <a:latin typeface="+mn-lt"/>
                <a:ea typeface="+mn-ea"/>
                <a:cs typeface="+mn-cs"/>
              </a:rPr>
              <a:t>Wilhelmus</a:t>
            </a:r>
            <a:r>
              <a:rPr lang="en-GB" sz="1200" b="0" i="0" u="none" strike="noStrike" kern="1200" baseline="0" dirty="0">
                <a:solidFill>
                  <a:schemeClr val="tx1"/>
                </a:solidFill>
                <a:latin typeface="+mn-lt"/>
                <a:ea typeface="+mn-ea"/>
                <a:cs typeface="+mn-cs"/>
              </a:rPr>
              <a:t> KR, </a:t>
            </a:r>
            <a:r>
              <a:rPr lang="en-GB" sz="1200" b="0" i="0" u="none" strike="noStrike" kern="1200" baseline="0" dirty="0" err="1">
                <a:solidFill>
                  <a:schemeClr val="tx1"/>
                </a:solidFill>
                <a:latin typeface="+mn-lt"/>
                <a:ea typeface="+mn-ea"/>
                <a:cs typeface="+mn-cs"/>
              </a:rPr>
              <a:t>Coster</a:t>
            </a:r>
            <a:r>
              <a:rPr lang="en-GB" sz="1200" b="0" i="0" u="none" strike="noStrike" kern="1200" baseline="0" dirty="0">
                <a:solidFill>
                  <a:schemeClr val="tx1"/>
                </a:solidFill>
                <a:latin typeface="+mn-lt"/>
                <a:ea typeface="+mn-ea"/>
                <a:cs typeface="+mn-cs"/>
              </a:rPr>
              <a:t> DJ, Donovan HC, et al. Prognosis indicators </a:t>
            </a:r>
            <a:r>
              <a:rPr lang="en-AU" sz="1200" b="0" i="0" u="none" strike="noStrike" kern="1200" baseline="0" dirty="0">
                <a:solidFill>
                  <a:schemeClr val="tx1"/>
                </a:solidFill>
                <a:latin typeface="+mn-lt"/>
                <a:ea typeface="+mn-ea"/>
                <a:cs typeface="+mn-cs"/>
              </a:rPr>
              <a:t>of herpetic keratitis. Analysis of a five-year observation period after corneal ulceration. </a:t>
            </a:r>
            <a:r>
              <a:rPr lang="en-AU" sz="1200" b="0" i="1" u="none" strike="noStrike" kern="1200" baseline="0" dirty="0">
                <a:solidFill>
                  <a:schemeClr val="tx1"/>
                </a:solidFill>
                <a:latin typeface="+mn-lt"/>
                <a:ea typeface="+mn-ea"/>
                <a:cs typeface="+mn-cs"/>
              </a:rPr>
              <a:t>Arch </a:t>
            </a:r>
            <a:r>
              <a:rPr lang="en-AU" sz="1200" b="0" i="1" u="none" strike="noStrike" kern="1200" baseline="0" dirty="0" err="1">
                <a:solidFill>
                  <a:schemeClr val="tx1"/>
                </a:solidFill>
                <a:latin typeface="+mn-lt"/>
                <a:ea typeface="+mn-ea"/>
                <a:cs typeface="+mn-cs"/>
              </a:rPr>
              <a:t>Ophthalmol</a:t>
            </a:r>
            <a:r>
              <a:rPr lang="en-AU" sz="1200" b="0" i="1" u="none" strike="noStrike" kern="1200" baseline="0" dirty="0">
                <a:solidFill>
                  <a:schemeClr val="tx1"/>
                </a:solidFill>
                <a:latin typeface="+mn-lt"/>
                <a:ea typeface="+mn-ea"/>
                <a:cs typeface="+mn-cs"/>
              </a:rPr>
              <a:t> </a:t>
            </a:r>
            <a:r>
              <a:rPr lang="en-AU" sz="1200" b="0" i="0" u="none" strike="noStrike" kern="1200" baseline="0" dirty="0">
                <a:solidFill>
                  <a:schemeClr val="tx1"/>
                </a:solidFill>
                <a:latin typeface="+mn-lt"/>
                <a:ea typeface="+mn-ea"/>
                <a:cs typeface="+mn-cs"/>
              </a:rPr>
              <a:t>1981;99:1578-82]</a:t>
            </a:r>
            <a:endParaRPr lang="en-GB" dirty="0"/>
          </a:p>
        </p:txBody>
      </p:sp>
      <p:sp>
        <p:nvSpPr>
          <p:cNvPr id="4" name="Slide Number Placeholder 3"/>
          <p:cNvSpPr>
            <a:spLocks noGrp="1"/>
          </p:cNvSpPr>
          <p:nvPr>
            <p:ph type="sldNum" sz="quarter" idx="10"/>
          </p:nvPr>
        </p:nvSpPr>
        <p:spPr/>
        <p:txBody>
          <a:bodyPr/>
          <a:lstStyle/>
          <a:p>
            <a:fld id="{32E38DB9-DF4D-4A16-8DDB-2246D19213B5}" type="slidenum">
              <a:rPr lang="en-GB" smtClean="0"/>
              <a:t>7</a:t>
            </a:fld>
            <a:endParaRPr lang="en-GB"/>
          </a:p>
        </p:txBody>
      </p:sp>
    </p:spTree>
    <p:extLst>
      <p:ext uri="{BB962C8B-B14F-4D97-AF65-F5344CB8AC3E}">
        <p14:creationId xmlns:p14="http://schemas.microsoft.com/office/powerpoint/2010/main" val="290928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32E38DB9-DF4D-4A16-8DDB-2246D19213B5}" type="slidenum">
              <a:rPr lang="en-GB" smtClean="0"/>
              <a:t>8</a:t>
            </a:fld>
            <a:endParaRPr lang="en-GB"/>
          </a:p>
        </p:txBody>
      </p:sp>
    </p:spTree>
    <p:extLst>
      <p:ext uri="{BB962C8B-B14F-4D97-AF65-F5344CB8AC3E}">
        <p14:creationId xmlns:p14="http://schemas.microsoft.com/office/powerpoint/2010/main" val="25928328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32E38DB9-DF4D-4A16-8DDB-2246D19213B5}" type="slidenum">
              <a:rPr lang="en-GB" smtClean="0"/>
              <a:t>9</a:t>
            </a:fld>
            <a:endParaRPr lang="en-GB"/>
          </a:p>
        </p:txBody>
      </p:sp>
    </p:spTree>
    <p:extLst>
      <p:ext uri="{BB962C8B-B14F-4D97-AF65-F5344CB8AC3E}">
        <p14:creationId xmlns:p14="http://schemas.microsoft.com/office/powerpoint/2010/main" val="36909658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RE: pituitary adenoma from below </a:t>
            </a:r>
            <a:r>
              <a:rPr lang="en-GB" dirty="0">
                <a:sym typeface="Wingdings" panose="05000000000000000000" pitchFamily="2" charset="2"/>
              </a:rPr>
              <a:t> VF defect starts superiorly</a:t>
            </a:r>
          </a:p>
          <a:p>
            <a:endParaRPr lang="en-GB" dirty="0">
              <a:sym typeface="Wingdings" panose="05000000000000000000" pitchFamily="2" charset="2"/>
            </a:endParaRPr>
          </a:p>
          <a:p>
            <a:r>
              <a:rPr lang="en-GB" dirty="0">
                <a:sym typeface="Wingdings" panose="05000000000000000000" pitchFamily="2" charset="2"/>
              </a:rPr>
              <a:t>Craniopharyngioma from above  VF starts inferiorly</a:t>
            </a:r>
            <a:endParaRPr lang="en-GB" dirty="0"/>
          </a:p>
        </p:txBody>
      </p:sp>
      <p:sp>
        <p:nvSpPr>
          <p:cNvPr id="4" name="Slide Number Placeholder 3"/>
          <p:cNvSpPr>
            <a:spLocks noGrp="1"/>
          </p:cNvSpPr>
          <p:nvPr>
            <p:ph type="sldNum" sz="quarter" idx="10"/>
          </p:nvPr>
        </p:nvSpPr>
        <p:spPr/>
        <p:txBody>
          <a:bodyPr/>
          <a:lstStyle/>
          <a:p>
            <a:fld id="{32E38DB9-DF4D-4A16-8DDB-2246D19213B5}" type="slidenum">
              <a:rPr lang="en-GB" smtClean="0"/>
              <a:t>13</a:t>
            </a:fld>
            <a:endParaRPr lang="en-GB"/>
          </a:p>
        </p:txBody>
      </p:sp>
    </p:spTree>
    <p:extLst>
      <p:ext uri="{BB962C8B-B14F-4D97-AF65-F5344CB8AC3E}">
        <p14:creationId xmlns:p14="http://schemas.microsoft.com/office/powerpoint/2010/main" val="34933048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BD8B9394-3942-4BD8-822F-ECEE01B1D1DD}" type="slidenum">
              <a:rPr lang="en-AU" smtClean="0"/>
              <a:t>14</a:t>
            </a:fld>
            <a:endParaRPr lang="en-AU"/>
          </a:p>
        </p:txBody>
      </p:sp>
    </p:spTree>
    <p:extLst>
      <p:ext uri="{BB962C8B-B14F-4D97-AF65-F5344CB8AC3E}">
        <p14:creationId xmlns:p14="http://schemas.microsoft.com/office/powerpoint/2010/main" val="3489259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AU" dirty="0"/>
              <a:t>Corneal sensitivity, check for preauricular lymphadenopathy, check for epithelial involvement (fluorescein), DFE</a:t>
            </a:r>
          </a:p>
          <a:p>
            <a:pPr marL="171450" indent="-171450">
              <a:buFont typeface="Arial" panose="020B0604020202020204" pitchFamily="34" charset="0"/>
              <a:buChar char="•"/>
            </a:pPr>
            <a:r>
              <a:rPr lang="en-AU" dirty="0"/>
              <a:t>Why do you think it is painless?</a:t>
            </a:r>
          </a:p>
        </p:txBody>
      </p:sp>
      <p:sp>
        <p:nvSpPr>
          <p:cNvPr id="4" name="Slide Number Placeholder 3"/>
          <p:cNvSpPr>
            <a:spLocks noGrp="1"/>
          </p:cNvSpPr>
          <p:nvPr>
            <p:ph type="sldNum" sz="quarter" idx="10"/>
          </p:nvPr>
        </p:nvSpPr>
        <p:spPr/>
        <p:txBody>
          <a:bodyPr/>
          <a:lstStyle/>
          <a:p>
            <a:fld id="{BD8B9394-3942-4BD8-822F-ECEE01B1D1DD}" type="slidenum">
              <a:rPr lang="en-AU" smtClean="0"/>
              <a:t>15</a:t>
            </a:fld>
            <a:endParaRPr lang="en-AU"/>
          </a:p>
        </p:txBody>
      </p:sp>
    </p:spTree>
    <p:extLst>
      <p:ext uri="{BB962C8B-B14F-4D97-AF65-F5344CB8AC3E}">
        <p14:creationId xmlns:p14="http://schemas.microsoft.com/office/powerpoint/2010/main" val="977261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kern="1200" dirty="0">
                <a:solidFill>
                  <a:schemeClr val="tx1"/>
                </a:solidFill>
                <a:effectLst/>
                <a:latin typeface="+mn-lt"/>
                <a:ea typeface="+mn-ea"/>
                <a:cs typeface="+mn-cs"/>
              </a:rPr>
              <a:t>HSV </a:t>
            </a:r>
            <a:r>
              <a:rPr lang="en-AU" sz="1200" b="0" i="1" kern="1200" dirty="0">
                <a:solidFill>
                  <a:schemeClr val="tx1"/>
                </a:solidFill>
                <a:effectLst/>
                <a:latin typeface="+mn-lt"/>
                <a:ea typeface="+mn-ea"/>
                <a:cs typeface="+mn-cs"/>
              </a:rPr>
              <a:t>stromal keratitis</a:t>
            </a:r>
            <a:r>
              <a:rPr lang="en-AU" sz="1200" b="0" i="0" kern="1200" dirty="0">
                <a:solidFill>
                  <a:schemeClr val="tx1"/>
                </a:solidFill>
                <a:effectLst/>
                <a:latin typeface="+mn-lt"/>
                <a:ea typeface="+mn-ea"/>
                <a:cs typeface="+mn-cs"/>
              </a:rPr>
              <a:t> is associated with the highest and most severe morbidity of any ocular herpetic disease. Although this condition frequently follows previous HSV epithelial keratitis, it can be the initial presentation of ocular herpetic disease. The vast majority of cases are an immune stromal keratitis (ISK), which involves the antibody-complement cascade against retained viral antigens in the stroma. The quintessential manifestation is a mid-to-deep stromal infiltrate that is associated with an intact epithelium and minimal stromal necrosis and thinning. However, the initial presentation may be multiple areas of diffuse stromal haze (such as that in our case presentation) that is often dismissed by clinicians as "chronic stromal scarring." Chronic ISK may be associated with progressive mid-to-deep stromal vascularization, with or without associated lipid keratopathy and permanent corneal scarring (Figure 4). Necrotizing interstitial keratitis (NIK) is a rare manifestation that is believed to be associated with live viral proliferation within the stroma. It presents with an epithelial defect, dense stromal infiltration, and progressive necrosis that often results in corneal perforation. </a:t>
            </a:r>
            <a:endParaRPr lang="en-AU" dirty="0"/>
          </a:p>
        </p:txBody>
      </p:sp>
      <p:sp>
        <p:nvSpPr>
          <p:cNvPr id="4" name="Slide Number Placeholder 3"/>
          <p:cNvSpPr>
            <a:spLocks noGrp="1"/>
          </p:cNvSpPr>
          <p:nvPr>
            <p:ph type="sldNum" sz="quarter" idx="10"/>
          </p:nvPr>
        </p:nvSpPr>
        <p:spPr/>
        <p:txBody>
          <a:bodyPr/>
          <a:lstStyle/>
          <a:p>
            <a:fld id="{BD8B9394-3942-4BD8-822F-ECEE01B1D1DD}" type="slidenum">
              <a:rPr lang="en-AU" smtClean="0"/>
              <a:t>16</a:t>
            </a:fld>
            <a:endParaRPr lang="en-AU"/>
          </a:p>
        </p:txBody>
      </p:sp>
    </p:spTree>
    <p:extLst>
      <p:ext uri="{BB962C8B-B14F-4D97-AF65-F5344CB8AC3E}">
        <p14:creationId xmlns:p14="http://schemas.microsoft.com/office/powerpoint/2010/main" val="22217381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kern="1200" dirty="0">
                <a:solidFill>
                  <a:schemeClr val="tx1"/>
                </a:solidFill>
                <a:effectLst/>
                <a:latin typeface="+mn-lt"/>
                <a:ea typeface="+mn-ea"/>
                <a:cs typeface="+mn-cs"/>
              </a:rPr>
              <a:t>Rate of recurrence of ocular HSV disease reduced by 50% - recommend oral acyclovir 400mg BID in patients who have had history of (but not current) HSV stromal keratitis, especially younger patients</a:t>
            </a:r>
          </a:p>
          <a:p>
            <a:r>
              <a:rPr lang="en-AU" sz="1200" kern="1200" dirty="0">
                <a:solidFill>
                  <a:schemeClr val="tx1"/>
                </a:solidFill>
                <a:effectLst/>
                <a:latin typeface="+mn-lt"/>
                <a:ea typeface="+mn-ea"/>
                <a:cs typeface="+mn-cs"/>
              </a:rPr>
              <a:t>The benefit of prophylactic/preventative therapy is only sustained for as long as the therapy is sustained</a:t>
            </a:r>
            <a:endParaRPr lang="en-AU" dirty="0"/>
          </a:p>
        </p:txBody>
      </p:sp>
      <p:sp>
        <p:nvSpPr>
          <p:cNvPr id="4" name="Slide Number Placeholder 3"/>
          <p:cNvSpPr>
            <a:spLocks noGrp="1"/>
          </p:cNvSpPr>
          <p:nvPr>
            <p:ph type="sldNum" sz="quarter" idx="10"/>
          </p:nvPr>
        </p:nvSpPr>
        <p:spPr/>
        <p:txBody>
          <a:bodyPr/>
          <a:lstStyle/>
          <a:p>
            <a:fld id="{BD8B9394-3942-4BD8-822F-ECEE01B1D1DD}" type="slidenum">
              <a:rPr lang="en-AU" smtClean="0"/>
              <a:t>17</a:t>
            </a:fld>
            <a:endParaRPr lang="en-AU"/>
          </a:p>
        </p:txBody>
      </p:sp>
    </p:spTree>
    <p:extLst>
      <p:ext uri="{BB962C8B-B14F-4D97-AF65-F5344CB8AC3E}">
        <p14:creationId xmlns:p14="http://schemas.microsoft.com/office/powerpoint/2010/main" val="12311186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b="0" dirty="0">
              <a:effectLst/>
            </a:endParaRPr>
          </a:p>
          <a:p>
            <a:pPr lvl="1" rtl="0" fontAlgn="base"/>
            <a:r>
              <a:rPr lang="en-GB" sz="1200" b="0" i="0" u="none" strike="noStrike" kern="1200" dirty="0">
                <a:solidFill>
                  <a:schemeClr val="tx1"/>
                </a:solidFill>
                <a:effectLst/>
                <a:latin typeface="+mn-lt"/>
                <a:ea typeface="+mn-ea"/>
                <a:cs typeface="+mn-cs"/>
              </a:rPr>
              <a:t>Main symptom: intense skin rashes</a:t>
            </a:r>
          </a:p>
          <a:p>
            <a:pPr lvl="1" rtl="0" fontAlgn="base"/>
            <a:r>
              <a:rPr lang="en-GB" sz="1200" b="0" i="0" u="none" strike="noStrike" kern="1200" dirty="0">
                <a:solidFill>
                  <a:schemeClr val="tx1"/>
                </a:solidFill>
                <a:effectLst/>
                <a:latin typeface="+mn-lt"/>
                <a:ea typeface="+mn-ea"/>
                <a:cs typeface="+mn-cs"/>
              </a:rPr>
              <a:t>Other symptoms: photophobia, burning, tearing, mild ptosis, and thick, yellow mucoid discharge </a:t>
            </a:r>
          </a:p>
          <a:p>
            <a:r>
              <a:rPr lang="en-GB" dirty="0"/>
              <a:t>VKC</a:t>
            </a:r>
          </a:p>
          <a:p>
            <a:pPr rtl="0" fontAlgn="base"/>
            <a:r>
              <a:rPr lang="en-GB" sz="1200" b="0" i="0" u="none" strike="noStrike" kern="1200" dirty="0">
                <a:solidFill>
                  <a:schemeClr val="tx1"/>
                </a:solidFill>
                <a:effectLst/>
                <a:latin typeface="+mn-lt"/>
                <a:ea typeface="+mn-ea"/>
                <a:cs typeface="+mn-cs"/>
              </a:rPr>
              <a:t>1. Palpebral - marked </a:t>
            </a:r>
            <a:r>
              <a:rPr lang="en-GB" sz="1200" b="1" i="0" u="none" strike="noStrike" kern="1200" dirty="0">
                <a:solidFill>
                  <a:schemeClr val="tx1"/>
                </a:solidFill>
                <a:effectLst/>
                <a:latin typeface="+mn-lt"/>
                <a:ea typeface="+mn-ea"/>
                <a:cs typeface="+mn-cs"/>
              </a:rPr>
              <a:t>cobblestone papillae</a:t>
            </a:r>
            <a:r>
              <a:rPr lang="en-GB" sz="1200" b="0" i="0" u="none" strike="noStrike" kern="1200" dirty="0">
                <a:solidFill>
                  <a:schemeClr val="tx1"/>
                </a:solidFill>
                <a:effectLst/>
                <a:latin typeface="+mn-lt"/>
                <a:ea typeface="+mn-ea"/>
                <a:cs typeface="+mn-cs"/>
              </a:rPr>
              <a:t> on the superior tarsal conjunctiva, with minimal involvement of lower lid. </a:t>
            </a:r>
          </a:p>
          <a:p>
            <a:pPr rtl="0" fontAlgn="base"/>
            <a:r>
              <a:rPr lang="en-GB" sz="1200" b="0" i="0" u="none" strike="noStrike" kern="1200" dirty="0">
                <a:solidFill>
                  <a:schemeClr val="tx1"/>
                </a:solidFill>
                <a:effectLst/>
                <a:latin typeface="+mn-lt"/>
                <a:ea typeface="+mn-ea"/>
                <a:cs typeface="+mn-cs"/>
              </a:rPr>
              <a:t>2. </a:t>
            </a:r>
            <a:r>
              <a:rPr lang="en-GB" sz="1200" b="0" i="0" u="none" strike="noStrike" kern="1200" dirty="0" err="1">
                <a:solidFill>
                  <a:schemeClr val="tx1"/>
                </a:solidFill>
                <a:effectLst/>
                <a:latin typeface="+mn-lt"/>
                <a:ea typeface="+mn-ea"/>
                <a:cs typeface="+mn-cs"/>
              </a:rPr>
              <a:t>Limbal</a:t>
            </a:r>
            <a:r>
              <a:rPr lang="en-GB" sz="1200" b="0" i="0" u="none" strike="noStrike" kern="1200" dirty="0">
                <a:solidFill>
                  <a:schemeClr val="tx1"/>
                </a:solidFill>
                <a:effectLst/>
                <a:latin typeface="+mn-lt"/>
                <a:ea typeface="+mn-ea"/>
                <a:cs typeface="+mn-cs"/>
              </a:rPr>
              <a:t> - broad, thickened, gelatinous opacification of the superior limbus. </a:t>
            </a:r>
            <a:r>
              <a:rPr lang="en-GB" sz="1200" b="1" i="0" u="none" strike="noStrike" kern="1200" dirty="0">
                <a:solidFill>
                  <a:schemeClr val="tx1"/>
                </a:solidFill>
                <a:effectLst/>
                <a:latin typeface="+mn-lt"/>
                <a:ea typeface="+mn-ea"/>
                <a:cs typeface="+mn-cs"/>
              </a:rPr>
              <a:t>Horner-</a:t>
            </a:r>
            <a:r>
              <a:rPr lang="en-GB" sz="1200" b="1" i="0" u="none" strike="noStrike" kern="1200" dirty="0" err="1">
                <a:solidFill>
                  <a:schemeClr val="tx1"/>
                </a:solidFill>
                <a:effectLst/>
                <a:latin typeface="+mn-lt"/>
                <a:ea typeface="+mn-ea"/>
                <a:cs typeface="+mn-cs"/>
              </a:rPr>
              <a:t>Trantas</a:t>
            </a:r>
            <a:r>
              <a:rPr lang="en-GB" sz="1200" b="1" i="0" u="none" strike="noStrike" kern="1200" dirty="0">
                <a:solidFill>
                  <a:schemeClr val="tx1"/>
                </a:solidFill>
                <a:effectLst/>
                <a:latin typeface="+mn-lt"/>
                <a:ea typeface="+mn-ea"/>
                <a:cs typeface="+mn-cs"/>
              </a:rPr>
              <a:t> Dots</a:t>
            </a:r>
            <a:r>
              <a:rPr lang="en-GB" sz="1200" b="0" i="0" u="none" strike="noStrike" kern="1200" dirty="0">
                <a:solidFill>
                  <a:schemeClr val="tx1"/>
                </a:solidFill>
                <a:effectLst/>
                <a:latin typeface="+mn-lt"/>
                <a:ea typeface="+mn-ea"/>
                <a:cs typeface="+mn-cs"/>
              </a:rPr>
              <a:t> (while nodules composed of eosinophils and epithelial debris located at the limbus) are characteristic of </a:t>
            </a:r>
            <a:r>
              <a:rPr lang="en-GB" sz="1200" b="0" i="0" u="none" strike="noStrike" kern="1200" dirty="0" err="1">
                <a:solidFill>
                  <a:schemeClr val="tx1"/>
                </a:solidFill>
                <a:effectLst/>
                <a:latin typeface="+mn-lt"/>
                <a:ea typeface="+mn-ea"/>
                <a:cs typeface="+mn-cs"/>
              </a:rPr>
              <a:t>limbal</a:t>
            </a:r>
            <a:r>
              <a:rPr lang="en-GB" sz="1200" b="0" i="0" u="none" strike="noStrike" kern="1200" dirty="0">
                <a:solidFill>
                  <a:schemeClr val="tx1"/>
                </a:solidFill>
                <a:effectLst/>
                <a:latin typeface="+mn-lt"/>
                <a:ea typeface="+mn-ea"/>
                <a:cs typeface="+mn-cs"/>
              </a:rPr>
              <a:t> VKC. Px with VKC have elevated levels of histamine and other cytokines and immunologic molecules in the tear film. </a:t>
            </a:r>
            <a:r>
              <a:rPr lang="en-GB" sz="1200" b="0" i="1" u="none" strike="noStrike" kern="1200" dirty="0">
                <a:solidFill>
                  <a:schemeClr val="tx1"/>
                </a:solidFill>
                <a:effectLst/>
                <a:latin typeface="+mn-lt"/>
                <a:ea typeface="+mn-ea"/>
                <a:cs typeface="+mn-cs"/>
              </a:rPr>
              <a:t>Common in Black and Asians </a:t>
            </a:r>
            <a:r>
              <a:rPr lang="en-GB" sz="1200" b="0" i="0" u="none" strike="noStrike" kern="1200" dirty="0">
                <a:solidFill>
                  <a:schemeClr val="tx1"/>
                </a:solidFill>
                <a:effectLst/>
                <a:latin typeface="+mn-lt"/>
                <a:ea typeface="+mn-ea"/>
                <a:cs typeface="+mn-cs"/>
              </a:rPr>
              <a:t>. Superior corneal ‘shield’ ulcer (well-delineated, sterile, </a:t>
            </a:r>
            <a:r>
              <a:rPr lang="en-GB" sz="1200" b="0" i="0" u="none" strike="noStrike" kern="1200" dirty="0" err="1">
                <a:solidFill>
                  <a:schemeClr val="tx1"/>
                </a:solidFill>
                <a:effectLst/>
                <a:latin typeface="+mn-lt"/>
                <a:ea typeface="+mn-ea"/>
                <a:cs typeface="+mn-cs"/>
              </a:rPr>
              <a:t>gray</a:t>
            </a:r>
            <a:r>
              <a:rPr lang="en-GB" sz="1200" b="0" i="0" u="none" strike="noStrike" kern="1200" dirty="0">
                <a:solidFill>
                  <a:schemeClr val="tx1"/>
                </a:solidFill>
                <a:effectLst/>
                <a:latin typeface="+mn-lt"/>
                <a:ea typeface="+mn-ea"/>
                <a:cs typeface="+mn-cs"/>
              </a:rPr>
              <a:t>-white infiltrate)</a:t>
            </a:r>
          </a:p>
          <a:p>
            <a:pPr rtl="0" fontAlgn="base"/>
            <a:r>
              <a:rPr lang="en-GB" sz="1200" b="0" i="0" u="none" strike="noStrike" kern="1200" dirty="0">
                <a:solidFill>
                  <a:schemeClr val="tx1"/>
                </a:solidFill>
                <a:effectLst/>
                <a:latin typeface="+mn-lt"/>
                <a:ea typeface="+mn-ea"/>
                <a:cs typeface="+mn-cs"/>
              </a:rPr>
              <a:t>3. Mixed</a:t>
            </a:r>
          </a:p>
          <a:p>
            <a:endParaRPr lang="en-GB" dirty="0"/>
          </a:p>
          <a:p>
            <a:pPr rtl="0"/>
            <a:r>
              <a:rPr lang="en-GB" sz="1200" b="0" i="0" u="none" strike="noStrike" kern="1200" dirty="0" err="1">
                <a:solidFill>
                  <a:schemeClr val="tx1"/>
                </a:solidFill>
                <a:effectLst/>
                <a:latin typeface="+mn-lt"/>
                <a:ea typeface="+mn-ea"/>
                <a:cs typeface="+mn-cs"/>
              </a:rPr>
              <a:t>DDx</a:t>
            </a:r>
            <a:endParaRPr lang="en-GB" b="0" dirty="0">
              <a:effectLst/>
            </a:endParaRPr>
          </a:p>
          <a:p>
            <a:pPr rtl="0" fontAlgn="base"/>
            <a:r>
              <a:rPr lang="en-GB" sz="1200" b="0" i="0" u="none" strike="noStrike" kern="1200" dirty="0">
                <a:solidFill>
                  <a:schemeClr val="tx1"/>
                </a:solidFill>
                <a:effectLst/>
                <a:latin typeface="+mn-lt"/>
                <a:ea typeface="+mn-ea"/>
                <a:cs typeface="+mn-cs"/>
              </a:rPr>
              <a:t>Acute Allergic Conjunctivitis (Seasonal/Perennial)</a:t>
            </a:r>
          </a:p>
          <a:p>
            <a:pPr rtl="0" fontAlgn="base"/>
            <a:r>
              <a:rPr lang="en-GB" sz="1200" b="0" i="0" u="none" strike="noStrike" kern="1200" dirty="0">
                <a:solidFill>
                  <a:schemeClr val="tx1"/>
                </a:solidFill>
                <a:effectLst/>
                <a:latin typeface="+mn-lt"/>
                <a:ea typeface="+mn-ea"/>
                <a:cs typeface="+mn-cs"/>
              </a:rPr>
              <a:t>Chronic Atopic </a:t>
            </a:r>
            <a:r>
              <a:rPr lang="en-GB" sz="1200" b="0" i="0" u="none" strike="noStrike" kern="1200" dirty="0" err="1">
                <a:solidFill>
                  <a:schemeClr val="tx1"/>
                </a:solidFill>
                <a:effectLst/>
                <a:latin typeface="+mn-lt"/>
                <a:ea typeface="+mn-ea"/>
                <a:cs typeface="+mn-cs"/>
              </a:rPr>
              <a:t>Keratoconjunctivitis</a:t>
            </a:r>
            <a:r>
              <a:rPr lang="en-GB" sz="1200" b="0" i="0" u="none" strike="noStrike" kern="1200" dirty="0">
                <a:solidFill>
                  <a:schemeClr val="tx1"/>
                </a:solidFill>
                <a:effectLst/>
                <a:latin typeface="+mn-lt"/>
                <a:ea typeface="+mn-ea"/>
                <a:cs typeface="+mn-cs"/>
              </a:rPr>
              <a:t> </a:t>
            </a:r>
          </a:p>
          <a:p>
            <a:pPr lvl="1" rtl="0" fontAlgn="base"/>
            <a:r>
              <a:rPr lang="en-GB" sz="1200" b="0" i="0" u="none" strike="noStrike" kern="1200" dirty="0">
                <a:solidFill>
                  <a:schemeClr val="tx1"/>
                </a:solidFill>
                <a:effectLst/>
                <a:latin typeface="+mn-lt"/>
                <a:ea typeface="+mn-ea"/>
                <a:cs typeface="+mn-cs"/>
              </a:rPr>
              <a:t>Late teens - fifth decade, slight male predominance </a:t>
            </a:r>
          </a:p>
          <a:p>
            <a:pPr lvl="1" rtl="0" fontAlgn="base"/>
            <a:r>
              <a:rPr lang="en-GB" sz="1200" b="0" i="0" u="none" strike="noStrike" kern="1200" dirty="0">
                <a:solidFill>
                  <a:schemeClr val="tx1"/>
                </a:solidFill>
                <a:effectLst/>
                <a:latin typeface="+mn-lt"/>
                <a:ea typeface="+mn-ea"/>
                <a:cs typeface="+mn-cs"/>
              </a:rPr>
              <a:t>20 - 40% of </a:t>
            </a:r>
            <a:r>
              <a:rPr lang="en-GB" sz="1200" b="0" i="0" u="none" strike="noStrike" kern="1200" dirty="0" err="1">
                <a:solidFill>
                  <a:schemeClr val="tx1"/>
                </a:solidFill>
                <a:effectLst/>
                <a:latin typeface="+mn-lt"/>
                <a:ea typeface="+mn-ea"/>
                <a:cs typeface="+mn-cs"/>
              </a:rPr>
              <a:t>Px’s</a:t>
            </a:r>
            <a:r>
              <a:rPr lang="en-GB" sz="1200" b="0" i="0" u="none" strike="noStrike" kern="1200" dirty="0">
                <a:solidFill>
                  <a:schemeClr val="tx1"/>
                </a:solidFill>
                <a:effectLst/>
                <a:latin typeface="+mn-lt"/>
                <a:ea typeface="+mn-ea"/>
                <a:cs typeface="+mn-cs"/>
              </a:rPr>
              <a:t> will have atopic dermatitis </a:t>
            </a:r>
          </a:p>
          <a:p>
            <a:pPr lvl="1" rtl="0" fontAlgn="base"/>
            <a:r>
              <a:rPr lang="en-GB" sz="1200" b="0" i="0" u="none" strike="noStrike" kern="1200" dirty="0">
                <a:solidFill>
                  <a:schemeClr val="tx1"/>
                </a:solidFill>
                <a:effectLst/>
                <a:latin typeface="+mn-lt"/>
                <a:ea typeface="+mn-ea"/>
                <a:cs typeface="+mn-cs"/>
              </a:rPr>
              <a:t>Papillary hypertrophy of the lower tarsal conjunctiva is the most common sign</a:t>
            </a:r>
          </a:p>
          <a:p>
            <a:pPr lvl="1" rtl="0" fontAlgn="base"/>
            <a:r>
              <a:rPr lang="en-GB" sz="1200" b="0" i="0" u="none" strike="noStrike" kern="1200" dirty="0">
                <a:solidFill>
                  <a:schemeClr val="tx1"/>
                </a:solidFill>
                <a:effectLst/>
                <a:latin typeface="+mn-lt"/>
                <a:ea typeface="+mn-ea"/>
                <a:cs typeface="+mn-cs"/>
              </a:rPr>
              <a:t>Cobblestone papillae on the superior tarsal conjunctiva may also occur </a:t>
            </a:r>
          </a:p>
          <a:p>
            <a:pPr rtl="0" fontAlgn="base"/>
            <a:r>
              <a:rPr lang="en-GB" sz="1200" b="0" i="0" u="none" strike="noStrike" kern="1200" dirty="0">
                <a:solidFill>
                  <a:schemeClr val="tx1"/>
                </a:solidFill>
                <a:effectLst/>
                <a:latin typeface="+mn-lt"/>
                <a:ea typeface="+mn-ea"/>
                <a:cs typeface="+mn-cs"/>
              </a:rPr>
              <a:t>Bacterial Conjunctivitis </a:t>
            </a:r>
          </a:p>
          <a:p>
            <a:pPr rtl="0" fontAlgn="base"/>
            <a:r>
              <a:rPr lang="en-GB" sz="1200" b="0" i="0" u="none" strike="noStrike" kern="1200" dirty="0">
                <a:solidFill>
                  <a:schemeClr val="tx1"/>
                </a:solidFill>
                <a:effectLst/>
                <a:latin typeface="+mn-lt"/>
                <a:ea typeface="+mn-ea"/>
                <a:cs typeface="+mn-cs"/>
              </a:rPr>
              <a:t>Allergic </a:t>
            </a:r>
            <a:r>
              <a:rPr lang="en-GB" sz="1200" b="0" i="0" u="none" strike="noStrike" kern="1200" dirty="0" err="1">
                <a:solidFill>
                  <a:schemeClr val="tx1"/>
                </a:solidFill>
                <a:effectLst/>
                <a:latin typeface="+mn-lt"/>
                <a:ea typeface="+mn-ea"/>
                <a:cs typeface="+mn-cs"/>
              </a:rPr>
              <a:t>Dermatoconjunctivitis</a:t>
            </a:r>
            <a:r>
              <a:rPr lang="en-GB" sz="1200" b="0" i="0" u="none" strike="noStrike" kern="1200" dirty="0">
                <a:solidFill>
                  <a:schemeClr val="tx1"/>
                </a:solidFill>
                <a:effectLst/>
                <a:latin typeface="+mn-lt"/>
                <a:ea typeface="+mn-ea"/>
                <a:cs typeface="+mn-cs"/>
              </a:rPr>
              <a:t> </a:t>
            </a:r>
          </a:p>
          <a:p>
            <a:pPr rtl="0" fontAlgn="base"/>
            <a:r>
              <a:rPr lang="en-GB" sz="1200" b="0" i="0" u="none" strike="noStrike" kern="1200" dirty="0">
                <a:solidFill>
                  <a:schemeClr val="tx1"/>
                </a:solidFill>
                <a:effectLst/>
                <a:latin typeface="+mn-lt"/>
                <a:ea typeface="+mn-ea"/>
                <a:cs typeface="+mn-cs"/>
              </a:rPr>
              <a:t>GPC </a:t>
            </a:r>
          </a:p>
          <a:p>
            <a:endParaRPr lang="en-GB" dirty="0"/>
          </a:p>
          <a:p>
            <a:pPr rtl="0"/>
            <a:r>
              <a:rPr lang="en-GB" sz="1200" b="0" i="0" u="none" strike="noStrike" kern="1200" dirty="0">
                <a:solidFill>
                  <a:schemeClr val="tx1"/>
                </a:solidFill>
                <a:effectLst/>
                <a:latin typeface="+mn-lt"/>
                <a:ea typeface="+mn-ea"/>
                <a:cs typeface="+mn-cs"/>
              </a:rPr>
              <a:t>Work up</a:t>
            </a:r>
            <a:endParaRPr lang="en-GB" b="0" dirty="0">
              <a:effectLst/>
            </a:endParaRPr>
          </a:p>
          <a:p>
            <a:pPr rtl="0" fontAlgn="base"/>
            <a:r>
              <a:rPr lang="en-GB" sz="1200" b="0" i="0" u="none" strike="noStrike" kern="1200" dirty="0" err="1">
                <a:solidFill>
                  <a:schemeClr val="tx1"/>
                </a:solidFill>
                <a:effectLst/>
                <a:latin typeface="+mn-lt"/>
                <a:ea typeface="+mn-ea"/>
                <a:cs typeface="+mn-cs"/>
              </a:rPr>
              <a:t>Hx</a:t>
            </a:r>
            <a:r>
              <a:rPr lang="en-GB" sz="1200" b="0" i="0" u="none" strike="noStrike" kern="1200" dirty="0">
                <a:solidFill>
                  <a:schemeClr val="tx1"/>
                </a:solidFill>
                <a:effectLst/>
                <a:latin typeface="+mn-lt"/>
                <a:ea typeface="+mn-ea"/>
                <a:cs typeface="+mn-cs"/>
              </a:rPr>
              <a:t> of recurrences?</a:t>
            </a:r>
          </a:p>
          <a:p>
            <a:pPr rtl="0" fontAlgn="base"/>
            <a:r>
              <a:rPr lang="en-GB" sz="1200" b="0" i="0" u="none" strike="noStrike" kern="1200" dirty="0">
                <a:solidFill>
                  <a:schemeClr val="tx1"/>
                </a:solidFill>
                <a:effectLst/>
                <a:latin typeface="+mn-lt"/>
                <a:ea typeface="+mn-ea"/>
                <a:cs typeface="+mn-cs"/>
              </a:rPr>
              <a:t>Rule out AKC- very similar but with </a:t>
            </a:r>
            <a:r>
              <a:rPr lang="en-GB" sz="1200" b="0" i="0" u="none" strike="noStrike" kern="1200" dirty="0" err="1">
                <a:solidFill>
                  <a:schemeClr val="tx1"/>
                </a:solidFill>
                <a:effectLst/>
                <a:latin typeface="+mn-lt"/>
                <a:ea typeface="+mn-ea"/>
                <a:cs typeface="+mn-cs"/>
              </a:rPr>
              <a:t>hx</a:t>
            </a:r>
            <a:r>
              <a:rPr lang="en-GB" sz="1200" b="0" i="0" u="none" strike="noStrike" kern="1200" dirty="0">
                <a:solidFill>
                  <a:schemeClr val="tx1"/>
                </a:solidFill>
                <a:effectLst/>
                <a:latin typeface="+mn-lt"/>
                <a:ea typeface="+mn-ea"/>
                <a:cs typeface="+mn-cs"/>
              </a:rPr>
              <a:t> of atopy  (and adults c.f. VKC)</a:t>
            </a:r>
          </a:p>
          <a:p>
            <a:pPr rtl="0" fontAlgn="base"/>
            <a:r>
              <a:rPr lang="en-GB" sz="1200" b="0" i="0" u="none" strike="noStrike" kern="1200" dirty="0">
                <a:solidFill>
                  <a:schemeClr val="tx1"/>
                </a:solidFill>
                <a:effectLst/>
                <a:latin typeface="+mn-lt"/>
                <a:ea typeface="+mn-ea"/>
                <a:cs typeface="+mn-cs"/>
              </a:rPr>
              <a:t>Grade shield ulcer (Cameron grading scale)</a:t>
            </a:r>
          </a:p>
          <a:p>
            <a:pPr lvl="1" rtl="0" fontAlgn="base"/>
            <a:r>
              <a:rPr lang="en-GB" sz="1200" b="0" i="0" u="none" strike="noStrike" kern="1200" dirty="0">
                <a:solidFill>
                  <a:schemeClr val="tx1"/>
                </a:solidFill>
                <a:effectLst/>
                <a:latin typeface="+mn-lt"/>
                <a:ea typeface="+mn-ea"/>
                <a:cs typeface="+mn-cs"/>
              </a:rPr>
              <a:t>Grade 1: epithelial defect + transparent base </a:t>
            </a:r>
          </a:p>
          <a:p>
            <a:pPr lvl="1" rtl="0" fontAlgn="base"/>
            <a:r>
              <a:rPr lang="en-GB" sz="1200" b="0" i="0" u="none" strike="noStrike" kern="1200" dirty="0">
                <a:solidFill>
                  <a:schemeClr val="tx1"/>
                </a:solidFill>
                <a:effectLst/>
                <a:latin typeface="+mn-lt"/>
                <a:ea typeface="+mn-ea"/>
                <a:cs typeface="+mn-cs"/>
              </a:rPr>
              <a:t>Grade 2: Translucent base +/- opaque deposits </a:t>
            </a:r>
          </a:p>
          <a:p>
            <a:pPr lvl="1" rtl="0" fontAlgn="base"/>
            <a:r>
              <a:rPr lang="en-GB" sz="1200" b="0" i="0" u="none" strike="noStrike" kern="1200" dirty="0">
                <a:solidFill>
                  <a:schemeClr val="tx1"/>
                </a:solidFill>
                <a:effectLst/>
                <a:latin typeface="+mn-lt"/>
                <a:ea typeface="+mn-ea"/>
                <a:cs typeface="+mn-cs"/>
              </a:rPr>
              <a:t>Grade 3: Opaque elevated plaque (delays re-epithelialization, because it is cytotoxic - releases histamine, need to debride this)</a:t>
            </a:r>
          </a:p>
          <a:p>
            <a:pPr rtl="0"/>
            <a:r>
              <a:rPr lang="en-GB" sz="1200" b="0" i="0" u="none" strike="noStrike" kern="1200" dirty="0">
                <a:solidFill>
                  <a:schemeClr val="tx1"/>
                </a:solidFill>
                <a:effectLst/>
                <a:latin typeface="+mn-lt"/>
                <a:ea typeface="+mn-ea"/>
                <a:cs typeface="+mn-cs"/>
              </a:rPr>
              <a:t>Mx</a:t>
            </a:r>
            <a:endParaRPr lang="en-GB" b="0" dirty="0">
              <a:effectLst/>
            </a:endParaRPr>
          </a:p>
          <a:p>
            <a:pPr rtl="0"/>
            <a:r>
              <a:rPr lang="en-GB" sz="1200" b="0" i="0" u="sng" kern="1200" dirty="0">
                <a:solidFill>
                  <a:schemeClr val="tx1"/>
                </a:solidFill>
                <a:effectLst/>
                <a:latin typeface="+mn-lt"/>
                <a:ea typeface="+mn-ea"/>
                <a:cs typeface="+mn-cs"/>
              </a:rPr>
              <a:t>Supportive therapy (mild-itchiness)</a:t>
            </a:r>
            <a:endParaRPr lang="en-GB" b="0" dirty="0">
              <a:effectLst/>
            </a:endParaRPr>
          </a:p>
          <a:p>
            <a:pPr rtl="0" fontAlgn="base"/>
            <a:r>
              <a:rPr lang="en-GB" sz="1200" b="0" i="0" u="none" strike="noStrike" kern="1200" dirty="0" err="1">
                <a:solidFill>
                  <a:schemeClr val="tx1"/>
                </a:solidFill>
                <a:effectLst/>
                <a:latin typeface="+mn-lt"/>
                <a:ea typeface="+mn-ea"/>
                <a:cs typeface="+mn-cs"/>
              </a:rPr>
              <a:t>Tx</a:t>
            </a:r>
            <a:r>
              <a:rPr lang="en-GB" sz="1200" b="0" i="0" u="none" strike="noStrike" kern="1200" dirty="0">
                <a:solidFill>
                  <a:schemeClr val="tx1"/>
                </a:solidFill>
                <a:effectLst/>
                <a:latin typeface="+mn-lt"/>
                <a:ea typeface="+mn-ea"/>
                <a:cs typeface="+mn-cs"/>
              </a:rPr>
              <a:t> is based on the severity and chronicity of disease</a:t>
            </a:r>
          </a:p>
          <a:p>
            <a:pPr rtl="0" fontAlgn="base"/>
            <a:r>
              <a:rPr lang="en-GB" sz="1200" b="0" i="0" u="none" strike="noStrike" kern="1200" dirty="0">
                <a:solidFill>
                  <a:schemeClr val="tx1"/>
                </a:solidFill>
                <a:effectLst/>
                <a:latin typeface="+mn-lt"/>
                <a:ea typeface="+mn-ea"/>
                <a:cs typeface="+mn-cs"/>
              </a:rPr>
              <a:t>Cold compresses (four times a day)- </a:t>
            </a:r>
            <a:r>
              <a:rPr lang="en-GB" sz="1200" b="1" i="0" u="none" strike="noStrike" kern="1200" dirty="0" err="1">
                <a:solidFill>
                  <a:schemeClr val="tx1"/>
                </a:solidFill>
                <a:effectLst/>
                <a:latin typeface="+mn-lt"/>
                <a:ea typeface="+mn-ea"/>
                <a:cs typeface="+mn-cs"/>
              </a:rPr>
              <a:t>Bilkhu</a:t>
            </a:r>
            <a:r>
              <a:rPr lang="en-GB" sz="1200" b="1" i="0" u="none" strike="noStrike" kern="1200" dirty="0">
                <a:solidFill>
                  <a:schemeClr val="tx1"/>
                </a:solidFill>
                <a:effectLst/>
                <a:latin typeface="+mn-lt"/>
                <a:ea typeface="+mn-ea"/>
                <a:cs typeface="+mn-cs"/>
              </a:rPr>
              <a:t> et al 2014</a:t>
            </a:r>
            <a:r>
              <a:rPr lang="en-GB" sz="1200" b="0" i="0" u="none" strike="noStrike" kern="1200" dirty="0">
                <a:solidFill>
                  <a:schemeClr val="tx1"/>
                </a:solidFill>
                <a:effectLst/>
                <a:latin typeface="+mn-lt"/>
                <a:ea typeface="+mn-ea"/>
                <a:cs typeface="+mn-cs"/>
              </a:rPr>
              <a:t>- CC along with lubricants or anti allergic meds was sup</a:t>
            </a:r>
          </a:p>
          <a:p>
            <a:pPr rtl="0" fontAlgn="base"/>
            <a:r>
              <a:rPr lang="en-GB" sz="1200" b="0" i="0" u="none" strike="noStrike" kern="1200" dirty="0">
                <a:solidFill>
                  <a:schemeClr val="tx1"/>
                </a:solidFill>
                <a:effectLst/>
                <a:latin typeface="+mn-lt"/>
                <a:ea typeface="+mn-ea"/>
                <a:cs typeface="+mn-cs"/>
              </a:rPr>
              <a:t>Lid hygiene (</a:t>
            </a:r>
            <a:r>
              <a:rPr lang="en-GB" sz="1200" b="1" i="0" u="none" strike="noStrike" kern="1200" dirty="0" err="1">
                <a:solidFill>
                  <a:schemeClr val="tx1"/>
                </a:solidFill>
                <a:effectLst/>
                <a:latin typeface="+mn-lt"/>
                <a:ea typeface="+mn-ea"/>
                <a:cs typeface="+mn-cs"/>
              </a:rPr>
              <a:t>Theratears</a:t>
            </a:r>
            <a:r>
              <a:rPr lang="en-GB" sz="1200" b="1" i="0" u="none" strike="noStrike" kern="1200" dirty="0">
                <a:solidFill>
                  <a:schemeClr val="tx1"/>
                </a:solidFill>
                <a:effectLst/>
                <a:latin typeface="+mn-lt"/>
                <a:ea typeface="+mn-ea"/>
                <a:cs typeface="+mn-cs"/>
              </a:rPr>
              <a:t> </a:t>
            </a:r>
            <a:r>
              <a:rPr lang="en-GB" sz="1200" b="1" i="0" u="none" strike="noStrike" kern="1200" dirty="0" err="1">
                <a:solidFill>
                  <a:schemeClr val="tx1"/>
                </a:solidFill>
                <a:effectLst/>
                <a:latin typeface="+mn-lt"/>
                <a:ea typeface="+mn-ea"/>
                <a:cs typeface="+mn-cs"/>
              </a:rPr>
              <a:t>Sterilid</a:t>
            </a:r>
            <a:r>
              <a:rPr lang="en-GB" sz="1200" b="1" i="0" u="none" strike="noStrike" kern="1200" dirty="0">
                <a:solidFill>
                  <a:schemeClr val="tx1"/>
                </a:solidFill>
                <a:effectLst/>
                <a:latin typeface="+mn-lt"/>
                <a:ea typeface="+mn-ea"/>
                <a:cs typeface="+mn-cs"/>
              </a:rPr>
              <a:t> Foam</a:t>
            </a:r>
            <a:r>
              <a:rPr lang="en-GB" sz="1200" b="0" i="0" u="none" strike="noStrike" kern="1200" dirty="0">
                <a:solidFill>
                  <a:schemeClr val="tx1"/>
                </a:solidFill>
                <a:effectLst/>
                <a:latin typeface="+mn-lt"/>
                <a:ea typeface="+mn-ea"/>
                <a:cs typeface="+mn-cs"/>
              </a:rPr>
              <a:t> </a:t>
            </a:r>
            <a:r>
              <a:rPr lang="en-GB" sz="1200" b="1" i="0" u="none" strike="noStrike" kern="1200" dirty="0">
                <a:solidFill>
                  <a:schemeClr val="tx1"/>
                </a:solidFill>
                <a:effectLst/>
                <a:latin typeface="+mn-lt"/>
                <a:ea typeface="+mn-ea"/>
                <a:cs typeface="+mn-cs"/>
              </a:rPr>
              <a:t>once a day at night</a:t>
            </a:r>
            <a:r>
              <a:rPr lang="en-GB" sz="1200" b="0" i="0" u="none" strike="noStrike" kern="1200" dirty="0">
                <a:solidFill>
                  <a:schemeClr val="tx1"/>
                </a:solidFill>
                <a:effectLst/>
                <a:latin typeface="+mn-lt"/>
                <a:ea typeface="+mn-ea"/>
                <a:cs typeface="+mn-cs"/>
              </a:rPr>
              <a:t>)</a:t>
            </a:r>
          </a:p>
          <a:p>
            <a:pPr rtl="0" fontAlgn="base"/>
            <a:r>
              <a:rPr lang="en-GB" sz="1200" b="0" i="0" u="none" strike="noStrike" kern="1200" dirty="0">
                <a:solidFill>
                  <a:schemeClr val="tx1"/>
                </a:solidFill>
                <a:effectLst/>
                <a:latin typeface="+mn-lt"/>
                <a:ea typeface="+mn-ea"/>
                <a:cs typeface="+mn-cs"/>
              </a:rPr>
              <a:t>Preservative-free artificial tears for symptomatic relief (</a:t>
            </a:r>
            <a:r>
              <a:rPr lang="en-GB" sz="1200" b="1" i="0" u="none" strike="noStrike" kern="1200" dirty="0" err="1">
                <a:solidFill>
                  <a:schemeClr val="tx1"/>
                </a:solidFill>
                <a:effectLst/>
                <a:latin typeface="+mn-lt"/>
                <a:ea typeface="+mn-ea"/>
                <a:cs typeface="+mn-cs"/>
              </a:rPr>
              <a:t>Theratears</a:t>
            </a:r>
            <a:r>
              <a:rPr lang="en-GB" sz="1200" b="1" i="0" u="none" strike="noStrike" kern="1200" dirty="0">
                <a:solidFill>
                  <a:schemeClr val="tx1"/>
                </a:solidFill>
                <a:effectLst/>
                <a:latin typeface="+mn-lt"/>
                <a:ea typeface="+mn-ea"/>
                <a:cs typeface="+mn-cs"/>
              </a:rPr>
              <a:t> minims when needed</a:t>
            </a:r>
            <a:r>
              <a:rPr lang="en-GB" sz="1200" b="0" i="0" u="none" strike="noStrike" kern="1200" dirty="0">
                <a:solidFill>
                  <a:schemeClr val="tx1"/>
                </a:solidFill>
                <a:effectLst/>
                <a:latin typeface="+mn-lt"/>
                <a:ea typeface="+mn-ea"/>
                <a:cs typeface="+mn-cs"/>
              </a:rPr>
              <a:t>)</a:t>
            </a:r>
          </a:p>
          <a:p>
            <a:pPr rtl="0" fontAlgn="base"/>
            <a:r>
              <a:rPr lang="en-GB" sz="1200" b="0" i="0" u="none" strike="noStrike" kern="1200" dirty="0">
                <a:solidFill>
                  <a:schemeClr val="tx1"/>
                </a:solidFill>
                <a:effectLst/>
                <a:latin typeface="+mn-lt"/>
                <a:ea typeface="+mn-ea"/>
                <a:cs typeface="+mn-cs"/>
              </a:rPr>
              <a:t>Avoid eye rubbing - can be cause of keratoconus and also exacerbates condition</a:t>
            </a:r>
          </a:p>
          <a:p>
            <a:pPr rtl="0" fontAlgn="base"/>
            <a:r>
              <a:rPr lang="en-GB" b="0" dirty="0">
                <a:effectLst/>
              </a:rPr>
              <a:t/>
            </a:r>
            <a:br>
              <a:rPr lang="en-GB" b="0" dirty="0">
                <a:effectLst/>
              </a:rPr>
            </a:br>
            <a:r>
              <a:rPr lang="en-GB" sz="1200" b="0" i="0" u="none" strike="noStrike" kern="1200" dirty="0">
                <a:solidFill>
                  <a:schemeClr val="tx1"/>
                </a:solidFill>
                <a:effectLst/>
                <a:latin typeface="+mn-lt"/>
                <a:ea typeface="+mn-ea"/>
                <a:cs typeface="+mn-cs"/>
              </a:rPr>
              <a:t>Non-pharmacological </a:t>
            </a:r>
            <a:r>
              <a:rPr lang="en-GB" sz="1200" b="0" i="0" u="none" strike="noStrike" kern="1200" dirty="0" err="1">
                <a:solidFill>
                  <a:schemeClr val="tx1"/>
                </a:solidFill>
                <a:effectLst/>
                <a:latin typeface="+mn-lt"/>
                <a:ea typeface="+mn-ea"/>
                <a:cs typeface="+mn-cs"/>
              </a:rPr>
              <a:t>tx</a:t>
            </a:r>
            <a:endParaRPr lang="en-GB" sz="1200" b="0" i="0" u="none" strike="noStrike" kern="1200" dirty="0">
              <a:solidFill>
                <a:schemeClr val="tx1"/>
              </a:solidFill>
              <a:effectLst/>
              <a:latin typeface="+mn-lt"/>
              <a:ea typeface="+mn-ea"/>
              <a:cs typeface="+mn-cs"/>
            </a:endParaRPr>
          </a:p>
          <a:p>
            <a:endParaRPr lang="en-GB" dirty="0"/>
          </a:p>
          <a:p>
            <a:endParaRPr lang="en-GB" dirty="0"/>
          </a:p>
        </p:txBody>
      </p:sp>
      <p:sp>
        <p:nvSpPr>
          <p:cNvPr id="4" name="Slide Number Placeholder 3"/>
          <p:cNvSpPr>
            <a:spLocks noGrp="1"/>
          </p:cNvSpPr>
          <p:nvPr>
            <p:ph type="sldNum" sz="quarter" idx="10"/>
          </p:nvPr>
        </p:nvSpPr>
        <p:spPr/>
        <p:txBody>
          <a:bodyPr/>
          <a:lstStyle/>
          <a:p>
            <a:fld id="{32E38DB9-DF4D-4A16-8DDB-2246D19213B5}" type="slidenum">
              <a:rPr lang="en-GB" smtClean="0"/>
              <a:t>20</a:t>
            </a:fld>
            <a:endParaRPr lang="en-GB"/>
          </a:p>
        </p:txBody>
      </p:sp>
    </p:spTree>
    <p:extLst>
      <p:ext uri="{BB962C8B-B14F-4D97-AF65-F5344CB8AC3E}">
        <p14:creationId xmlns:p14="http://schemas.microsoft.com/office/powerpoint/2010/main" val="428277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kern="1200" dirty="0">
                <a:solidFill>
                  <a:schemeClr val="tx1"/>
                </a:solidFill>
                <a:effectLst/>
                <a:latin typeface="+mn-lt"/>
                <a:ea typeface="+mn-ea"/>
                <a:cs typeface="+mn-cs"/>
              </a:rPr>
              <a:t>Dense plaque formed over the ulcer by deposition of toxic eosinophilic granule major basic protein (secreted by eosinophils) which is cytotoxic and delays re-epithelialisation </a:t>
            </a:r>
          </a:p>
          <a:p>
            <a:r>
              <a:rPr lang="en-AU" sz="1200" b="0" i="0" kern="1200" dirty="0">
                <a:solidFill>
                  <a:schemeClr val="tx1"/>
                </a:solidFill>
                <a:effectLst/>
                <a:latin typeface="+mn-lt"/>
                <a:ea typeface="+mn-ea"/>
                <a:cs typeface="+mn-cs"/>
              </a:rPr>
              <a:t>Conjunctival scrapings or tear cytology can be useful, revealing increased leukocytes in the conjunctiva, particularly eosinophils</a:t>
            </a:r>
            <a:endParaRPr lang="en-AU" dirty="0"/>
          </a:p>
        </p:txBody>
      </p:sp>
      <p:sp>
        <p:nvSpPr>
          <p:cNvPr id="4" name="Slide Number Placeholder 3"/>
          <p:cNvSpPr>
            <a:spLocks noGrp="1"/>
          </p:cNvSpPr>
          <p:nvPr>
            <p:ph type="sldNum" sz="quarter" idx="10"/>
          </p:nvPr>
        </p:nvSpPr>
        <p:spPr/>
        <p:txBody>
          <a:bodyPr/>
          <a:lstStyle/>
          <a:p>
            <a:fld id="{BD8B9394-3942-4BD8-822F-ECEE01B1D1DD}" type="slidenum">
              <a:rPr lang="en-AU" smtClean="0"/>
              <a:t>21</a:t>
            </a:fld>
            <a:endParaRPr lang="en-AU"/>
          </a:p>
        </p:txBody>
      </p:sp>
    </p:spTree>
    <p:extLst>
      <p:ext uri="{BB962C8B-B14F-4D97-AF65-F5344CB8AC3E}">
        <p14:creationId xmlns:p14="http://schemas.microsoft.com/office/powerpoint/2010/main" val="15308357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Cycloplegic? Purpose?</a:t>
            </a:r>
          </a:p>
        </p:txBody>
      </p:sp>
      <p:sp>
        <p:nvSpPr>
          <p:cNvPr id="4" name="Slide Number Placeholder 3"/>
          <p:cNvSpPr>
            <a:spLocks noGrp="1"/>
          </p:cNvSpPr>
          <p:nvPr>
            <p:ph type="sldNum" sz="quarter" idx="10"/>
          </p:nvPr>
        </p:nvSpPr>
        <p:spPr/>
        <p:txBody>
          <a:bodyPr/>
          <a:lstStyle/>
          <a:p>
            <a:fld id="{BD8B9394-3942-4BD8-822F-ECEE01B1D1DD}" type="slidenum">
              <a:rPr lang="en-AU" smtClean="0"/>
              <a:t>22</a:t>
            </a:fld>
            <a:endParaRPr lang="en-AU"/>
          </a:p>
        </p:txBody>
      </p:sp>
    </p:spTree>
    <p:extLst>
      <p:ext uri="{BB962C8B-B14F-4D97-AF65-F5344CB8AC3E}">
        <p14:creationId xmlns:p14="http://schemas.microsoft.com/office/powerpoint/2010/main" val="3820922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Formed hallucinations and no RAPD </a:t>
            </a:r>
            <a:r>
              <a:rPr lang="en-AU" dirty="0">
                <a:sym typeface="Wingdings" panose="05000000000000000000" pitchFamily="2" charset="2"/>
              </a:rPr>
              <a:t> suggestive of temporal lobe lesion</a:t>
            </a:r>
            <a:endParaRPr lang="en-AU" dirty="0"/>
          </a:p>
        </p:txBody>
      </p:sp>
      <p:sp>
        <p:nvSpPr>
          <p:cNvPr id="4" name="Slide Number Placeholder 3"/>
          <p:cNvSpPr>
            <a:spLocks noGrp="1"/>
          </p:cNvSpPr>
          <p:nvPr>
            <p:ph type="sldNum" sz="quarter" idx="10"/>
          </p:nvPr>
        </p:nvSpPr>
        <p:spPr/>
        <p:txBody>
          <a:bodyPr/>
          <a:lstStyle/>
          <a:p>
            <a:fld id="{BD8B9394-3942-4BD8-822F-ECEE01B1D1DD}" type="slidenum">
              <a:rPr lang="en-AU" smtClean="0"/>
              <a:t>24</a:t>
            </a:fld>
            <a:endParaRPr lang="en-AU"/>
          </a:p>
        </p:txBody>
      </p:sp>
    </p:spTree>
    <p:extLst>
      <p:ext uri="{BB962C8B-B14F-4D97-AF65-F5344CB8AC3E}">
        <p14:creationId xmlns:p14="http://schemas.microsoft.com/office/powerpoint/2010/main" val="35982786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BD8B9394-3942-4BD8-822F-ECEE01B1D1DD}" type="slidenum">
              <a:rPr lang="en-AU" smtClean="0"/>
              <a:t>25</a:t>
            </a:fld>
            <a:endParaRPr lang="en-AU"/>
          </a:p>
        </p:txBody>
      </p:sp>
    </p:spTree>
    <p:extLst>
      <p:ext uri="{BB962C8B-B14F-4D97-AF65-F5344CB8AC3E}">
        <p14:creationId xmlns:p14="http://schemas.microsoft.com/office/powerpoint/2010/main" val="7435814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BD8B9394-3942-4BD8-822F-ECEE01B1D1DD}" type="slidenum">
              <a:rPr lang="en-AU" smtClean="0"/>
              <a:t>26</a:t>
            </a:fld>
            <a:endParaRPr lang="en-AU"/>
          </a:p>
        </p:txBody>
      </p:sp>
    </p:spTree>
    <p:extLst>
      <p:ext uri="{BB962C8B-B14F-4D97-AF65-F5344CB8AC3E}">
        <p14:creationId xmlns:p14="http://schemas.microsoft.com/office/powerpoint/2010/main" val="19355573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Prodromal pain:</a:t>
            </a:r>
          </a:p>
          <a:p>
            <a:r>
              <a:rPr lang="en-AU" sz="1200" b="0" i="0" kern="1200" dirty="0">
                <a:solidFill>
                  <a:schemeClr val="tx1"/>
                </a:solidFill>
                <a:effectLst/>
                <a:latin typeface="+mn-lt"/>
                <a:ea typeface="+mn-ea"/>
                <a:cs typeface="+mn-cs"/>
              </a:rPr>
              <a:t> Approximately 70%–80% of patients with HZ describe prodromal pain in the dermatome where skin lesions subsequently appear. Prodromal pain may be constant or intermittent and frequent or sporadic, and it may or may not interfere with sleep. </a:t>
            </a:r>
          </a:p>
          <a:p>
            <a:r>
              <a:rPr lang="en-AU" sz="1200" b="0" i="0" kern="1200" dirty="0">
                <a:solidFill>
                  <a:schemeClr val="tx1"/>
                </a:solidFill>
                <a:effectLst/>
                <a:latin typeface="+mn-lt"/>
                <a:ea typeface="+mn-ea"/>
                <a:cs typeface="+mn-cs"/>
              </a:rPr>
              <a:t>Typically 2-3 days in duration</a:t>
            </a:r>
            <a:endParaRPr lang="en-AU" dirty="0"/>
          </a:p>
        </p:txBody>
      </p:sp>
      <p:sp>
        <p:nvSpPr>
          <p:cNvPr id="4" name="Slide Number Placeholder 3"/>
          <p:cNvSpPr>
            <a:spLocks noGrp="1"/>
          </p:cNvSpPr>
          <p:nvPr>
            <p:ph type="sldNum" sz="quarter" idx="10"/>
          </p:nvPr>
        </p:nvSpPr>
        <p:spPr/>
        <p:txBody>
          <a:bodyPr/>
          <a:lstStyle/>
          <a:p>
            <a:fld id="{BD8B9394-3942-4BD8-822F-ECEE01B1D1DD}" type="slidenum">
              <a:rPr lang="en-AU" smtClean="0"/>
              <a:t>32</a:t>
            </a:fld>
            <a:endParaRPr lang="en-AU"/>
          </a:p>
        </p:txBody>
      </p:sp>
    </p:spTree>
    <p:extLst>
      <p:ext uri="{BB962C8B-B14F-4D97-AF65-F5344CB8AC3E}">
        <p14:creationId xmlns:p14="http://schemas.microsoft.com/office/powerpoint/2010/main" val="19704265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HZO corneal involvement:</a:t>
            </a:r>
          </a:p>
          <a:p>
            <a:pPr marL="171450" indent="-171450">
              <a:buFont typeface="Arial" panose="020B0604020202020204" pitchFamily="34" charset="0"/>
              <a:buChar char="•"/>
            </a:pPr>
            <a:r>
              <a:rPr lang="en-AU" dirty="0"/>
              <a:t>Begins as epithelial keratitis (</a:t>
            </a:r>
            <a:r>
              <a:rPr lang="en-AU" sz="1200" b="0" i="0" kern="1200" dirty="0">
                <a:solidFill>
                  <a:schemeClr val="tx1"/>
                </a:solidFill>
                <a:effectLst/>
                <a:latin typeface="+mn-lt"/>
                <a:ea typeface="+mn-ea"/>
                <a:cs typeface="+mn-cs"/>
              </a:rPr>
              <a:t>multiple, focal, swollen lesions that stain with rose </a:t>
            </a:r>
            <a:r>
              <a:rPr lang="en-AU" sz="1200" b="0" i="0" kern="1200" dirty="0" err="1">
                <a:solidFill>
                  <a:schemeClr val="tx1"/>
                </a:solidFill>
                <a:effectLst/>
                <a:latin typeface="+mn-lt"/>
                <a:ea typeface="+mn-ea"/>
                <a:cs typeface="+mn-cs"/>
              </a:rPr>
              <a:t>bengal</a:t>
            </a:r>
            <a:r>
              <a:rPr lang="en-AU" sz="1200" b="0" i="0" kern="1200" dirty="0">
                <a:solidFill>
                  <a:schemeClr val="tx1"/>
                </a:solidFill>
                <a:effectLst/>
                <a:latin typeface="+mn-lt"/>
                <a:ea typeface="+mn-ea"/>
                <a:cs typeface="+mn-cs"/>
              </a:rPr>
              <a:t> or fluorescein dye) as early as 1-2 days after initial skin rash </a:t>
            </a:r>
            <a:r>
              <a:rPr lang="en-AU" sz="1200" b="0" i="0" kern="1200" dirty="0">
                <a:solidFill>
                  <a:schemeClr val="tx1"/>
                </a:solidFill>
                <a:effectLst/>
                <a:latin typeface="+mn-lt"/>
                <a:ea typeface="+mn-ea"/>
                <a:cs typeface="+mn-cs"/>
                <a:sym typeface="Wingdings" panose="05000000000000000000" pitchFamily="2" charset="2"/>
              </a:rPr>
              <a:t> dendrites may form at 4-6 days </a:t>
            </a:r>
          </a:p>
          <a:p>
            <a:pPr marL="171450" indent="-171450">
              <a:buFont typeface="Arial" panose="020B0604020202020204" pitchFamily="34" charset="0"/>
              <a:buChar char="•"/>
            </a:pPr>
            <a:r>
              <a:rPr lang="en-AU" sz="1200" b="0" i="0" kern="1200" dirty="0">
                <a:solidFill>
                  <a:schemeClr val="tx1"/>
                </a:solidFill>
                <a:effectLst/>
                <a:latin typeface="+mn-lt"/>
                <a:ea typeface="+mn-ea"/>
                <a:cs typeface="+mn-cs"/>
                <a:sym typeface="Wingdings" panose="05000000000000000000" pitchFamily="2" charset="2"/>
              </a:rPr>
              <a:t>HZO dendrites appear as elevated plaques consisting of swollen epithelial cells, forming branching or medusa-like patterns with tapered ends </a:t>
            </a:r>
          </a:p>
          <a:p>
            <a:pPr marL="171450" indent="-171450">
              <a:buFont typeface="Arial" panose="020B0604020202020204" pitchFamily="34" charset="0"/>
              <a:buChar char="•"/>
            </a:pPr>
            <a:r>
              <a:rPr lang="en-AU" sz="1200" b="0" i="0" kern="1200" dirty="0">
                <a:solidFill>
                  <a:schemeClr val="tx1"/>
                </a:solidFill>
                <a:effectLst/>
                <a:latin typeface="+mn-lt"/>
                <a:ea typeface="+mn-ea"/>
                <a:cs typeface="+mn-cs"/>
                <a:sym typeface="Wingdings" panose="05000000000000000000" pitchFamily="2" charset="2"/>
              </a:rPr>
              <a:t>Stromal keratitis may present during the 2</a:t>
            </a:r>
            <a:r>
              <a:rPr lang="en-AU" sz="1200" b="0" i="0" kern="1200" baseline="30000" dirty="0">
                <a:solidFill>
                  <a:schemeClr val="tx1"/>
                </a:solidFill>
                <a:effectLst/>
                <a:latin typeface="+mn-lt"/>
                <a:ea typeface="+mn-ea"/>
                <a:cs typeface="+mn-cs"/>
                <a:sym typeface="Wingdings" panose="05000000000000000000" pitchFamily="2" charset="2"/>
              </a:rPr>
              <a:t>nd</a:t>
            </a:r>
            <a:r>
              <a:rPr lang="en-AU" sz="1200" b="0" i="0" kern="1200" dirty="0">
                <a:solidFill>
                  <a:schemeClr val="tx1"/>
                </a:solidFill>
                <a:effectLst/>
                <a:latin typeface="+mn-lt"/>
                <a:ea typeface="+mn-ea"/>
                <a:cs typeface="+mn-cs"/>
                <a:sym typeface="Wingdings" panose="05000000000000000000" pitchFamily="2" charset="2"/>
              </a:rPr>
              <a:t> week of disease in 25-30% patients with HZO – nummular keratitis (multiple fine granular infiltrates in the anterior stroma, usually lying directly beneath pre-existing dendrites or areas of punctate epithelial keratitis), may be prolonged and recurrent</a:t>
            </a:r>
            <a:endParaRPr lang="en-AU" dirty="0"/>
          </a:p>
        </p:txBody>
      </p:sp>
      <p:sp>
        <p:nvSpPr>
          <p:cNvPr id="4" name="Slide Number Placeholder 3"/>
          <p:cNvSpPr>
            <a:spLocks noGrp="1"/>
          </p:cNvSpPr>
          <p:nvPr>
            <p:ph type="sldNum" sz="quarter" idx="10"/>
          </p:nvPr>
        </p:nvSpPr>
        <p:spPr/>
        <p:txBody>
          <a:bodyPr/>
          <a:lstStyle/>
          <a:p>
            <a:fld id="{BD8B9394-3942-4BD8-822F-ECEE01B1D1DD}" type="slidenum">
              <a:rPr lang="en-AU" smtClean="0"/>
              <a:t>33</a:t>
            </a:fld>
            <a:endParaRPr lang="en-AU"/>
          </a:p>
        </p:txBody>
      </p:sp>
    </p:spTree>
    <p:extLst>
      <p:ext uri="{BB962C8B-B14F-4D97-AF65-F5344CB8AC3E}">
        <p14:creationId xmlns:p14="http://schemas.microsoft.com/office/powerpoint/2010/main" val="34592156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http://www.aafp.org/afp/2002/1101/p1723.html#afp20021101p1723-b23</a:t>
            </a:r>
          </a:p>
          <a:p>
            <a:r>
              <a:rPr lang="en-AU" dirty="0"/>
              <a:t>Famciclovir 500mg 3x a day approved dosage in US</a:t>
            </a:r>
          </a:p>
          <a:p>
            <a:r>
              <a:rPr lang="en-AU" sz="1200" b="0" i="0" kern="1200" dirty="0">
                <a:solidFill>
                  <a:schemeClr val="tx1"/>
                </a:solidFill>
                <a:effectLst/>
                <a:latin typeface="+mn-lt"/>
                <a:ea typeface="+mn-ea"/>
                <a:cs typeface="+mn-cs"/>
              </a:rPr>
              <a:t>Topical antiviral therapy lacks efficacy in patients with HZ and is not recommended.</a:t>
            </a:r>
            <a:endParaRPr lang="en-AU" dirty="0"/>
          </a:p>
          <a:p>
            <a:r>
              <a:rPr lang="en-AU" dirty="0"/>
              <a:t>The effect of treating herpes zoster with oral acyclovir in preventing </a:t>
            </a:r>
            <a:r>
              <a:rPr lang="en-AU" dirty="0" err="1"/>
              <a:t>postherpetic</a:t>
            </a:r>
            <a:r>
              <a:rPr lang="en-AU" dirty="0"/>
              <a:t> neuralgia. A meta-analysis (Jackson et al., 1997): </a:t>
            </a:r>
            <a:r>
              <a:rPr lang="en-AU" sz="1200" b="0" i="0" kern="1200" dirty="0">
                <a:solidFill>
                  <a:schemeClr val="tx1"/>
                </a:solidFill>
                <a:effectLst/>
                <a:latin typeface="+mn-lt"/>
                <a:ea typeface="+mn-ea"/>
                <a:cs typeface="+mn-cs"/>
              </a:rPr>
              <a:t>Treatment of herpes zoster with 800 mg/d of oral acyclovir within 72 hours of rash onset may reduce the incidence of residual pain at 6 months by 46% in immunocompetent adults.</a:t>
            </a:r>
            <a:endParaRPr lang="en-AU" dirty="0"/>
          </a:p>
          <a:p>
            <a:endParaRPr lang="en-AU" dirty="0"/>
          </a:p>
        </p:txBody>
      </p:sp>
      <p:sp>
        <p:nvSpPr>
          <p:cNvPr id="4" name="Slide Number Placeholder 3"/>
          <p:cNvSpPr>
            <a:spLocks noGrp="1"/>
          </p:cNvSpPr>
          <p:nvPr>
            <p:ph type="sldNum" sz="quarter" idx="10"/>
          </p:nvPr>
        </p:nvSpPr>
        <p:spPr/>
        <p:txBody>
          <a:bodyPr/>
          <a:lstStyle/>
          <a:p>
            <a:fld id="{BD8B9394-3942-4BD8-822F-ECEE01B1D1DD}" type="slidenum">
              <a:rPr lang="en-AU" smtClean="0"/>
              <a:t>34</a:t>
            </a:fld>
            <a:endParaRPr lang="en-AU"/>
          </a:p>
        </p:txBody>
      </p:sp>
    </p:spTree>
    <p:extLst>
      <p:ext uri="{BB962C8B-B14F-4D97-AF65-F5344CB8AC3E}">
        <p14:creationId xmlns:p14="http://schemas.microsoft.com/office/powerpoint/2010/main" val="14232332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http://www.familyvisionandtherapy.com/your-visual-field/</a:t>
            </a:r>
          </a:p>
          <a:p>
            <a:endParaRPr lang="en-GB" dirty="0"/>
          </a:p>
          <a:p>
            <a:r>
              <a:rPr lang="en-GB" dirty="0"/>
              <a:t>Parietal lobe damage - trauma</a:t>
            </a:r>
          </a:p>
        </p:txBody>
      </p:sp>
      <p:sp>
        <p:nvSpPr>
          <p:cNvPr id="4" name="Slide Number Placeholder 3"/>
          <p:cNvSpPr>
            <a:spLocks noGrp="1"/>
          </p:cNvSpPr>
          <p:nvPr>
            <p:ph type="sldNum" sz="quarter" idx="10"/>
          </p:nvPr>
        </p:nvSpPr>
        <p:spPr/>
        <p:txBody>
          <a:bodyPr/>
          <a:lstStyle/>
          <a:p>
            <a:fld id="{32E38DB9-DF4D-4A16-8DDB-2246D19213B5}" type="slidenum">
              <a:rPr lang="en-GB" smtClean="0"/>
              <a:t>43</a:t>
            </a:fld>
            <a:endParaRPr lang="en-GB"/>
          </a:p>
        </p:txBody>
      </p:sp>
    </p:spTree>
    <p:extLst>
      <p:ext uri="{BB962C8B-B14F-4D97-AF65-F5344CB8AC3E}">
        <p14:creationId xmlns:p14="http://schemas.microsoft.com/office/powerpoint/2010/main" val="12800555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PERRLA no RAPD</a:t>
            </a:r>
          </a:p>
          <a:p>
            <a:endParaRPr lang="en-GB" dirty="0"/>
          </a:p>
          <a:p>
            <a:r>
              <a:rPr lang="en-GB" dirty="0"/>
              <a:t>http://www.neurologyindia.com/article.asp?issn=0028-3886%3Byear=2014%3Bvolume=62%3Bissue=6%3Bspage=709%3Bepage=711%3Baulast=Matalia</a:t>
            </a:r>
          </a:p>
        </p:txBody>
      </p:sp>
      <p:sp>
        <p:nvSpPr>
          <p:cNvPr id="4" name="Slide Number Placeholder 3"/>
          <p:cNvSpPr>
            <a:spLocks noGrp="1"/>
          </p:cNvSpPr>
          <p:nvPr>
            <p:ph type="sldNum" sz="quarter" idx="10"/>
          </p:nvPr>
        </p:nvSpPr>
        <p:spPr/>
        <p:txBody>
          <a:bodyPr/>
          <a:lstStyle/>
          <a:p>
            <a:fld id="{32E38DB9-DF4D-4A16-8DDB-2246D19213B5}" type="slidenum">
              <a:rPr lang="en-GB" smtClean="0"/>
              <a:t>44</a:t>
            </a:fld>
            <a:endParaRPr lang="en-GB"/>
          </a:p>
        </p:txBody>
      </p:sp>
    </p:spTree>
    <p:extLst>
      <p:ext uri="{BB962C8B-B14F-4D97-AF65-F5344CB8AC3E}">
        <p14:creationId xmlns:p14="http://schemas.microsoft.com/office/powerpoint/2010/main" val="376144885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http://eyetubeod.com/2014/03/asymmetrical-visual-field-defect</a:t>
            </a:r>
          </a:p>
          <a:p>
            <a:endParaRPr lang="en-GB" dirty="0"/>
          </a:p>
          <a:p>
            <a:r>
              <a:rPr lang="en-GB" sz="1200" b="0" i="0" kern="1200" dirty="0">
                <a:solidFill>
                  <a:schemeClr val="tx1"/>
                </a:solidFill>
                <a:effectLst/>
                <a:latin typeface="+mn-lt"/>
                <a:ea typeface="+mn-ea"/>
                <a:cs typeface="+mn-cs"/>
              </a:rPr>
              <a:t>57-year-old white woman referred to our office for unexplained, gradual, and painless loss of vision OS. She reported a history of good, equal vision in both eyes and denied any other noticeable neurological or systemic symptoms other than that said she had “no hormones” and was receiving appropriate hormone replacement therapy.</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Upon examination, her BCVA was 20/20 OD and 20/150 OS. Confrontation visual field testing revealed temporal constriction OS only with a correlating 1+ relative afferent pupillary defect OS. The clinical examination showed incipient cataracts, flat macula, and attached periphery OU. The optic nerve evaluation confirmed a normal and healthy appearance with overall symmetrical cupping of 0.3 OD and 0.25 OS and no signs of optic nerve </a:t>
            </a:r>
            <a:r>
              <a:rPr lang="en-GB" sz="1200" b="0" i="0" kern="1200" dirty="0" err="1">
                <a:solidFill>
                  <a:schemeClr val="tx1"/>
                </a:solidFill>
                <a:effectLst/>
                <a:latin typeface="+mn-lt"/>
                <a:ea typeface="+mn-ea"/>
                <a:cs typeface="+mn-cs"/>
              </a:rPr>
              <a:t>edema</a:t>
            </a:r>
            <a:r>
              <a:rPr lang="en-GB" sz="1200" b="0" i="0" kern="1200" dirty="0">
                <a:solidFill>
                  <a:schemeClr val="tx1"/>
                </a:solidFill>
                <a:effectLst/>
                <a:latin typeface="+mn-lt"/>
                <a:ea typeface="+mn-ea"/>
                <a:cs typeface="+mn-cs"/>
              </a:rPr>
              <a:t> or pallor OU.</a:t>
            </a:r>
            <a:endParaRPr lang="en-GB" dirty="0"/>
          </a:p>
          <a:p>
            <a:endParaRPr lang="en-GB" dirty="0"/>
          </a:p>
          <a:p>
            <a:r>
              <a:rPr lang="en-GB" dirty="0"/>
              <a:t>Pituitary adenoma with internal haemorrhage = pituitary apoplexy </a:t>
            </a:r>
          </a:p>
        </p:txBody>
      </p:sp>
      <p:sp>
        <p:nvSpPr>
          <p:cNvPr id="4" name="Slide Number Placeholder 3"/>
          <p:cNvSpPr>
            <a:spLocks noGrp="1"/>
          </p:cNvSpPr>
          <p:nvPr>
            <p:ph type="sldNum" sz="quarter" idx="10"/>
          </p:nvPr>
        </p:nvSpPr>
        <p:spPr/>
        <p:txBody>
          <a:bodyPr/>
          <a:lstStyle/>
          <a:p>
            <a:fld id="{32E38DB9-DF4D-4A16-8DDB-2246D19213B5}" type="slidenum">
              <a:rPr lang="en-GB" smtClean="0"/>
              <a:t>45</a:t>
            </a:fld>
            <a:endParaRPr lang="en-GB"/>
          </a:p>
        </p:txBody>
      </p:sp>
    </p:spTree>
    <p:extLst>
      <p:ext uri="{BB962C8B-B14F-4D97-AF65-F5344CB8AC3E}">
        <p14:creationId xmlns:p14="http://schemas.microsoft.com/office/powerpoint/2010/main" val="28025300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Periventricular Leukomalacia affecting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Temporal pallor OU </a:t>
            </a:r>
            <a:r>
              <a:rPr lang="en-GB" sz="1200" b="0" i="0" kern="1200" dirty="0">
                <a:solidFill>
                  <a:schemeClr val="tx1"/>
                </a:solidFill>
                <a:effectLst/>
                <a:latin typeface="+mn-lt"/>
                <a:ea typeface="+mn-ea"/>
                <a:cs typeface="+mn-cs"/>
                <a:sym typeface="Wingdings" panose="05000000000000000000" pitchFamily="2" charset="2"/>
              </a:rPr>
              <a:t> supratemporal RNFL atrophy</a:t>
            </a:r>
            <a:endParaRPr lang="en-GB" sz="1200" b="0" i="0" kern="1200" dirty="0">
              <a:solidFill>
                <a:schemeClr val="tx1"/>
              </a:solidFill>
              <a:effectLst/>
              <a:latin typeface="+mn-lt"/>
              <a:ea typeface="+mn-ea"/>
              <a:cs typeface="+mn-cs"/>
            </a:endParaRPr>
          </a:p>
          <a:p>
            <a:endParaRPr lang="en-GB" dirty="0"/>
          </a:p>
          <a:p>
            <a:r>
              <a:rPr lang="en-GB" dirty="0"/>
              <a:t>https://synapse.koreamed.org/search.php?where=aview&amp;id=10.3341/jkos.2013.54.6.987&amp;code=0035JKOS&amp;vmode=PUBREADER#!po=16.6667 </a:t>
            </a:r>
          </a:p>
        </p:txBody>
      </p:sp>
      <p:sp>
        <p:nvSpPr>
          <p:cNvPr id="4" name="Slide Number Placeholder 3"/>
          <p:cNvSpPr>
            <a:spLocks noGrp="1"/>
          </p:cNvSpPr>
          <p:nvPr>
            <p:ph type="sldNum" sz="quarter" idx="10"/>
          </p:nvPr>
        </p:nvSpPr>
        <p:spPr/>
        <p:txBody>
          <a:bodyPr/>
          <a:lstStyle/>
          <a:p>
            <a:fld id="{32E38DB9-DF4D-4A16-8DDB-2246D19213B5}" type="slidenum">
              <a:rPr lang="en-GB" smtClean="0"/>
              <a:t>46</a:t>
            </a:fld>
            <a:endParaRPr lang="en-GB"/>
          </a:p>
        </p:txBody>
      </p:sp>
    </p:spTree>
    <p:extLst>
      <p:ext uri="{BB962C8B-B14F-4D97-AF65-F5344CB8AC3E}">
        <p14:creationId xmlns:p14="http://schemas.microsoft.com/office/powerpoint/2010/main" val="35021353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9397DFE-DBAC-452E-8EDD-7708D7F871B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xmlns="" id="{DDA2B058-3DF2-4CA2-8DE3-D6EB18F5D4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xmlns="" id="{F3B2508E-468F-47EA-A92A-D89C3C0E2609}"/>
              </a:ext>
            </a:extLst>
          </p:cNvPr>
          <p:cNvSpPr>
            <a:spLocks noGrp="1"/>
          </p:cNvSpPr>
          <p:nvPr>
            <p:ph type="dt" sz="half" idx="10"/>
          </p:nvPr>
        </p:nvSpPr>
        <p:spPr/>
        <p:txBody>
          <a:bodyPr/>
          <a:lstStyle/>
          <a:p>
            <a:fld id="{84BDEBD5-AA51-41D8-93D8-2C9A0ED8621B}" type="datetimeFigureOut">
              <a:rPr lang="en-GB" smtClean="0"/>
              <a:t>12/11/2019</a:t>
            </a:fld>
            <a:endParaRPr lang="en-GB"/>
          </a:p>
        </p:txBody>
      </p:sp>
      <p:sp>
        <p:nvSpPr>
          <p:cNvPr id="5" name="Footer Placeholder 4">
            <a:extLst>
              <a:ext uri="{FF2B5EF4-FFF2-40B4-BE49-F238E27FC236}">
                <a16:creationId xmlns:a16="http://schemas.microsoft.com/office/drawing/2014/main" xmlns="" id="{595ABFEF-F0F7-4E7D-8CF1-C49EC8F1C36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xmlns="" id="{886FEEF7-D3CC-4C95-9552-D02668D55B39}"/>
              </a:ext>
            </a:extLst>
          </p:cNvPr>
          <p:cNvSpPr>
            <a:spLocks noGrp="1"/>
          </p:cNvSpPr>
          <p:nvPr>
            <p:ph type="sldNum" sz="quarter" idx="12"/>
          </p:nvPr>
        </p:nvSpPr>
        <p:spPr/>
        <p:txBody>
          <a:bodyPr/>
          <a:lstStyle/>
          <a:p>
            <a:fld id="{1D9D8F05-9C1A-4E8E-A19A-802AC95B5B0F}" type="slidenum">
              <a:rPr lang="en-GB" smtClean="0"/>
              <a:t>‹#›</a:t>
            </a:fld>
            <a:endParaRPr lang="en-GB"/>
          </a:p>
        </p:txBody>
      </p:sp>
    </p:spTree>
    <p:extLst>
      <p:ext uri="{BB962C8B-B14F-4D97-AF65-F5344CB8AC3E}">
        <p14:creationId xmlns:p14="http://schemas.microsoft.com/office/powerpoint/2010/main" val="6180466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4EC0D97-E8EB-403C-829A-1002EC82335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xmlns="" id="{1533637E-073B-4BD8-B2EE-7EA21A830022}"/>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xmlns="" id="{53E2E1BC-C088-4A02-BB62-3B08FC33B2C9}"/>
              </a:ext>
            </a:extLst>
          </p:cNvPr>
          <p:cNvSpPr>
            <a:spLocks noGrp="1"/>
          </p:cNvSpPr>
          <p:nvPr>
            <p:ph type="dt" sz="half" idx="10"/>
          </p:nvPr>
        </p:nvSpPr>
        <p:spPr/>
        <p:txBody>
          <a:bodyPr/>
          <a:lstStyle/>
          <a:p>
            <a:fld id="{84BDEBD5-AA51-41D8-93D8-2C9A0ED8621B}" type="datetimeFigureOut">
              <a:rPr lang="en-GB" smtClean="0"/>
              <a:t>12/11/2019</a:t>
            </a:fld>
            <a:endParaRPr lang="en-GB"/>
          </a:p>
        </p:txBody>
      </p:sp>
      <p:sp>
        <p:nvSpPr>
          <p:cNvPr id="5" name="Footer Placeholder 4">
            <a:extLst>
              <a:ext uri="{FF2B5EF4-FFF2-40B4-BE49-F238E27FC236}">
                <a16:creationId xmlns:a16="http://schemas.microsoft.com/office/drawing/2014/main" xmlns="" id="{1319141E-799B-4236-BC9A-D528796F637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xmlns="" id="{E5B3A143-9DAC-4B87-873C-85A8790D3CD4}"/>
              </a:ext>
            </a:extLst>
          </p:cNvPr>
          <p:cNvSpPr>
            <a:spLocks noGrp="1"/>
          </p:cNvSpPr>
          <p:nvPr>
            <p:ph type="sldNum" sz="quarter" idx="12"/>
          </p:nvPr>
        </p:nvSpPr>
        <p:spPr/>
        <p:txBody>
          <a:bodyPr/>
          <a:lstStyle/>
          <a:p>
            <a:fld id="{1D9D8F05-9C1A-4E8E-A19A-802AC95B5B0F}" type="slidenum">
              <a:rPr lang="en-GB" smtClean="0"/>
              <a:t>‹#›</a:t>
            </a:fld>
            <a:endParaRPr lang="en-GB"/>
          </a:p>
        </p:txBody>
      </p:sp>
    </p:spTree>
    <p:extLst>
      <p:ext uri="{BB962C8B-B14F-4D97-AF65-F5344CB8AC3E}">
        <p14:creationId xmlns:p14="http://schemas.microsoft.com/office/powerpoint/2010/main" val="14193036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AA8B67D-0510-4BDC-9C16-7B07D59213D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xmlns="" id="{42B2C7F0-DEE1-451E-8B3F-E797B486A00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xmlns="" id="{A24C1B47-F447-441F-87E2-D46B38A9CCE1}"/>
              </a:ext>
            </a:extLst>
          </p:cNvPr>
          <p:cNvSpPr>
            <a:spLocks noGrp="1"/>
          </p:cNvSpPr>
          <p:nvPr>
            <p:ph type="dt" sz="half" idx="10"/>
          </p:nvPr>
        </p:nvSpPr>
        <p:spPr/>
        <p:txBody>
          <a:bodyPr/>
          <a:lstStyle/>
          <a:p>
            <a:fld id="{84BDEBD5-AA51-41D8-93D8-2C9A0ED8621B}" type="datetimeFigureOut">
              <a:rPr lang="en-GB" smtClean="0"/>
              <a:t>12/11/2019</a:t>
            </a:fld>
            <a:endParaRPr lang="en-GB"/>
          </a:p>
        </p:txBody>
      </p:sp>
      <p:sp>
        <p:nvSpPr>
          <p:cNvPr id="5" name="Footer Placeholder 4">
            <a:extLst>
              <a:ext uri="{FF2B5EF4-FFF2-40B4-BE49-F238E27FC236}">
                <a16:creationId xmlns:a16="http://schemas.microsoft.com/office/drawing/2014/main" xmlns="" id="{683499D9-1F93-4ADA-B69D-809F1CFD870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xmlns="" id="{208010B7-D0E6-47AA-97C3-F84931C17FCB}"/>
              </a:ext>
            </a:extLst>
          </p:cNvPr>
          <p:cNvSpPr>
            <a:spLocks noGrp="1"/>
          </p:cNvSpPr>
          <p:nvPr>
            <p:ph type="sldNum" sz="quarter" idx="12"/>
          </p:nvPr>
        </p:nvSpPr>
        <p:spPr/>
        <p:txBody>
          <a:bodyPr/>
          <a:lstStyle/>
          <a:p>
            <a:fld id="{1D9D8F05-9C1A-4E8E-A19A-802AC95B5B0F}" type="slidenum">
              <a:rPr lang="en-GB" smtClean="0"/>
              <a:t>‹#›</a:t>
            </a:fld>
            <a:endParaRPr lang="en-GB"/>
          </a:p>
        </p:txBody>
      </p:sp>
    </p:spTree>
    <p:extLst>
      <p:ext uri="{BB962C8B-B14F-4D97-AF65-F5344CB8AC3E}">
        <p14:creationId xmlns:p14="http://schemas.microsoft.com/office/powerpoint/2010/main" val="4467080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6496AD4-D6FF-4167-8D24-B057AAFDFE4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xmlns="" id="{EEC8712B-C5A7-4A26-8EEE-00080E99EF7C}"/>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xmlns="" id="{B751F707-EDB7-43D8-97C0-744C72975559}"/>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xmlns="" id="{88134EBB-0D29-413C-8EEA-A2813F1FA27B}"/>
              </a:ext>
            </a:extLst>
          </p:cNvPr>
          <p:cNvSpPr>
            <a:spLocks noGrp="1"/>
          </p:cNvSpPr>
          <p:nvPr>
            <p:ph type="dt" sz="half" idx="10"/>
          </p:nvPr>
        </p:nvSpPr>
        <p:spPr/>
        <p:txBody>
          <a:bodyPr/>
          <a:lstStyle/>
          <a:p>
            <a:fld id="{84BDEBD5-AA51-41D8-93D8-2C9A0ED8621B}" type="datetimeFigureOut">
              <a:rPr lang="en-GB" smtClean="0"/>
              <a:t>12/11/2019</a:t>
            </a:fld>
            <a:endParaRPr lang="en-GB"/>
          </a:p>
        </p:txBody>
      </p:sp>
      <p:sp>
        <p:nvSpPr>
          <p:cNvPr id="6" name="Footer Placeholder 5">
            <a:extLst>
              <a:ext uri="{FF2B5EF4-FFF2-40B4-BE49-F238E27FC236}">
                <a16:creationId xmlns:a16="http://schemas.microsoft.com/office/drawing/2014/main" xmlns="" id="{7C7058FF-27FE-429F-B197-C3B7F1D58E4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xmlns="" id="{F318D804-0C70-4DC7-8A5F-0D1FAA31CA57}"/>
              </a:ext>
            </a:extLst>
          </p:cNvPr>
          <p:cNvSpPr>
            <a:spLocks noGrp="1"/>
          </p:cNvSpPr>
          <p:nvPr>
            <p:ph type="sldNum" sz="quarter" idx="12"/>
          </p:nvPr>
        </p:nvSpPr>
        <p:spPr/>
        <p:txBody>
          <a:bodyPr/>
          <a:lstStyle/>
          <a:p>
            <a:fld id="{1D9D8F05-9C1A-4E8E-A19A-802AC95B5B0F}" type="slidenum">
              <a:rPr lang="en-GB" smtClean="0"/>
              <a:t>‹#›</a:t>
            </a:fld>
            <a:endParaRPr lang="en-GB"/>
          </a:p>
        </p:txBody>
      </p:sp>
    </p:spTree>
    <p:extLst>
      <p:ext uri="{BB962C8B-B14F-4D97-AF65-F5344CB8AC3E}">
        <p14:creationId xmlns:p14="http://schemas.microsoft.com/office/powerpoint/2010/main" val="15114562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6903A9A-2E80-4B40-B587-C669F5F5376F}"/>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xmlns="" id="{44541A25-2662-45CC-B290-ECF65FA3DBF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xmlns="" id="{DD7FD122-E526-4827-81A2-056768D36B1C}"/>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xmlns="" id="{3D4CF591-9E3A-45BF-B884-A36E1D191B5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xmlns="" id="{8CB8BE9B-E5D4-48B9-A8C8-35CB0106C475}"/>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xmlns="" id="{DA08AC2A-6372-4952-98E8-7716C11B1F80}"/>
              </a:ext>
            </a:extLst>
          </p:cNvPr>
          <p:cNvSpPr>
            <a:spLocks noGrp="1"/>
          </p:cNvSpPr>
          <p:nvPr>
            <p:ph type="dt" sz="half" idx="10"/>
          </p:nvPr>
        </p:nvSpPr>
        <p:spPr/>
        <p:txBody>
          <a:bodyPr/>
          <a:lstStyle/>
          <a:p>
            <a:fld id="{84BDEBD5-AA51-41D8-93D8-2C9A0ED8621B}" type="datetimeFigureOut">
              <a:rPr lang="en-GB" smtClean="0"/>
              <a:t>12/11/2019</a:t>
            </a:fld>
            <a:endParaRPr lang="en-GB"/>
          </a:p>
        </p:txBody>
      </p:sp>
      <p:sp>
        <p:nvSpPr>
          <p:cNvPr id="8" name="Footer Placeholder 7">
            <a:extLst>
              <a:ext uri="{FF2B5EF4-FFF2-40B4-BE49-F238E27FC236}">
                <a16:creationId xmlns:a16="http://schemas.microsoft.com/office/drawing/2014/main" xmlns="" id="{A8892518-72B0-4F54-8A11-B2774669B4F0}"/>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xmlns="" id="{32649E30-C2C3-4457-93D2-A600DD15ECCA}"/>
              </a:ext>
            </a:extLst>
          </p:cNvPr>
          <p:cNvSpPr>
            <a:spLocks noGrp="1"/>
          </p:cNvSpPr>
          <p:nvPr>
            <p:ph type="sldNum" sz="quarter" idx="12"/>
          </p:nvPr>
        </p:nvSpPr>
        <p:spPr/>
        <p:txBody>
          <a:bodyPr/>
          <a:lstStyle/>
          <a:p>
            <a:fld id="{1D9D8F05-9C1A-4E8E-A19A-802AC95B5B0F}" type="slidenum">
              <a:rPr lang="en-GB" smtClean="0"/>
              <a:t>‹#›</a:t>
            </a:fld>
            <a:endParaRPr lang="en-GB"/>
          </a:p>
        </p:txBody>
      </p:sp>
    </p:spTree>
    <p:extLst>
      <p:ext uri="{BB962C8B-B14F-4D97-AF65-F5344CB8AC3E}">
        <p14:creationId xmlns:p14="http://schemas.microsoft.com/office/powerpoint/2010/main" val="5643852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DA7EB4D-1DBE-47F7-9165-562B42CCE407}"/>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xmlns="" id="{4AA673B7-6D29-4067-9491-2A2D947E36DE}"/>
              </a:ext>
            </a:extLst>
          </p:cNvPr>
          <p:cNvSpPr>
            <a:spLocks noGrp="1"/>
          </p:cNvSpPr>
          <p:nvPr>
            <p:ph type="dt" sz="half" idx="10"/>
          </p:nvPr>
        </p:nvSpPr>
        <p:spPr/>
        <p:txBody>
          <a:bodyPr/>
          <a:lstStyle/>
          <a:p>
            <a:fld id="{84BDEBD5-AA51-41D8-93D8-2C9A0ED8621B}" type="datetimeFigureOut">
              <a:rPr lang="en-GB" smtClean="0"/>
              <a:t>12/11/2019</a:t>
            </a:fld>
            <a:endParaRPr lang="en-GB"/>
          </a:p>
        </p:txBody>
      </p:sp>
      <p:sp>
        <p:nvSpPr>
          <p:cNvPr id="4" name="Footer Placeholder 3">
            <a:extLst>
              <a:ext uri="{FF2B5EF4-FFF2-40B4-BE49-F238E27FC236}">
                <a16:creationId xmlns:a16="http://schemas.microsoft.com/office/drawing/2014/main" xmlns="" id="{33E7836C-8C03-478C-9B95-24E599C52F92}"/>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xmlns="" id="{EEFA3EF3-6E55-4759-8D87-4B97311C267C}"/>
              </a:ext>
            </a:extLst>
          </p:cNvPr>
          <p:cNvSpPr>
            <a:spLocks noGrp="1"/>
          </p:cNvSpPr>
          <p:nvPr>
            <p:ph type="sldNum" sz="quarter" idx="12"/>
          </p:nvPr>
        </p:nvSpPr>
        <p:spPr/>
        <p:txBody>
          <a:bodyPr/>
          <a:lstStyle/>
          <a:p>
            <a:fld id="{1D9D8F05-9C1A-4E8E-A19A-802AC95B5B0F}" type="slidenum">
              <a:rPr lang="en-GB" smtClean="0"/>
              <a:t>‹#›</a:t>
            </a:fld>
            <a:endParaRPr lang="en-GB"/>
          </a:p>
        </p:txBody>
      </p:sp>
    </p:spTree>
    <p:extLst>
      <p:ext uri="{BB962C8B-B14F-4D97-AF65-F5344CB8AC3E}">
        <p14:creationId xmlns:p14="http://schemas.microsoft.com/office/powerpoint/2010/main" val="35211376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5F8D2542-717D-435A-994A-BFF46AE88B30}"/>
              </a:ext>
            </a:extLst>
          </p:cNvPr>
          <p:cNvSpPr>
            <a:spLocks noGrp="1"/>
          </p:cNvSpPr>
          <p:nvPr>
            <p:ph type="dt" sz="half" idx="10"/>
          </p:nvPr>
        </p:nvSpPr>
        <p:spPr/>
        <p:txBody>
          <a:bodyPr/>
          <a:lstStyle/>
          <a:p>
            <a:fld id="{84BDEBD5-AA51-41D8-93D8-2C9A0ED8621B}" type="datetimeFigureOut">
              <a:rPr lang="en-GB" smtClean="0"/>
              <a:t>12/11/2019</a:t>
            </a:fld>
            <a:endParaRPr lang="en-GB"/>
          </a:p>
        </p:txBody>
      </p:sp>
      <p:sp>
        <p:nvSpPr>
          <p:cNvPr id="3" name="Footer Placeholder 2">
            <a:extLst>
              <a:ext uri="{FF2B5EF4-FFF2-40B4-BE49-F238E27FC236}">
                <a16:creationId xmlns:a16="http://schemas.microsoft.com/office/drawing/2014/main" xmlns="" id="{709A26AF-7432-4B33-A709-F44A9EFC9D87}"/>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xmlns="" id="{522384A5-52F8-4E99-A2B8-A52E5835BE4A}"/>
              </a:ext>
            </a:extLst>
          </p:cNvPr>
          <p:cNvSpPr>
            <a:spLocks noGrp="1"/>
          </p:cNvSpPr>
          <p:nvPr>
            <p:ph type="sldNum" sz="quarter" idx="12"/>
          </p:nvPr>
        </p:nvSpPr>
        <p:spPr/>
        <p:txBody>
          <a:bodyPr/>
          <a:lstStyle/>
          <a:p>
            <a:fld id="{1D9D8F05-9C1A-4E8E-A19A-802AC95B5B0F}" type="slidenum">
              <a:rPr lang="en-GB" smtClean="0"/>
              <a:t>‹#›</a:t>
            </a:fld>
            <a:endParaRPr lang="en-GB"/>
          </a:p>
        </p:txBody>
      </p:sp>
    </p:spTree>
    <p:extLst>
      <p:ext uri="{BB962C8B-B14F-4D97-AF65-F5344CB8AC3E}">
        <p14:creationId xmlns:p14="http://schemas.microsoft.com/office/powerpoint/2010/main" val="15306322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601E743-1FEE-4739-A6E9-681FCAD5D3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xmlns="" id="{50280EE3-2B31-4F1A-BC58-1FFCCB5AC39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xmlns="" id="{101A0BAD-7269-46C2-9D52-5230428859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xmlns="" id="{3503ACDD-46B7-4891-9F45-8293A76ACBE5}"/>
              </a:ext>
            </a:extLst>
          </p:cNvPr>
          <p:cNvSpPr>
            <a:spLocks noGrp="1"/>
          </p:cNvSpPr>
          <p:nvPr>
            <p:ph type="dt" sz="half" idx="10"/>
          </p:nvPr>
        </p:nvSpPr>
        <p:spPr/>
        <p:txBody>
          <a:bodyPr/>
          <a:lstStyle/>
          <a:p>
            <a:fld id="{84BDEBD5-AA51-41D8-93D8-2C9A0ED8621B}" type="datetimeFigureOut">
              <a:rPr lang="en-GB" smtClean="0"/>
              <a:t>12/11/2019</a:t>
            </a:fld>
            <a:endParaRPr lang="en-GB"/>
          </a:p>
        </p:txBody>
      </p:sp>
      <p:sp>
        <p:nvSpPr>
          <p:cNvPr id="6" name="Footer Placeholder 5">
            <a:extLst>
              <a:ext uri="{FF2B5EF4-FFF2-40B4-BE49-F238E27FC236}">
                <a16:creationId xmlns:a16="http://schemas.microsoft.com/office/drawing/2014/main" xmlns="" id="{BE1FF8DD-0CD2-4174-96BA-1B4F2C372C3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xmlns="" id="{72F1D53A-9DD4-400C-87C7-261B4CCDA899}"/>
              </a:ext>
            </a:extLst>
          </p:cNvPr>
          <p:cNvSpPr>
            <a:spLocks noGrp="1"/>
          </p:cNvSpPr>
          <p:nvPr>
            <p:ph type="sldNum" sz="quarter" idx="12"/>
          </p:nvPr>
        </p:nvSpPr>
        <p:spPr/>
        <p:txBody>
          <a:bodyPr/>
          <a:lstStyle/>
          <a:p>
            <a:fld id="{1D9D8F05-9C1A-4E8E-A19A-802AC95B5B0F}" type="slidenum">
              <a:rPr lang="en-GB" smtClean="0"/>
              <a:t>‹#›</a:t>
            </a:fld>
            <a:endParaRPr lang="en-GB"/>
          </a:p>
        </p:txBody>
      </p:sp>
    </p:spTree>
    <p:extLst>
      <p:ext uri="{BB962C8B-B14F-4D97-AF65-F5344CB8AC3E}">
        <p14:creationId xmlns:p14="http://schemas.microsoft.com/office/powerpoint/2010/main" val="20914768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538AB84-633A-41B8-B286-8D90AB35BB1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xmlns="" id="{5C95C64F-8B08-4856-9A6A-0D7E1B370C2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xmlns="" id="{2ABCA0C6-D463-436E-83FC-8659657FF2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xmlns="" id="{9C9C6BDD-7077-47BB-9546-FE2E7DFD87CD}"/>
              </a:ext>
            </a:extLst>
          </p:cNvPr>
          <p:cNvSpPr>
            <a:spLocks noGrp="1"/>
          </p:cNvSpPr>
          <p:nvPr>
            <p:ph type="dt" sz="half" idx="10"/>
          </p:nvPr>
        </p:nvSpPr>
        <p:spPr/>
        <p:txBody>
          <a:bodyPr/>
          <a:lstStyle/>
          <a:p>
            <a:fld id="{84BDEBD5-AA51-41D8-93D8-2C9A0ED8621B}" type="datetimeFigureOut">
              <a:rPr lang="en-GB" smtClean="0"/>
              <a:t>12/11/2019</a:t>
            </a:fld>
            <a:endParaRPr lang="en-GB"/>
          </a:p>
        </p:txBody>
      </p:sp>
      <p:sp>
        <p:nvSpPr>
          <p:cNvPr id="6" name="Footer Placeholder 5">
            <a:extLst>
              <a:ext uri="{FF2B5EF4-FFF2-40B4-BE49-F238E27FC236}">
                <a16:creationId xmlns:a16="http://schemas.microsoft.com/office/drawing/2014/main" xmlns="" id="{7CB30F68-0DFD-4811-A242-227CACF61FC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xmlns="" id="{945692A0-0F7C-4280-A3E2-FE591518E14B}"/>
              </a:ext>
            </a:extLst>
          </p:cNvPr>
          <p:cNvSpPr>
            <a:spLocks noGrp="1"/>
          </p:cNvSpPr>
          <p:nvPr>
            <p:ph type="sldNum" sz="quarter" idx="12"/>
          </p:nvPr>
        </p:nvSpPr>
        <p:spPr/>
        <p:txBody>
          <a:bodyPr/>
          <a:lstStyle/>
          <a:p>
            <a:fld id="{1D9D8F05-9C1A-4E8E-A19A-802AC95B5B0F}" type="slidenum">
              <a:rPr lang="en-GB" smtClean="0"/>
              <a:t>‹#›</a:t>
            </a:fld>
            <a:endParaRPr lang="en-GB"/>
          </a:p>
        </p:txBody>
      </p:sp>
    </p:spTree>
    <p:extLst>
      <p:ext uri="{BB962C8B-B14F-4D97-AF65-F5344CB8AC3E}">
        <p14:creationId xmlns:p14="http://schemas.microsoft.com/office/powerpoint/2010/main" val="1225620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6F42FCB-443C-4ADA-AFAD-F947AE5A7F84}"/>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xmlns="" id="{7BC71876-5451-4B1A-A1ED-75AF8450C1B3}"/>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xmlns="" id="{978335F3-1FB0-4981-9E10-F75AE9B96754}"/>
              </a:ext>
            </a:extLst>
          </p:cNvPr>
          <p:cNvSpPr>
            <a:spLocks noGrp="1"/>
          </p:cNvSpPr>
          <p:nvPr>
            <p:ph type="dt" sz="half" idx="10"/>
          </p:nvPr>
        </p:nvSpPr>
        <p:spPr/>
        <p:txBody>
          <a:bodyPr/>
          <a:lstStyle/>
          <a:p>
            <a:fld id="{84BDEBD5-AA51-41D8-93D8-2C9A0ED8621B}" type="datetimeFigureOut">
              <a:rPr lang="en-GB" smtClean="0"/>
              <a:t>12/11/2019</a:t>
            </a:fld>
            <a:endParaRPr lang="en-GB"/>
          </a:p>
        </p:txBody>
      </p:sp>
      <p:sp>
        <p:nvSpPr>
          <p:cNvPr id="5" name="Footer Placeholder 4">
            <a:extLst>
              <a:ext uri="{FF2B5EF4-FFF2-40B4-BE49-F238E27FC236}">
                <a16:creationId xmlns:a16="http://schemas.microsoft.com/office/drawing/2014/main" xmlns="" id="{9F64209E-640C-4A83-87FB-39BE40A75E9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xmlns="" id="{B5D95CC2-04B8-49AE-878E-B4E3BDD27C77}"/>
              </a:ext>
            </a:extLst>
          </p:cNvPr>
          <p:cNvSpPr>
            <a:spLocks noGrp="1"/>
          </p:cNvSpPr>
          <p:nvPr>
            <p:ph type="sldNum" sz="quarter" idx="12"/>
          </p:nvPr>
        </p:nvSpPr>
        <p:spPr/>
        <p:txBody>
          <a:bodyPr/>
          <a:lstStyle/>
          <a:p>
            <a:fld id="{1D9D8F05-9C1A-4E8E-A19A-802AC95B5B0F}" type="slidenum">
              <a:rPr lang="en-GB" smtClean="0"/>
              <a:t>‹#›</a:t>
            </a:fld>
            <a:endParaRPr lang="en-GB"/>
          </a:p>
        </p:txBody>
      </p:sp>
    </p:spTree>
    <p:extLst>
      <p:ext uri="{BB962C8B-B14F-4D97-AF65-F5344CB8AC3E}">
        <p14:creationId xmlns:p14="http://schemas.microsoft.com/office/powerpoint/2010/main" val="15985934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29BAC634-FBA2-40F2-82A8-C0CC656B070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xmlns="" id="{65FE403E-B0F7-4417-8552-2F13C5DB22BD}"/>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xmlns="" id="{6F5113AF-6C84-40E0-B381-023A8D1C8BE9}"/>
              </a:ext>
            </a:extLst>
          </p:cNvPr>
          <p:cNvSpPr>
            <a:spLocks noGrp="1"/>
          </p:cNvSpPr>
          <p:nvPr>
            <p:ph type="dt" sz="half" idx="10"/>
          </p:nvPr>
        </p:nvSpPr>
        <p:spPr/>
        <p:txBody>
          <a:bodyPr/>
          <a:lstStyle/>
          <a:p>
            <a:fld id="{84BDEBD5-AA51-41D8-93D8-2C9A0ED8621B}" type="datetimeFigureOut">
              <a:rPr lang="en-GB" smtClean="0"/>
              <a:t>12/11/2019</a:t>
            </a:fld>
            <a:endParaRPr lang="en-GB"/>
          </a:p>
        </p:txBody>
      </p:sp>
      <p:sp>
        <p:nvSpPr>
          <p:cNvPr id="5" name="Footer Placeholder 4">
            <a:extLst>
              <a:ext uri="{FF2B5EF4-FFF2-40B4-BE49-F238E27FC236}">
                <a16:creationId xmlns:a16="http://schemas.microsoft.com/office/drawing/2014/main" xmlns="" id="{C9EF855F-4BD5-4A78-99D8-6681EE637C9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xmlns="" id="{BEDD4D4F-BA34-4A15-96CE-5FD5622D402A}"/>
              </a:ext>
            </a:extLst>
          </p:cNvPr>
          <p:cNvSpPr>
            <a:spLocks noGrp="1"/>
          </p:cNvSpPr>
          <p:nvPr>
            <p:ph type="sldNum" sz="quarter" idx="12"/>
          </p:nvPr>
        </p:nvSpPr>
        <p:spPr/>
        <p:txBody>
          <a:bodyPr/>
          <a:lstStyle/>
          <a:p>
            <a:fld id="{1D9D8F05-9C1A-4E8E-A19A-802AC95B5B0F}" type="slidenum">
              <a:rPr lang="en-GB" smtClean="0"/>
              <a:t>‹#›</a:t>
            </a:fld>
            <a:endParaRPr lang="en-GB"/>
          </a:p>
        </p:txBody>
      </p:sp>
    </p:spTree>
    <p:extLst>
      <p:ext uri="{BB962C8B-B14F-4D97-AF65-F5344CB8AC3E}">
        <p14:creationId xmlns:p14="http://schemas.microsoft.com/office/powerpoint/2010/main" val="35980441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3722BE23-38CE-4F1F-B283-89F40A18970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xmlns="" id="{A98F344B-A8BA-4E0A-974E-6747BF1E15E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xmlns="" id="{1C74D38A-E059-40E7-B070-EA4BCDA63C6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BDEBD5-AA51-41D8-93D8-2C9A0ED8621B}" type="datetimeFigureOut">
              <a:rPr lang="en-GB" smtClean="0"/>
              <a:t>12/11/2019</a:t>
            </a:fld>
            <a:endParaRPr lang="en-GB"/>
          </a:p>
        </p:txBody>
      </p:sp>
      <p:sp>
        <p:nvSpPr>
          <p:cNvPr id="5" name="Footer Placeholder 4">
            <a:extLst>
              <a:ext uri="{FF2B5EF4-FFF2-40B4-BE49-F238E27FC236}">
                <a16:creationId xmlns:a16="http://schemas.microsoft.com/office/drawing/2014/main" xmlns="" id="{E8CA927A-1BBD-4F79-A197-1403EF5B67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xmlns="" id="{A014087F-61C8-4E87-916F-3B31BCF4C88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9D8F05-9C1A-4E8E-A19A-802AC95B5B0F}" type="slidenum">
              <a:rPr lang="en-GB" smtClean="0"/>
              <a:t>‹#›</a:t>
            </a:fld>
            <a:endParaRPr lang="en-GB"/>
          </a:p>
        </p:txBody>
      </p:sp>
    </p:spTree>
    <p:extLst>
      <p:ext uri="{BB962C8B-B14F-4D97-AF65-F5344CB8AC3E}">
        <p14:creationId xmlns:p14="http://schemas.microsoft.com/office/powerpoint/2010/main" val="19040229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7.jpeg"/><Relationship Id="rId4" Type="http://schemas.openxmlformats.org/officeDocument/2006/relationships/image" Target="../media/image16.jpe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FD1E3A2-5187-4647-9569-139CFEA8639D}"/>
              </a:ext>
            </a:extLst>
          </p:cNvPr>
          <p:cNvSpPr>
            <a:spLocks noGrp="1"/>
          </p:cNvSpPr>
          <p:nvPr>
            <p:ph type="ctrTitle"/>
          </p:nvPr>
        </p:nvSpPr>
        <p:spPr/>
        <p:txBody>
          <a:bodyPr/>
          <a:lstStyle/>
          <a:p>
            <a:r>
              <a:rPr lang="en-GB" dirty="0"/>
              <a:t>Practice Therapeutics Orals</a:t>
            </a:r>
          </a:p>
        </p:txBody>
      </p:sp>
      <p:sp>
        <p:nvSpPr>
          <p:cNvPr id="3" name="Subtitle 2">
            <a:extLst>
              <a:ext uri="{FF2B5EF4-FFF2-40B4-BE49-F238E27FC236}">
                <a16:creationId xmlns:a16="http://schemas.microsoft.com/office/drawing/2014/main" xmlns="" id="{456A36DB-CAED-45D9-ADCD-E210488031CA}"/>
              </a:ext>
            </a:extLst>
          </p:cNvPr>
          <p:cNvSpPr>
            <a:spLocks noGrp="1"/>
          </p:cNvSpPr>
          <p:nvPr>
            <p:ph type="subTitle" idx="1"/>
          </p:nvPr>
        </p:nvSpPr>
        <p:spPr/>
        <p:txBody>
          <a:bodyPr/>
          <a:lstStyle/>
          <a:p>
            <a:endParaRPr lang="en-GB" dirty="0"/>
          </a:p>
        </p:txBody>
      </p:sp>
    </p:spTree>
    <p:extLst>
      <p:ext uri="{BB962C8B-B14F-4D97-AF65-F5344CB8AC3E}">
        <p14:creationId xmlns:p14="http://schemas.microsoft.com/office/powerpoint/2010/main" val="373772769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F5EEF77-90F9-4C07-8916-3296AFAE3561}"/>
              </a:ext>
            </a:extLst>
          </p:cNvPr>
          <p:cNvSpPr>
            <a:spLocks noGrp="1"/>
          </p:cNvSpPr>
          <p:nvPr>
            <p:ph type="title"/>
          </p:nvPr>
        </p:nvSpPr>
        <p:spPr>
          <a:xfrm>
            <a:off x="838200" y="94191"/>
            <a:ext cx="10515600" cy="1192741"/>
          </a:xfrm>
        </p:spPr>
        <p:txBody>
          <a:bodyPr>
            <a:normAutofit fontScale="90000"/>
          </a:bodyPr>
          <a:lstStyle/>
          <a:p>
            <a:r>
              <a:rPr lang="en-GB" sz="3200" dirty="0"/>
              <a:t>25YOM presents with photophobia, mild pain and lacrimation following “something flying in his right eye” after working on his car yesterday.</a:t>
            </a:r>
          </a:p>
        </p:txBody>
      </p:sp>
      <p:pic>
        <p:nvPicPr>
          <p:cNvPr id="1026" name="Picture 2" descr="corneal foreign body">
            <a:extLst>
              <a:ext uri="{FF2B5EF4-FFF2-40B4-BE49-F238E27FC236}">
                <a16:creationId xmlns:a16="http://schemas.microsoft.com/office/drawing/2014/main" xmlns="" id="{37455B8D-0541-4353-99B1-27B47B6747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2859" y="1797579"/>
            <a:ext cx="5987109" cy="449033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xmlns="" id="{E39F1D0F-5331-476B-A3C4-1C219B050BBF}"/>
              </a:ext>
            </a:extLst>
          </p:cNvPr>
          <p:cNvSpPr txBox="1"/>
          <p:nvPr/>
        </p:nvSpPr>
        <p:spPr>
          <a:xfrm>
            <a:off x="838200" y="1262510"/>
            <a:ext cx="4275667" cy="6124754"/>
          </a:xfrm>
          <a:prstGeom prst="rect">
            <a:avLst/>
          </a:prstGeom>
          <a:noFill/>
        </p:spPr>
        <p:txBody>
          <a:bodyPr wrap="square" rtlCol="0">
            <a:spAutoFit/>
          </a:bodyPr>
          <a:lstStyle/>
          <a:p>
            <a:pPr marL="514350" indent="-514350">
              <a:buAutoNum type="arabicPeriod"/>
            </a:pPr>
            <a:r>
              <a:rPr lang="en-GB" sz="2400" dirty="0"/>
              <a:t>Describe what you see</a:t>
            </a:r>
          </a:p>
          <a:p>
            <a:pPr marL="514350" indent="-514350">
              <a:buAutoNum type="arabicPeriod"/>
            </a:pPr>
            <a:endParaRPr lang="en-GB" sz="2400" dirty="0"/>
          </a:p>
          <a:p>
            <a:pPr marL="514350" indent="-514350">
              <a:buAutoNum type="arabicPeriod"/>
            </a:pPr>
            <a:r>
              <a:rPr lang="en-GB" sz="2400" dirty="0"/>
              <a:t>What other questions would you ask?</a:t>
            </a:r>
          </a:p>
          <a:p>
            <a:pPr marL="514350" indent="-514350">
              <a:buAutoNum type="arabicPeriod"/>
            </a:pPr>
            <a:endParaRPr lang="en-GB" sz="2400" dirty="0"/>
          </a:p>
          <a:p>
            <a:pPr marL="514350" indent="-514350">
              <a:buAutoNum type="arabicPeriod"/>
            </a:pPr>
            <a:r>
              <a:rPr lang="en-GB" sz="2400" dirty="0"/>
              <a:t>What other tests would you do?</a:t>
            </a:r>
          </a:p>
          <a:p>
            <a:pPr marL="514350" indent="-514350">
              <a:buAutoNum type="arabicPeriod"/>
            </a:pPr>
            <a:endParaRPr lang="en-GB" sz="2400" dirty="0"/>
          </a:p>
          <a:p>
            <a:pPr marL="514350" indent="-514350">
              <a:buAutoNum type="arabicPeriod"/>
            </a:pPr>
            <a:r>
              <a:rPr lang="en-GB" sz="2400" dirty="0"/>
              <a:t>What is your management? </a:t>
            </a:r>
          </a:p>
          <a:p>
            <a:pPr marL="514350" indent="-514350">
              <a:buAutoNum type="arabicPeriod"/>
            </a:pPr>
            <a:endParaRPr lang="en-GB" sz="2400" dirty="0"/>
          </a:p>
          <a:p>
            <a:pPr marL="514350" indent="-514350">
              <a:buAutoNum type="arabicPeriod"/>
            </a:pPr>
            <a:r>
              <a:rPr lang="en-GB" sz="2400" dirty="0"/>
              <a:t>What is the prognosis?</a:t>
            </a:r>
          </a:p>
          <a:p>
            <a:pPr marL="514350" indent="-514350">
              <a:buAutoNum type="arabicPeriod"/>
            </a:pPr>
            <a:endParaRPr lang="en-GB" sz="2400" dirty="0"/>
          </a:p>
          <a:p>
            <a:pPr marL="514350" indent="-514350">
              <a:buAutoNum type="arabicPeriod"/>
            </a:pPr>
            <a:r>
              <a:rPr lang="en-GB" sz="2400" dirty="0"/>
              <a:t>In what situations would you refer?</a:t>
            </a:r>
          </a:p>
          <a:p>
            <a:pPr marL="514350" indent="-514350">
              <a:buAutoNum type="arabicPeriod"/>
            </a:pPr>
            <a:endParaRPr lang="en-GB" sz="2800" dirty="0"/>
          </a:p>
          <a:p>
            <a:pPr marL="514350" indent="-514350">
              <a:buAutoNum type="arabicPeriod"/>
            </a:pPr>
            <a:endParaRPr lang="en-GB" sz="2800" dirty="0"/>
          </a:p>
        </p:txBody>
      </p:sp>
    </p:spTree>
    <p:extLst>
      <p:ext uri="{BB962C8B-B14F-4D97-AF65-F5344CB8AC3E}">
        <p14:creationId xmlns:p14="http://schemas.microsoft.com/office/powerpoint/2010/main" val="296048888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F5EEF77-90F9-4C07-8916-3296AFAE3561}"/>
              </a:ext>
            </a:extLst>
          </p:cNvPr>
          <p:cNvSpPr>
            <a:spLocks noGrp="1"/>
          </p:cNvSpPr>
          <p:nvPr>
            <p:ph type="title"/>
          </p:nvPr>
        </p:nvSpPr>
        <p:spPr>
          <a:xfrm>
            <a:off x="838200" y="82902"/>
            <a:ext cx="10515600" cy="1192741"/>
          </a:xfrm>
        </p:spPr>
        <p:txBody>
          <a:bodyPr>
            <a:normAutofit fontScale="90000"/>
          </a:bodyPr>
          <a:lstStyle/>
          <a:p>
            <a:r>
              <a:rPr lang="en-GB" sz="3200" dirty="0"/>
              <a:t>25YOM presents with photophobia, mild pain and lacrimation following “something flying in his right eye” after working on his car yesterday.</a:t>
            </a:r>
          </a:p>
        </p:txBody>
      </p:sp>
      <p:sp>
        <p:nvSpPr>
          <p:cNvPr id="4" name="TextBox 3">
            <a:extLst>
              <a:ext uri="{FF2B5EF4-FFF2-40B4-BE49-F238E27FC236}">
                <a16:creationId xmlns:a16="http://schemas.microsoft.com/office/drawing/2014/main" xmlns="" id="{E39F1D0F-5331-476B-A3C4-1C219B050BBF}"/>
              </a:ext>
            </a:extLst>
          </p:cNvPr>
          <p:cNvSpPr txBox="1"/>
          <p:nvPr/>
        </p:nvSpPr>
        <p:spPr>
          <a:xfrm>
            <a:off x="838200" y="1253066"/>
            <a:ext cx="11353800" cy="6186309"/>
          </a:xfrm>
          <a:prstGeom prst="rect">
            <a:avLst/>
          </a:prstGeom>
          <a:noFill/>
        </p:spPr>
        <p:txBody>
          <a:bodyPr wrap="square" rtlCol="0">
            <a:spAutoFit/>
          </a:bodyPr>
          <a:lstStyle/>
          <a:p>
            <a:pPr marL="514350" indent="-514350">
              <a:buAutoNum type="arabicPeriod"/>
            </a:pPr>
            <a:r>
              <a:rPr lang="en-GB" sz="2000" dirty="0"/>
              <a:t>Describe what you see </a:t>
            </a:r>
            <a:r>
              <a:rPr lang="en-GB" sz="2000" dirty="0">
                <a:solidFill>
                  <a:srgbClr val="FF0000"/>
                </a:solidFill>
              </a:rPr>
              <a:t>A corneal metallic foreign body 0.5mm in size with associated rust ring in temporal midperipheral cornea (4mm away from visual axis) + conjunctival injection. No iris tears</a:t>
            </a:r>
            <a:endParaRPr lang="en-GB" sz="2000" dirty="0"/>
          </a:p>
          <a:p>
            <a:pPr lvl="1"/>
            <a:endParaRPr lang="en-GB" sz="2000" dirty="0"/>
          </a:p>
          <a:p>
            <a:pPr marL="514350" indent="-514350">
              <a:buAutoNum type="arabicPeriod"/>
            </a:pPr>
            <a:r>
              <a:rPr lang="en-GB" sz="2000" dirty="0"/>
              <a:t>What other questions would you ask? </a:t>
            </a:r>
            <a:r>
              <a:rPr lang="en-GB" sz="2000" dirty="0">
                <a:solidFill>
                  <a:srgbClr val="FF0000"/>
                </a:solidFill>
              </a:rPr>
              <a:t>What type of foreign body? Velocity of impact? Symptoms? Eye protection?</a:t>
            </a:r>
            <a:endParaRPr lang="en-GB" sz="2000" dirty="0"/>
          </a:p>
          <a:p>
            <a:pPr marL="514350" indent="-514350">
              <a:buAutoNum type="arabicPeriod"/>
            </a:pPr>
            <a:endParaRPr lang="en-GB" sz="2000" dirty="0"/>
          </a:p>
          <a:p>
            <a:pPr marL="514350" indent="-514350">
              <a:buAutoNum type="arabicPeriod"/>
            </a:pPr>
            <a:r>
              <a:rPr lang="en-GB" sz="2000" dirty="0"/>
              <a:t>What other tests would you do? </a:t>
            </a:r>
            <a:r>
              <a:rPr lang="en-GB" sz="2000" dirty="0">
                <a:solidFill>
                  <a:srgbClr val="FF0000"/>
                </a:solidFill>
              </a:rPr>
              <a:t>Evert eyelids (look for other FBs), Seidel sign (penetrating), IOP, DFE (if penetrating)</a:t>
            </a:r>
            <a:endParaRPr lang="en-GB" sz="2000" dirty="0"/>
          </a:p>
          <a:p>
            <a:pPr marL="514350" indent="-514350">
              <a:buAutoNum type="arabicPeriod"/>
            </a:pPr>
            <a:endParaRPr lang="en-GB" sz="2000" dirty="0"/>
          </a:p>
          <a:p>
            <a:pPr marL="514350" indent="-514350">
              <a:buAutoNum type="arabicPeriod"/>
            </a:pPr>
            <a:r>
              <a:rPr lang="en-GB" sz="2000" dirty="0"/>
              <a:t>What is your management? </a:t>
            </a:r>
            <a:r>
              <a:rPr lang="en-GB" sz="2000" dirty="0">
                <a:solidFill>
                  <a:srgbClr val="FF0000"/>
                </a:solidFill>
              </a:rPr>
              <a:t>Remove FB (px consent, anaesthesia, depending on depth – flush w/ saline, </a:t>
            </a:r>
            <a:r>
              <a:rPr lang="en-GB" sz="2000" dirty="0" err="1">
                <a:solidFill>
                  <a:srgbClr val="FF0000"/>
                </a:solidFill>
              </a:rPr>
              <a:t>q-tip</a:t>
            </a:r>
            <a:r>
              <a:rPr lang="en-GB" sz="2000" dirty="0">
                <a:solidFill>
                  <a:srgbClr val="FF0000"/>
                </a:solidFill>
              </a:rPr>
              <a:t>, 25G needle, metallic spud, </a:t>
            </a:r>
            <a:r>
              <a:rPr lang="en-GB" sz="2000" dirty="0" err="1">
                <a:solidFill>
                  <a:srgbClr val="FF0000"/>
                </a:solidFill>
              </a:rPr>
              <a:t>algar</a:t>
            </a:r>
            <a:r>
              <a:rPr lang="en-GB" sz="2000" dirty="0">
                <a:solidFill>
                  <a:srgbClr val="FF0000"/>
                </a:solidFill>
              </a:rPr>
              <a:t> brush for removing rust ring). Prophylactic antibiotic (</a:t>
            </a:r>
            <a:r>
              <a:rPr lang="en-GB" sz="2000" dirty="0" err="1">
                <a:solidFill>
                  <a:srgbClr val="FF0000"/>
                </a:solidFill>
              </a:rPr>
              <a:t>chlorsig</a:t>
            </a:r>
            <a:r>
              <a:rPr lang="en-GB" sz="2000" dirty="0">
                <a:solidFill>
                  <a:srgbClr val="FF0000"/>
                </a:solidFill>
              </a:rPr>
              <a:t> 0.5% eyedrops QID), in-office tropicamide for photophobia, refresh P/F lubricants QID. Review 24hrs. Then depending on clinician experience, day 3 and day 7 until re-epithelialisation</a:t>
            </a:r>
          </a:p>
          <a:p>
            <a:pPr marL="514350" indent="-514350">
              <a:buAutoNum type="arabicPeriod"/>
            </a:pPr>
            <a:endParaRPr lang="en-GB" sz="2000" dirty="0"/>
          </a:p>
          <a:p>
            <a:pPr marL="514350" indent="-514350">
              <a:buAutoNum type="arabicPeriod"/>
            </a:pPr>
            <a:r>
              <a:rPr lang="en-GB" sz="2000" dirty="0"/>
              <a:t>What is the prognosis? </a:t>
            </a:r>
            <a:r>
              <a:rPr lang="en-GB" sz="2000" dirty="0">
                <a:solidFill>
                  <a:srgbClr val="FF0000"/>
                </a:solidFill>
              </a:rPr>
              <a:t>Good – away from visual axis</a:t>
            </a:r>
          </a:p>
          <a:p>
            <a:pPr marL="514350" indent="-514350">
              <a:buAutoNum type="arabicPeriod"/>
            </a:pPr>
            <a:endParaRPr lang="en-GB" sz="2000" dirty="0">
              <a:solidFill>
                <a:srgbClr val="FF0000"/>
              </a:solidFill>
            </a:endParaRPr>
          </a:p>
          <a:p>
            <a:pPr marL="514350" indent="-514350">
              <a:buAutoNum type="arabicPeriod"/>
            </a:pPr>
            <a:r>
              <a:rPr lang="en-GB" sz="2000" dirty="0"/>
              <a:t>In what situations would you refer? </a:t>
            </a:r>
            <a:r>
              <a:rPr lang="en-GB" sz="2000" dirty="0">
                <a:solidFill>
                  <a:srgbClr val="FF0000"/>
                </a:solidFill>
              </a:rPr>
              <a:t>Ocular penetration, if persistent epithelial defect (&gt; 3 days)</a:t>
            </a:r>
            <a:endParaRPr lang="en-GB" sz="2000" dirty="0"/>
          </a:p>
          <a:p>
            <a:pPr marL="514350" indent="-514350">
              <a:buAutoNum type="arabicPeriod"/>
            </a:pPr>
            <a:endParaRPr lang="en-GB" sz="2800" dirty="0"/>
          </a:p>
          <a:p>
            <a:pPr marL="514350" indent="-514350">
              <a:buAutoNum type="arabicPeriod"/>
            </a:pPr>
            <a:endParaRPr lang="en-GB" sz="2800" dirty="0"/>
          </a:p>
        </p:txBody>
      </p:sp>
    </p:spTree>
    <p:extLst>
      <p:ext uri="{BB962C8B-B14F-4D97-AF65-F5344CB8AC3E}">
        <p14:creationId xmlns:p14="http://schemas.microsoft.com/office/powerpoint/2010/main" val="28154836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9C7CA39-A55D-45A9-9CFD-AFF8DD25B6B0}"/>
              </a:ext>
            </a:extLst>
          </p:cNvPr>
          <p:cNvSpPr>
            <a:spLocks noGrp="1"/>
          </p:cNvSpPr>
          <p:nvPr>
            <p:ph type="title"/>
          </p:nvPr>
        </p:nvSpPr>
        <p:spPr>
          <a:xfrm>
            <a:off x="838200" y="-18699"/>
            <a:ext cx="10515600" cy="1091141"/>
          </a:xfrm>
        </p:spPr>
        <p:txBody>
          <a:bodyPr>
            <a:normAutofit/>
          </a:bodyPr>
          <a:lstStyle/>
          <a:p>
            <a:r>
              <a:rPr lang="en-GB" sz="2900" dirty="0"/>
              <a:t>22YOM presents with 1 day history of red and painful LE. Vision is blurry and he is sensitive to lights. He has not had this before.</a:t>
            </a:r>
          </a:p>
        </p:txBody>
      </p:sp>
      <p:pic>
        <p:nvPicPr>
          <p:cNvPr id="3074" name="Picture 2" descr="https://upload.wikimedia.org/wikipedia/commons/thumb/6/66/Anterior-uveitis.jpg/220px-Anterior-uveitis.jpg">
            <a:extLst>
              <a:ext uri="{FF2B5EF4-FFF2-40B4-BE49-F238E27FC236}">
                <a16:creationId xmlns:a16="http://schemas.microsoft.com/office/drawing/2014/main" xmlns="" id="{B6F795CF-A009-40CA-AC14-A9EAA52DBA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64213" y="1835327"/>
            <a:ext cx="5863343" cy="388212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xmlns="" id="{9F9C39E1-448C-4613-8B27-3E3A47735F13}"/>
              </a:ext>
            </a:extLst>
          </p:cNvPr>
          <p:cNvSpPr txBox="1"/>
          <p:nvPr/>
        </p:nvSpPr>
        <p:spPr>
          <a:xfrm>
            <a:off x="282222" y="1072442"/>
            <a:ext cx="5317067" cy="7294305"/>
          </a:xfrm>
          <a:prstGeom prst="rect">
            <a:avLst/>
          </a:prstGeom>
          <a:noFill/>
        </p:spPr>
        <p:txBody>
          <a:bodyPr wrap="square" rtlCol="0">
            <a:spAutoFit/>
          </a:bodyPr>
          <a:lstStyle/>
          <a:p>
            <a:pPr marL="342900" indent="-342900">
              <a:buFont typeface="+mj-lt"/>
              <a:buAutoNum type="arabicPeriod"/>
            </a:pPr>
            <a:r>
              <a:rPr lang="en-GB" sz="2000" dirty="0"/>
              <a:t>Describe what you see?</a:t>
            </a:r>
          </a:p>
          <a:p>
            <a:pPr marL="342900" indent="-342900">
              <a:buFont typeface="+mj-lt"/>
              <a:buAutoNum type="arabicPeriod"/>
            </a:pPr>
            <a:endParaRPr lang="en-GB" sz="2000" dirty="0"/>
          </a:p>
          <a:p>
            <a:pPr marL="342900" indent="-342900">
              <a:buFont typeface="+mj-lt"/>
              <a:buAutoNum type="arabicPeriod"/>
            </a:pPr>
            <a:r>
              <a:rPr lang="en-GB" sz="2000" dirty="0"/>
              <a:t>What other tests would you do? </a:t>
            </a:r>
          </a:p>
          <a:p>
            <a:pPr marL="342900" indent="-342900">
              <a:buFont typeface="+mj-lt"/>
              <a:buAutoNum type="arabicPeriod"/>
            </a:pPr>
            <a:endParaRPr lang="en-GB" sz="2000" dirty="0"/>
          </a:p>
          <a:p>
            <a:pPr marL="342900" indent="-342900">
              <a:buFont typeface="+mj-lt"/>
              <a:buAutoNum type="arabicPeriod"/>
            </a:pPr>
            <a:r>
              <a:rPr lang="en-GB" sz="2000" dirty="0"/>
              <a:t>What are your </a:t>
            </a:r>
            <a:r>
              <a:rPr lang="en-GB" sz="2000" dirty="0" err="1"/>
              <a:t>ddx</a:t>
            </a:r>
            <a:r>
              <a:rPr lang="en-GB" sz="2000" dirty="0"/>
              <a:t>? And most likely dx?</a:t>
            </a:r>
          </a:p>
          <a:p>
            <a:pPr marL="342900" indent="-342900">
              <a:buFont typeface="+mj-lt"/>
              <a:buAutoNum type="arabicPeriod"/>
            </a:pPr>
            <a:endParaRPr lang="en-GB" sz="2000" dirty="0"/>
          </a:p>
          <a:p>
            <a:pPr marL="342900" indent="-342900">
              <a:buFont typeface="+mj-lt"/>
              <a:buAutoNum type="arabicPeriod"/>
            </a:pPr>
            <a:r>
              <a:rPr lang="en-GB" sz="2000" dirty="0"/>
              <a:t>What is the pathophysiology of AAU?</a:t>
            </a:r>
          </a:p>
          <a:p>
            <a:pPr marL="342900" indent="-342900">
              <a:buFont typeface="+mj-lt"/>
              <a:buAutoNum type="arabicPeriod"/>
            </a:pPr>
            <a:endParaRPr lang="en-GB" sz="2000" dirty="0"/>
          </a:p>
          <a:p>
            <a:pPr marL="342900" indent="-342900">
              <a:buFont typeface="+mj-lt"/>
              <a:buAutoNum type="arabicPeriod"/>
            </a:pPr>
            <a:r>
              <a:rPr lang="en-GB" sz="2000" dirty="0"/>
              <a:t>If you saw approx. 25-30cells in 1mm x 1mm field in AC, what is your mx?</a:t>
            </a:r>
          </a:p>
          <a:p>
            <a:pPr marL="342900" indent="-342900">
              <a:buFont typeface="+mj-lt"/>
              <a:buAutoNum type="arabicPeriod"/>
            </a:pPr>
            <a:endParaRPr lang="en-GB" sz="2000" dirty="0"/>
          </a:p>
          <a:p>
            <a:pPr marL="342900" indent="-342900">
              <a:buFont typeface="+mj-lt"/>
              <a:buAutoNum type="arabicPeriod"/>
            </a:pPr>
            <a:r>
              <a:rPr lang="en-GB" sz="2000" dirty="0"/>
              <a:t>Are there any side effects of your </a:t>
            </a:r>
            <a:r>
              <a:rPr lang="en-GB" sz="2000" dirty="0" err="1"/>
              <a:t>tx</a:t>
            </a:r>
            <a:r>
              <a:rPr lang="en-GB" sz="2000" dirty="0"/>
              <a:t>? </a:t>
            </a:r>
          </a:p>
          <a:p>
            <a:pPr marL="342900" indent="-342900">
              <a:buFont typeface="+mj-lt"/>
              <a:buAutoNum type="arabicPeriod"/>
            </a:pPr>
            <a:endParaRPr lang="en-GB" sz="2000" dirty="0"/>
          </a:p>
          <a:p>
            <a:pPr marL="342900" indent="-342900">
              <a:buFont typeface="+mj-lt"/>
              <a:buAutoNum type="arabicPeriod"/>
            </a:pPr>
            <a:r>
              <a:rPr lang="en-GB" sz="2000" dirty="0"/>
              <a:t>What are the proposed mechanisms of steroid induced IOP? What are the classifications and who is most at risk?</a:t>
            </a:r>
          </a:p>
          <a:p>
            <a:pPr marL="342900" indent="-342900">
              <a:buFont typeface="+mj-lt"/>
              <a:buAutoNum type="arabicPeriod"/>
            </a:pPr>
            <a:endParaRPr lang="en-GB" sz="2000" dirty="0"/>
          </a:p>
          <a:p>
            <a:pPr marL="342900" indent="-342900">
              <a:buFont typeface="+mj-lt"/>
              <a:buAutoNum type="arabicPeriod"/>
            </a:pPr>
            <a:endParaRPr lang="en-GB" sz="2000" dirty="0"/>
          </a:p>
          <a:p>
            <a:pPr marL="342900" indent="-342900">
              <a:buFont typeface="+mj-lt"/>
              <a:buAutoNum type="arabicPeriod"/>
            </a:pPr>
            <a:endParaRPr lang="en-GB" dirty="0"/>
          </a:p>
          <a:p>
            <a:pPr marL="342900" indent="-342900">
              <a:buFont typeface="+mj-lt"/>
              <a:buAutoNum type="arabicPeriod"/>
            </a:pPr>
            <a:endParaRPr lang="en-GB" dirty="0"/>
          </a:p>
          <a:p>
            <a:pPr marL="342900" indent="-342900">
              <a:buFont typeface="+mj-lt"/>
              <a:buAutoNum type="arabicPeriod"/>
            </a:pPr>
            <a:endParaRPr lang="en-GB" dirty="0"/>
          </a:p>
          <a:p>
            <a:pPr marL="342900" indent="-342900">
              <a:buFont typeface="+mj-lt"/>
              <a:buAutoNum type="arabicPeriod"/>
            </a:pPr>
            <a:endParaRPr lang="en-GB" dirty="0"/>
          </a:p>
          <a:p>
            <a:pPr marL="342900" indent="-342900">
              <a:buFont typeface="+mj-lt"/>
              <a:buAutoNum type="arabicPeriod"/>
            </a:pPr>
            <a:endParaRPr lang="en-GB" dirty="0"/>
          </a:p>
          <a:p>
            <a:pPr marL="342900" indent="-342900">
              <a:buFont typeface="+mj-lt"/>
              <a:buAutoNum type="arabicPeriod"/>
            </a:pPr>
            <a:endParaRPr lang="en-GB" dirty="0"/>
          </a:p>
        </p:txBody>
      </p:sp>
    </p:spTree>
    <p:extLst>
      <p:ext uri="{BB962C8B-B14F-4D97-AF65-F5344CB8AC3E}">
        <p14:creationId xmlns:p14="http://schemas.microsoft.com/office/powerpoint/2010/main" val="72816957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9C7CA39-A55D-45A9-9CFD-AFF8DD25B6B0}"/>
              </a:ext>
            </a:extLst>
          </p:cNvPr>
          <p:cNvSpPr>
            <a:spLocks noGrp="1"/>
          </p:cNvSpPr>
          <p:nvPr>
            <p:ph type="title"/>
          </p:nvPr>
        </p:nvSpPr>
        <p:spPr>
          <a:xfrm>
            <a:off x="838200" y="-18699"/>
            <a:ext cx="10515600" cy="1091141"/>
          </a:xfrm>
        </p:spPr>
        <p:txBody>
          <a:bodyPr>
            <a:normAutofit/>
          </a:bodyPr>
          <a:lstStyle/>
          <a:p>
            <a:r>
              <a:rPr lang="en-GB" sz="2900" dirty="0"/>
              <a:t>22YOM presents with 1 day history of red and painful LE. Vision is blurry and he is sensitive to lights. He has not had this before.</a:t>
            </a:r>
          </a:p>
        </p:txBody>
      </p:sp>
      <p:sp>
        <p:nvSpPr>
          <p:cNvPr id="3" name="TextBox 2">
            <a:extLst>
              <a:ext uri="{FF2B5EF4-FFF2-40B4-BE49-F238E27FC236}">
                <a16:creationId xmlns:a16="http://schemas.microsoft.com/office/drawing/2014/main" xmlns="" id="{9F9C39E1-448C-4613-8B27-3E3A47735F13}"/>
              </a:ext>
            </a:extLst>
          </p:cNvPr>
          <p:cNvSpPr txBox="1"/>
          <p:nvPr/>
        </p:nvSpPr>
        <p:spPr>
          <a:xfrm>
            <a:off x="282222" y="856542"/>
            <a:ext cx="11785600" cy="8002191"/>
          </a:xfrm>
          <a:prstGeom prst="rect">
            <a:avLst/>
          </a:prstGeom>
          <a:noFill/>
        </p:spPr>
        <p:txBody>
          <a:bodyPr wrap="square" rtlCol="0">
            <a:spAutoFit/>
          </a:bodyPr>
          <a:lstStyle/>
          <a:p>
            <a:pPr marL="342900" indent="-342900">
              <a:buFont typeface="+mj-lt"/>
              <a:buAutoNum type="arabicPeriod"/>
            </a:pPr>
            <a:r>
              <a:rPr lang="en-GB" sz="1600" dirty="0"/>
              <a:t>Describe what you see? </a:t>
            </a:r>
            <a:r>
              <a:rPr lang="en-GB" sz="1600" dirty="0" err="1">
                <a:solidFill>
                  <a:srgbClr val="FF0000"/>
                </a:solidFill>
              </a:rPr>
              <a:t>Conj</a:t>
            </a:r>
            <a:r>
              <a:rPr lang="en-GB" sz="1600" dirty="0">
                <a:solidFill>
                  <a:srgbClr val="FF0000"/>
                </a:solidFill>
              </a:rPr>
              <a:t> injection w/ 360 </a:t>
            </a:r>
            <a:r>
              <a:rPr lang="en-GB" sz="1600" dirty="0" err="1">
                <a:solidFill>
                  <a:srgbClr val="FF0000"/>
                </a:solidFill>
              </a:rPr>
              <a:t>circumciliary</a:t>
            </a:r>
            <a:r>
              <a:rPr lang="en-GB" sz="1600" dirty="0">
                <a:solidFill>
                  <a:srgbClr val="FF0000"/>
                </a:solidFill>
              </a:rPr>
              <a:t> flush (sup especially), </a:t>
            </a:r>
            <a:r>
              <a:rPr lang="en-GB" sz="1600" dirty="0" err="1">
                <a:solidFill>
                  <a:srgbClr val="FF0000"/>
                </a:solidFill>
              </a:rPr>
              <a:t>dyscoria</a:t>
            </a:r>
            <a:r>
              <a:rPr lang="en-GB" sz="1600" dirty="0">
                <a:solidFill>
                  <a:srgbClr val="FF0000"/>
                </a:solidFill>
              </a:rPr>
              <a:t> (likely from post </a:t>
            </a:r>
            <a:r>
              <a:rPr lang="en-GB" sz="1600" dirty="0" err="1">
                <a:solidFill>
                  <a:srgbClr val="FF0000"/>
                </a:solidFill>
              </a:rPr>
              <a:t>synechiae</a:t>
            </a:r>
            <a:r>
              <a:rPr lang="en-GB" sz="1600" dirty="0">
                <a:solidFill>
                  <a:srgbClr val="FF0000"/>
                </a:solidFill>
              </a:rPr>
              <a:t>), </a:t>
            </a:r>
            <a:endParaRPr lang="en-GB" sz="1600" dirty="0"/>
          </a:p>
          <a:p>
            <a:pPr marL="342900" indent="-342900">
              <a:buFont typeface="+mj-lt"/>
              <a:buAutoNum type="arabicPeriod"/>
            </a:pPr>
            <a:endParaRPr lang="en-GB" sz="1600" dirty="0"/>
          </a:p>
          <a:p>
            <a:pPr marL="342900" indent="-342900">
              <a:buFont typeface="+mj-lt"/>
              <a:buAutoNum type="arabicPeriod"/>
            </a:pPr>
            <a:r>
              <a:rPr lang="en-GB" sz="1600" dirty="0"/>
              <a:t>What other tests would you do in the consulting room? </a:t>
            </a:r>
            <a:r>
              <a:rPr lang="en-GB" sz="1600" dirty="0">
                <a:solidFill>
                  <a:srgbClr val="FF0000"/>
                </a:solidFill>
              </a:rPr>
              <a:t>Assess AC, </a:t>
            </a:r>
            <a:r>
              <a:rPr lang="en-GB" sz="1600" dirty="0" err="1">
                <a:solidFill>
                  <a:srgbClr val="FF0000"/>
                </a:solidFill>
              </a:rPr>
              <a:t>NaFl</a:t>
            </a:r>
            <a:r>
              <a:rPr lang="en-GB" sz="1600" dirty="0">
                <a:solidFill>
                  <a:srgbClr val="FF0000"/>
                </a:solidFill>
              </a:rPr>
              <a:t> assessment, IOP, DFE</a:t>
            </a:r>
            <a:endParaRPr lang="en-GB" sz="1600" dirty="0"/>
          </a:p>
          <a:p>
            <a:pPr marL="342900" indent="-342900">
              <a:buFont typeface="+mj-lt"/>
              <a:buAutoNum type="arabicPeriod"/>
            </a:pPr>
            <a:endParaRPr lang="en-GB" sz="1600" dirty="0"/>
          </a:p>
          <a:p>
            <a:pPr marL="342900" indent="-342900">
              <a:buFont typeface="+mj-lt"/>
              <a:buAutoNum type="arabicPeriod"/>
            </a:pPr>
            <a:r>
              <a:rPr lang="en-GB" sz="1600" dirty="0"/>
              <a:t>What are your </a:t>
            </a:r>
            <a:r>
              <a:rPr lang="en-GB" sz="1600" dirty="0" err="1"/>
              <a:t>ddx</a:t>
            </a:r>
            <a:r>
              <a:rPr lang="en-GB" sz="1600" dirty="0"/>
              <a:t>? And most likely dx? </a:t>
            </a:r>
            <a:r>
              <a:rPr lang="en-GB" sz="1600" b="1" u="sng" dirty="0">
                <a:solidFill>
                  <a:srgbClr val="FF0000"/>
                </a:solidFill>
              </a:rPr>
              <a:t>AAU</a:t>
            </a:r>
            <a:r>
              <a:rPr lang="en-GB" sz="1600" dirty="0">
                <a:solidFill>
                  <a:srgbClr val="FF0000"/>
                </a:solidFill>
              </a:rPr>
              <a:t>, FHI, PSS, traumatic iritis, drug-induced uveitis (rifabutin, cidofovir), </a:t>
            </a:r>
            <a:r>
              <a:rPr lang="en-GB" sz="1600" dirty="0" err="1">
                <a:solidFill>
                  <a:srgbClr val="FF0000"/>
                </a:solidFill>
              </a:rPr>
              <a:t>sclerouveitis</a:t>
            </a:r>
            <a:r>
              <a:rPr lang="en-GB" sz="1600" dirty="0">
                <a:solidFill>
                  <a:srgbClr val="FF0000"/>
                </a:solidFill>
              </a:rPr>
              <a:t>, CLARE, infectious </a:t>
            </a:r>
            <a:r>
              <a:rPr lang="en-GB" sz="1600" dirty="0" err="1">
                <a:solidFill>
                  <a:srgbClr val="FF0000"/>
                </a:solidFill>
              </a:rPr>
              <a:t>keratouveitis</a:t>
            </a:r>
            <a:r>
              <a:rPr lang="en-GB" sz="1600" dirty="0">
                <a:solidFill>
                  <a:srgbClr val="FF0000"/>
                </a:solidFill>
              </a:rPr>
              <a:t> (herpes/toxoplasmosis/bacterial), infectious </a:t>
            </a:r>
            <a:r>
              <a:rPr lang="en-GB" sz="1600" dirty="0" err="1">
                <a:solidFill>
                  <a:srgbClr val="FF0000"/>
                </a:solidFill>
              </a:rPr>
              <a:t>endophthalmitis</a:t>
            </a:r>
            <a:r>
              <a:rPr lang="en-GB" sz="1600" dirty="0">
                <a:solidFill>
                  <a:srgbClr val="FF0000"/>
                </a:solidFill>
              </a:rPr>
              <a:t>, AAC</a:t>
            </a:r>
            <a:endParaRPr lang="en-GB" sz="1600" dirty="0"/>
          </a:p>
          <a:p>
            <a:pPr marL="342900" indent="-342900">
              <a:buFont typeface="+mj-lt"/>
              <a:buAutoNum type="arabicPeriod"/>
            </a:pPr>
            <a:endParaRPr lang="en-GB" sz="1600" dirty="0"/>
          </a:p>
          <a:p>
            <a:pPr marL="342900" indent="-342900">
              <a:buFont typeface="+mj-lt"/>
              <a:buAutoNum type="arabicPeriod"/>
            </a:pPr>
            <a:r>
              <a:rPr lang="en-GB" sz="1600" dirty="0"/>
              <a:t>What is the pathophysiology of AAU? </a:t>
            </a:r>
            <a:r>
              <a:rPr lang="en-GB" sz="1600" dirty="0">
                <a:solidFill>
                  <a:srgbClr val="FF0000"/>
                </a:solidFill>
              </a:rPr>
              <a:t>Breakdown of blood aqueous barrier i.e. increased permeability of iris/ciliary body </a:t>
            </a:r>
            <a:r>
              <a:rPr lang="en-GB" sz="1600" dirty="0" err="1">
                <a:solidFill>
                  <a:srgbClr val="FF0000"/>
                </a:solidFill>
              </a:rPr>
              <a:t>capiliaries</a:t>
            </a:r>
            <a:r>
              <a:rPr lang="en-GB" sz="1600" dirty="0">
                <a:solidFill>
                  <a:srgbClr val="FF0000"/>
                </a:solidFill>
              </a:rPr>
              <a:t> </a:t>
            </a:r>
            <a:r>
              <a:rPr lang="en-GB" sz="1600" dirty="0">
                <a:solidFill>
                  <a:srgbClr val="FF0000"/>
                </a:solidFill>
                <a:sym typeface="Wingdings" panose="05000000000000000000" pitchFamily="2" charset="2"/>
              </a:rPr>
              <a:t> escape of leukocytes, protein and fibrin into aqueous</a:t>
            </a:r>
          </a:p>
          <a:p>
            <a:pPr marL="342900" indent="-342900">
              <a:buFont typeface="+mj-lt"/>
              <a:buAutoNum type="arabicPeriod"/>
            </a:pPr>
            <a:endParaRPr lang="en-GB" sz="1600" dirty="0">
              <a:solidFill>
                <a:srgbClr val="FF0000"/>
              </a:solidFill>
              <a:sym typeface="Wingdings" panose="05000000000000000000" pitchFamily="2" charset="2"/>
            </a:endParaRPr>
          </a:p>
          <a:p>
            <a:pPr marL="342900" indent="-342900">
              <a:buFont typeface="+mj-lt"/>
              <a:buAutoNum type="arabicPeriod"/>
            </a:pPr>
            <a:r>
              <a:rPr lang="en-GB" sz="1600" dirty="0">
                <a:sym typeface="Wingdings" panose="05000000000000000000" pitchFamily="2" charset="2"/>
              </a:rPr>
              <a:t>I</a:t>
            </a:r>
            <a:r>
              <a:rPr lang="en-GB" sz="1600" dirty="0"/>
              <a:t>f you saw approx. 25-30cells in 1mm x 1mm field in AC, what is your mx? </a:t>
            </a:r>
            <a:r>
              <a:rPr lang="en-GB" sz="1600" dirty="0">
                <a:solidFill>
                  <a:srgbClr val="FF0000"/>
                </a:solidFill>
              </a:rPr>
              <a:t>According to SUN this is Grade 2+ - 3+ cells i.e. moderate uveitis. </a:t>
            </a:r>
          </a:p>
          <a:p>
            <a:pPr marL="2171700" lvl="4" indent="-342900">
              <a:buFont typeface="+mj-lt"/>
              <a:buAutoNum type="arabicPeriod"/>
            </a:pPr>
            <a:r>
              <a:rPr lang="en-GB" sz="1600" dirty="0">
                <a:solidFill>
                  <a:srgbClr val="FF0000"/>
                </a:solidFill>
              </a:rPr>
              <a:t>Steroid </a:t>
            </a:r>
            <a:r>
              <a:rPr lang="en-GB" sz="1600" b="1" dirty="0" err="1">
                <a:solidFill>
                  <a:srgbClr val="FF0000"/>
                </a:solidFill>
              </a:rPr>
              <a:t>pred</a:t>
            </a:r>
            <a:r>
              <a:rPr lang="en-GB" sz="1600" b="1" dirty="0">
                <a:solidFill>
                  <a:srgbClr val="FF0000"/>
                </a:solidFill>
              </a:rPr>
              <a:t> forte </a:t>
            </a:r>
            <a:r>
              <a:rPr lang="en-GB" sz="1600" dirty="0">
                <a:solidFill>
                  <a:srgbClr val="FF0000"/>
                </a:solidFill>
              </a:rPr>
              <a:t>1% q2h (w/ loading dose q15m for 1hr) </a:t>
            </a:r>
            <a:r>
              <a:rPr lang="en-GB" sz="1600" dirty="0">
                <a:solidFill>
                  <a:srgbClr val="FF0000"/>
                </a:solidFill>
                <a:sym typeface="Wingdings" panose="05000000000000000000" pitchFamily="2" charset="2"/>
              </a:rPr>
              <a:t> anti-inflammation, </a:t>
            </a:r>
            <a:endParaRPr lang="en-GB" sz="1600" dirty="0">
              <a:solidFill>
                <a:srgbClr val="FF0000"/>
              </a:solidFill>
            </a:endParaRPr>
          </a:p>
          <a:p>
            <a:pPr marL="2171700" lvl="4" indent="-342900">
              <a:buFont typeface="+mj-lt"/>
              <a:buAutoNum type="arabicPeriod"/>
            </a:pPr>
            <a:r>
              <a:rPr lang="en-GB" sz="1600" dirty="0">
                <a:solidFill>
                  <a:srgbClr val="FF0000"/>
                </a:solidFill>
              </a:rPr>
              <a:t>Cycloplegic agent </a:t>
            </a:r>
            <a:r>
              <a:rPr lang="en-GB" sz="1600" b="1" dirty="0">
                <a:solidFill>
                  <a:srgbClr val="FF0000"/>
                </a:solidFill>
              </a:rPr>
              <a:t>atropine</a:t>
            </a:r>
            <a:r>
              <a:rPr lang="en-GB" sz="1600" dirty="0">
                <a:solidFill>
                  <a:srgbClr val="FF0000"/>
                </a:solidFill>
              </a:rPr>
              <a:t> 1% </a:t>
            </a:r>
            <a:r>
              <a:rPr lang="en-GB" sz="1600" dirty="0" err="1">
                <a:solidFill>
                  <a:srgbClr val="FF0000"/>
                </a:solidFill>
              </a:rPr>
              <a:t>tid</a:t>
            </a:r>
            <a:r>
              <a:rPr lang="en-GB" sz="1600" dirty="0">
                <a:solidFill>
                  <a:srgbClr val="FF0000"/>
                </a:solidFill>
              </a:rPr>
              <a:t> </a:t>
            </a:r>
            <a:r>
              <a:rPr lang="en-GB" sz="1600" dirty="0">
                <a:solidFill>
                  <a:srgbClr val="FF0000"/>
                </a:solidFill>
                <a:sym typeface="Wingdings" panose="05000000000000000000" pitchFamily="2" charset="2"/>
              </a:rPr>
              <a:t> </a:t>
            </a:r>
            <a:r>
              <a:rPr lang="en-GB" sz="1600" dirty="0" err="1">
                <a:solidFill>
                  <a:srgbClr val="FF0000"/>
                </a:solidFill>
                <a:sym typeface="Wingdings" panose="05000000000000000000" pitchFamily="2" charset="2"/>
              </a:rPr>
              <a:t>sx</a:t>
            </a:r>
            <a:r>
              <a:rPr lang="en-GB" sz="1600" dirty="0">
                <a:solidFill>
                  <a:srgbClr val="FF0000"/>
                </a:solidFill>
                <a:sym typeface="Wingdings" panose="05000000000000000000" pitchFamily="2" charset="2"/>
              </a:rPr>
              <a:t> relief (photophobia), prevent </a:t>
            </a:r>
            <a:r>
              <a:rPr lang="en-GB" sz="1600" dirty="0" err="1">
                <a:solidFill>
                  <a:srgbClr val="FF0000"/>
                </a:solidFill>
                <a:sym typeface="Wingdings" panose="05000000000000000000" pitchFamily="2" charset="2"/>
              </a:rPr>
              <a:t>synechiae</a:t>
            </a:r>
            <a:r>
              <a:rPr lang="en-GB" sz="1600" dirty="0">
                <a:solidFill>
                  <a:srgbClr val="FF0000"/>
                </a:solidFill>
                <a:sym typeface="Wingdings" panose="05000000000000000000" pitchFamily="2" charset="2"/>
              </a:rPr>
              <a:t> formation, stabilise blood-aqueous barrier</a:t>
            </a:r>
            <a:endParaRPr lang="en-GB" sz="1600" dirty="0">
              <a:solidFill>
                <a:srgbClr val="FF0000"/>
              </a:solidFill>
            </a:endParaRPr>
          </a:p>
          <a:p>
            <a:pPr marL="342900" indent="-342900">
              <a:buFont typeface="+mj-lt"/>
              <a:buAutoNum type="arabicPeriod"/>
            </a:pPr>
            <a:endParaRPr lang="en-GB" sz="1600" dirty="0"/>
          </a:p>
          <a:p>
            <a:pPr marL="342900" indent="-342900">
              <a:buFont typeface="+mj-lt"/>
              <a:buAutoNum type="arabicPeriod"/>
            </a:pPr>
            <a:r>
              <a:rPr lang="en-GB" sz="1600" dirty="0"/>
              <a:t>Are there any side effects of your </a:t>
            </a:r>
            <a:r>
              <a:rPr lang="en-GB" sz="1600" dirty="0" err="1"/>
              <a:t>tx</a:t>
            </a:r>
            <a:r>
              <a:rPr lang="en-GB" sz="1600" dirty="0"/>
              <a:t>? </a:t>
            </a:r>
            <a:r>
              <a:rPr lang="en-GB" sz="1600" dirty="0">
                <a:solidFill>
                  <a:srgbClr val="FF0000"/>
                </a:solidFill>
              </a:rPr>
              <a:t>Steroid induced IOP rise + PSC cataract + increased susceptibility to infection</a:t>
            </a:r>
            <a:endParaRPr lang="en-GB" sz="1600" dirty="0"/>
          </a:p>
          <a:p>
            <a:pPr marL="342900" indent="-342900">
              <a:buFont typeface="+mj-lt"/>
              <a:buAutoNum type="arabicPeriod"/>
            </a:pPr>
            <a:endParaRPr lang="en-GB" sz="1600" dirty="0"/>
          </a:p>
          <a:p>
            <a:pPr marL="342900" indent="-342900">
              <a:buFont typeface="+mj-lt"/>
              <a:buAutoNum type="arabicPeriod"/>
            </a:pPr>
            <a:r>
              <a:rPr lang="en-GB" sz="1600" dirty="0"/>
              <a:t>What are the proposed mechanisms of steroid induced IOP? What are the classifications and who is most at risk (include reference)? </a:t>
            </a:r>
          </a:p>
          <a:p>
            <a:pPr marL="1257300" lvl="2" indent="-342900">
              <a:buFont typeface="+mj-lt"/>
              <a:buAutoNum type="arabicPeriod"/>
            </a:pPr>
            <a:r>
              <a:rPr lang="en-GB" sz="1600" dirty="0">
                <a:solidFill>
                  <a:srgbClr val="FF0000"/>
                </a:solidFill>
              </a:rPr>
              <a:t>Physical/Mechanical changes to microstructure (Glucocorticoid receptor complex-mediated cross-linking of actin fibres)</a:t>
            </a:r>
          </a:p>
          <a:p>
            <a:pPr marL="1257300" lvl="2" indent="-342900">
              <a:buFont typeface="+mj-lt"/>
              <a:buAutoNum type="arabicPeriod"/>
            </a:pPr>
            <a:r>
              <a:rPr lang="en-GB" sz="1600" dirty="0">
                <a:solidFill>
                  <a:srgbClr val="FF0000"/>
                </a:solidFill>
              </a:rPr>
              <a:t>Increase in deposition of substances in ECM (Myocilin induced increased </a:t>
            </a:r>
            <a:r>
              <a:rPr lang="en-GB" sz="1600" dirty="0" err="1">
                <a:solidFill>
                  <a:srgbClr val="FF0000"/>
                </a:solidFill>
              </a:rPr>
              <a:t>elastins</a:t>
            </a:r>
            <a:r>
              <a:rPr lang="en-GB" sz="1600" dirty="0">
                <a:solidFill>
                  <a:srgbClr val="FF0000"/>
                </a:solidFill>
              </a:rPr>
              <a:t>/glycosaminoglycans/fibronectin)</a:t>
            </a:r>
          </a:p>
          <a:p>
            <a:pPr marL="1257300" lvl="2" indent="-342900">
              <a:buFont typeface="+mj-lt"/>
              <a:buAutoNum type="arabicPeriod"/>
            </a:pPr>
            <a:r>
              <a:rPr lang="en-GB" sz="1600" dirty="0">
                <a:solidFill>
                  <a:srgbClr val="FF0000"/>
                </a:solidFill>
              </a:rPr>
              <a:t>Inhibition of proteases/TM endothelial cell phagocytosis (Reduced functional activity due to material in TM)</a:t>
            </a:r>
          </a:p>
          <a:p>
            <a:pPr lvl="1"/>
            <a:r>
              <a:rPr lang="en-GB" sz="1600" dirty="0">
                <a:solidFill>
                  <a:srgbClr val="FF0000"/>
                </a:solidFill>
              </a:rPr>
              <a:t>Classification: &lt; 6mmHg = Non (65%), 6-15mmHg = Low (30%), &gt; 16mmHg = High (5%)</a:t>
            </a:r>
          </a:p>
          <a:p>
            <a:pPr lvl="1"/>
            <a:r>
              <a:rPr lang="en-GB" sz="1600" dirty="0">
                <a:solidFill>
                  <a:srgbClr val="FF0000"/>
                </a:solidFill>
              </a:rPr>
              <a:t>High risk </a:t>
            </a:r>
            <a:r>
              <a:rPr lang="en-GB" sz="1600" dirty="0" err="1">
                <a:solidFill>
                  <a:srgbClr val="FF0000"/>
                </a:solidFill>
              </a:rPr>
              <a:t>px</a:t>
            </a:r>
            <a:r>
              <a:rPr lang="en-GB" sz="1600" dirty="0">
                <a:solidFill>
                  <a:srgbClr val="FF0000"/>
                </a:solidFill>
              </a:rPr>
              <a:t> (A&amp;B) = Children &lt; 10 years, POAG, </a:t>
            </a:r>
            <a:r>
              <a:rPr lang="en-GB" sz="1600" dirty="0" err="1">
                <a:solidFill>
                  <a:srgbClr val="FF0000"/>
                </a:solidFill>
              </a:rPr>
              <a:t>FHx</a:t>
            </a:r>
            <a:r>
              <a:rPr lang="en-GB" sz="1600" dirty="0">
                <a:solidFill>
                  <a:srgbClr val="FF0000"/>
                </a:solidFill>
              </a:rPr>
              <a:t> POAG (1</a:t>
            </a:r>
            <a:r>
              <a:rPr lang="en-GB" sz="1600" baseline="30000" dirty="0">
                <a:solidFill>
                  <a:srgbClr val="FF0000"/>
                </a:solidFill>
              </a:rPr>
              <a:t>st</a:t>
            </a:r>
            <a:r>
              <a:rPr lang="en-GB" sz="1600" dirty="0">
                <a:solidFill>
                  <a:srgbClr val="FF0000"/>
                </a:solidFill>
              </a:rPr>
              <a:t> degree relative) + myopia, DM I, PDS, connective tissue disease</a:t>
            </a:r>
          </a:p>
          <a:p>
            <a:pPr marL="342900" indent="-342900">
              <a:buFont typeface="+mj-lt"/>
              <a:buAutoNum type="arabicPeriod"/>
            </a:pPr>
            <a:endParaRPr lang="en-GB" dirty="0"/>
          </a:p>
          <a:p>
            <a:pPr marL="342900" indent="-342900">
              <a:buFont typeface="+mj-lt"/>
              <a:buAutoNum type="arabicPeriod"/>
            </a:pPr>
            <a:endParaRPr lang="en-GB" sz="1600" dirty="0"/>
          </a:p>
          <a:p>
            <a:pPr marL="342900" indent="-342900">
              <a:buFont typeface="+mj-lt"/>
              <a:buAutoNum type="arabicPeriod"/>
            </a:pPr>
            <a:endParaRPr lang="en-GB" sz="1600" dirty="0"/>
          </a:p>
          <a:p>
            <a:pPr marL="342900" indent="-342900">
              <a:buFont typeface="+mj-lt"/>
              <a:buAutoNum type="arabicPeriod"/>
            </a:pPr>
            <a:endParaRPr lang="en-GB" sz="1600" dirty="0"/>
          </a:p>
          <a:p>
            <a:pPr marL="342900" indent="-342900">
              <a:buFont typeface="+mj-lt"/>
              <a:buAutoNum type="arabicPeriod"/>
            </a:pPr>
            <a:endParaRPr lang="en-GB" sz="1600" dirty="0"/>
          </a:p>
          <a:p>
            <a:pPr marL="342900" indent="-342900">
              <a:buFont typeface="+mj-lt"/>
              <a:buAutoNum type="arabicPeriod"/>
            </a:pPr>
            <a:endParaRPr lang="en-GB" sz="1600" dirty="0"/>
          </a:p>
          <a:p>
            <a:pPr marL="342900" indent="-342900">
              <a:buFont typeface="+mj-lt"/>
              <a:buAutoNum type="arabicPeriod"/>
            </a:pPr>
            <a:endParaRPr lang="en-GB" sz="1600" dirty="0"/>
          </a:p>
        </p:txBody>
      </p:sp>
    </p:spTree>
    <p:extLst>
      <p:ext uri="{BB962C8B-B14F-4D97-AF65-F5344CB8AC3E}">
        <p14:creationId xmlns:p14="http://schemas.microsoft.com/office/powerpoint/2010/main" val="135291516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F486AE5-18F2-41F3-ADE2-38FC1F2F2632}"/>
              </a:ext>
            </a:extLst>
          </p:cNvPr>
          <p:cNvSpPr>
            <a:spLocks noGrp="1"/>
          </p:cNvSpPr>
          <p:nvPr>
            <p:ph type="title"/>
          </p:nvPr>
        </p:nvSpPr>
        <p:spPr>
          <a:xfrm>
            <a:off x="838200" y="158045"/>
            <a:ext cx="7413978" cy="1636888"/>
          </a:xfrm>
        </p:spPr>
        <p:txBody>
          <a:bodyPr>
            <a:normAutofit/>
          </a:bodyPr>
          <a:lstStyle/>
          <a:p>
            <a:r>
              <a:rPr lang="en-GB" sz="2400" dirty="0"/>
              <a:t>36YOF presents to you with 1 day history of LE pain, photophobia and decreased vision (6/12 w/ PH). She is a contact lens wearer. </a:t>
            </a:r>
            <a:endParaRPr lang="en-GB" sz="2000" dirty="0"/>
          </a:p>
        </p:txBody>
      </p:sp>
      <p:pic>
        <p:nvPicPr>
          <p:cNvPr id="4" name="Picture 3">
            <a:extLst>
              <a:ext uri="{FF2B5EF4-FFF2-40B4-BE49-F238E27FC236}">
                <a16:creationId xmlns:a16="http://schemas.microsoft.com/office/drawing/2014/main" xmlns="" id="{6F83B0FE-2B85-4AE4-BA4C-E1D1CF3E42B8}"/>
              </a:ext>
            </a:extLst>
          </p:cNvPr>
          <p:cNvPicPr>
            <a:picLocks noChangeAspect="1"/>
          </p:cNvPicPr>
          <p:nvPr/>
        </p:nvPicPr>
        <p:blipFill>
          <a:blip r:embed="rId3"/>
          <a:stretch>
            <a:fillRect/>
          </a:stretch>
        </p:blipFill>
        <p:spPr>
          <a:xfrm>
            <a:off x="8421511" y="267090"/>
            <a:ext cx="3530600" cy="2099696"/>
          </a:xfrm>
          <a:prstGeom prst="rect">
            <a:avLst/>
          </a:prstGeom>
        </p:spPr>
      </p:pic>
      <p:pic>
        <p:nvPicPr>
          <p:cNvPr id="5" name="Picture 4">
            <a:extLst>
              <a:ext uri="{FF2B5EF4-FFF2-40B4-BE49-F238E27FC236}">
                <a16:creationId xmlns:a16="http://schemas.microsoft.com/office/drawing/2014/main" xmlns="" id="{E212B178-F567-4883-A0A5-AC927AB03DE2}"/>
              </a:ext>
            </a:extLst>
          </p:cNvPr>
          <p:cNvPicPr>
            <a:picLocks noChangeAspect="1"/>
          </p:cNvPicPr>
          <p:nvPr/>
        </p:nvPicPr>
        <p:blipFill>
          <a:blip r:embed="rId4"/>
          <a:stretch>
            <a:fillRect/>
          </a:stretch>
        </p:blipFill>
        <p:spPr>
          <a:xfrm>
            <a:off x="8421511" y="2464821"/>
            <a:ext cx="3530600" cy="2113715"/>
          </a:xfrm>
          <a:prstGeom prst="rect">
            <a:avLst/>
          </a:prstGeom>
        </p:spPr>
      </p:pic>
      <p:pic>
        <p:nvPicPr>
          <p:cNvPr id="6" name="Picture 5">
            <a:extLst>
              <a:ext uri="{FF2B5EF4-FFF2-40B4-BE49-F238E27FC236}">
                <a16:creationId xmlns:a16="http://schemas.microsoft.com/office/drawing/2014/main" xmlns="" id="{4C28E1B3-01F7-4228-94A3-483FD58B342D}"/>
              </a:ext>
            </a:extLst>
          </p:cNvPr>
          <p:cNvPicPr>
            <a:picLocks noChangeAspect="1"/>
          </p:cNvPicPr>
          <p:nvPr/>
        </p:nvPicPr>
        <p:blipFill>
          <a:blip r:embed="rId5"/>
          <a:stretch>
            <a:fillRect/>
          </a:stretch>
        </p:blipFill>
        <p:spPr>
          <a:xfrm>
            <a:off x="12687299" y="4578536"/>
            <a:ext cx="2833513" cy="2104674"/>
          </a:xfrm>
          <a:prstGeom prst="rect">
            <a:avLst/>
          </a:prstGeom>
        </p:spPr>
      </p:pic>
      <p:pic>
        <p:nvPicPr>
          <p:cNvPr id="7" name="Picture 6">
            <a:extLst>
              <a:ext uri="{FF2B5EF4-FFF2-40B4-BE49-F238E27FC236}">
                <a16:creationId xmlns:a16="http://schemas.microsoft.com/office/drawing/2014/main" xmlns="" id="{058479EA-22D0-4507-87F6-663EC821DB43}"/>
              </a:ext>
            </a:extLst>
          </p:cNvPr>
          <p:cNvPicPr>
            <a:picLocks noChangeAspect="1"/>
          </p:cNvPicPr>
          <p:nvPr/>
        </p:nvPicPr>
        <p:blipFill>
          <a:blip r:embed="rId6"/>
          <a:stretch>
            <a:fillRect/>
          </a:stretch>
        </p:blipFill>
        <p:spPr>
          <a:xfrm>
            <a:off x="8483600" y="4581076"/>
            <a:ext cx="3406422" cy="2276924"/>
          </a:xfrm>
          <a:prstGeom prst="rect">
            <a:avLst/>
          </a:prstGeom>
        </p:spPr>
      </p:pic>
      <p:sp>
        <p:nvSpPr>
          <p:cNvPr id="8" name="TextBox 7">
            <a:extLst>
              <a:ext uri="{FF2B5EF4-FFF2-40B4-BE49-F238E27FC236}">
                <a16:creationId xmlns:a16="http://schemas.microsoft.com/office/drawing/2014/main" xmlns="" id="{26126EC4-DEEC-4490-8955-8BADCECD3644}"/>
              </a:ext>
            </a:extLst>
          </p:cNvPr>
          <p:cNvSpPr txBox="1"/>
          <p:nvPr/>
        </p:nvSpPr>
        <p:spPr>
          <a:xfrm>
            <a:off x="282222" y="1659464"/>
            <a:ext cx="7631289" cy="5016758"/>
          </a:xfrm>
          <a:prstGeom prst="rect">
            <a:avLst/>
          </a:prstGeom>
          <a:noFill/>
        </p:spPr>
        <p:txBody>
          <a:bodyPr wrap="square" rtlCol="0">
            <a:spAutoFit/>
          </a:bodyPr>
          <a:lstStyle/>
          <a:p>
            <a:pPr marL="342900" indent="-342900">
              <a:buFont typeface="+mj-lt"/>
              <a:buAutoNum type="arabicPeriod"/>
            </a:pPr>
            <a:r>
              <a:rPr lang="en-GB" sz="2000" dirty="0"/>
              <a:t>Describe what you see?</a:t>
            </a:r>
          </a:p>
          <a:p>
            <a:pPr marL="342900" indent="-342900">
              <a:buFont typeface="+mj-lt"/>
              <a:buAutoNum type="arabicPeriod"/>
            </a:pPr>
            <a:endParaRPr lang="en-GB" sz="2000" dirty="0"/>
          </a:p>
          <a:p>
            <a:pPr marL="342900" indent="-342900">
              <a:buFont typeface="+mj-lt"/>
              <a:buAutoNum type="arabicPeriod"/>
            </a:pPr>
            <a:r>
              <a:rPr lang="en-GB" sz="2000" dirty="0"/>
              <a:t>What are your </a:t>
            </a:r>
            <a:r>
              <a:rPr lang="en-GB" sz="2000" dirty="0" err="1"/>
              <a:t>ddx</a:t>
            </a:r>
            <a:r>
              <a:rPr lang="en-GB" sz="2000" dirty="0"/>
              <a:t> at this stage?</a:t>
            </a:r>
          </a:p>
          <a:p>
            <a:pPr marL="342900" indent="-342900">
              <a:buFont typeface="+mj-lt"/>
              <a:buAutoNum type="arabicPeriod"/>
            </a:pPr>
            <a:endParaRPr lang="en-GB" sz="2000" dirty="0"/>
          </a:p>
          <a:p>
            <a:pPr marL="342900" indent="-342900">
              <a:buFont typeface="+mj-lt"/>
              <a:buAutoNum type="arabicPeriod"/>
            </a:pPr>
            <a:r>
              <a:rPr lang="en-GB" sz="2000" dirty="0"/>
              <a:t>What other tests would you do? </a:t>
            </a:r>
          </a:p>
          <a:p>
            <a:pPr marL="342900" indent="-342900">
              <a:buFont typeface="+mj-lt"/>
              <a:buAutoNum type="arabicPeriod"/>
            </a:pPr>
            <a:endParaRPr lang="en-GB" sz="2000" dirty="0"/>
          </a:p>
          <a:p>
            <a:pPr marL="342900" indent="-342900">
              <a:buFont typeface="+mj-lt"/>
              <a:buAutoNum type="arabicPeriod"/>
            </a:pPr>
            <a:r>
              <a:rPr lang="en-GB" sz="2000" dirty="0"/>
              <a:t>What is your most likely diagnosis now?</a:t>
            </a:r>
          </a:p>
          <a:p>
            <a:pPr marL="342900" indent="-342900">
              <a:buFont typeface="+mj-lt"/>
              <a:buAutoNum type="arabicPeriod"/>
            </a:pPr>
            <a:endParaRPr lang="en-GB" sz="2000" dirty="0"/>
          </a:p>
          <a:p>
            <a:pPr marL="342900" indent="-342900">
              <a:buFont typeface="+mj-lt"/>
              <a:buAutoNum type="arabicPeriod"/>
            </a:pPr>
            <a:r>
              <a:rPr lang="en-GB" sz="2000" dirty="0"/>
              <a:t>What is your management?</a:t>
            </a:r>
          </a:p>
          <a:p>
            <a:pPr marL="342900" indent="-342900">
              <a:buFont typeface="+mj-lt"/>
              <a:buAutoNum type="arabicPeriod"/>
            </a:pPr>
            <a:endParaRPr lang="en-GB" sz="2000" dirty="0"/>
          </a:p>
          <a:p>
            <a:pPr marL="342900" indent="-342900">
              <a:buFont typeface="+mj-lt"/>
              <a:buAutoNum type="arabicPeriod"/>
            </a:pPr>
            <a:r>
              <a:rPr lang="en-GB" sz="2000" dirty="0"/>
              <a:t>Patient is currently in second trimester. Any changes to mx?</a:t>
            </a:r>
          </a:p>
          <a:p>
            <a:pPr marL="342900" indent="-342900">
              <a:buFont typeface="+mj-lt"/>
              <a:buAutoNum type="arabicPeriod"/>
            </a:pPr>
            <a:endParaRPr lang="en-GB" sz="2000" dirty="0"/>
          </a:p>
          <a:p>
            <a:pPr marL="342900" indent="-342900">
              <a:buFont typeface="+mj-lt"/>
              <a:buAutoNum type="arabicPeriod"/>
            </a:pPr>
            <a:r>
              <a:rPr lang="en-GB" sz="2000" dirty="0"/>
              <a:t>Are any medications contraindicated? Why?</a:t>
            </a:r>
          </a:p>
          <a:p>
            <a:pPr marL="342900" indent="-342900">
              <a:buFont typeface="+mj-lt"/>
              <a:buAutoNum type="arabicPeriod"/>
            </a:pPr>
            <a:endParaRPr lang="en-GB" sz="2000" dirty="0"/>
          </a:p>
          <a:p>
            <a:pPr marL="342900" indent="-342900">
              <a:buFont typeface="+mj-lt"/>
              <a:buAutoNum type="arabicPeriod"/>
            </a:pPr>
            <a:r>
              <a:rPr lang="en-GB" sz="2000" dirty="0"/>
              <a:t>What are some possible sequalae if left untreated?</a:t>
            </a:r>
          </a:p>
          <a:p>
            <a:endParaRPr lang="en-GB" sz="2000" dirty="0"/>
          </a:p>
        </p:txBody>
      </p:sp>
    </p:spTree>
    <p:extLst>
      <p:ext uri="{BB962C8B-B14F-4D97-AF65-F5344CB8AC3E}">
        <p14:creationId xmlns:p14="http://schemas.microsoft.com/office/powerpoint/2010/main" val="990574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F486AE5-18F2-41F3-ADE2-38FC1F2F2632}"/>
              </a:ext>
            </a:extLst>
          </p:cNvPr>
          <p:cNvSpPr>
            <a:spLocks noGrp="1"/>
          </p:cNvSpPr>
          <p:nvPr>
            <p:ph type="title"/>
          </p:nvPr>
        </p:nvSpPr>
        <p:spPr>
          <a:xfrm>
            <a:off x="838200" y="36527"/>
            <a:ext cx="7413978" cy="1238955"/>
          </a:xfrm>
        </p:spPr>
        <p:txBody>
          <a:bodyPr>
            <a:normAutofit/>
          </a:bodyPr>
          <a:lstStyle/>
          <a:p>
            <a:r>
              <a:rPr lang="en-GB" sz="2400"/>
              <a:t>36YOF presents to you with 1 day history of LE pain, photophobia and decreased vision (6/12 w/ PH). She is a contact lens wearer. </a:t>
            </a:r>
            <a:endParaRPr lang="en-GB" sz="2000" dirty="0"/>
          </a:p>
        </p:txBody>
      </p:sp>
      <p:pic>
        <p:nvPicPr>
          <p:cNvPr id="4" name="Picture 3">
            <a:extLst>
              <a:ext uri="{FF2B5EF4-FFF2-40B4-BE49-F238E27FC236}">
                <a16:creationId xmlns:a16="http://schemas.microsoft.com/office/drawing/2014/main" xmlns="" id="{6F83B0FE-2B85-4AE4-BA4C-E1D1CF3E42B8}"/>
              </a:ext>
            </a:extLst>
          </p:cNvPr>
          <p:cNvPicPr>
            <a:picLocks noChangeAspect="1"/>
          </p:cNvPicPr>
          <p:nvPr/>
        </p:nvPicPr>
        <p:blipFill>
          <a:blip r:embed="rId3"/>
          <a:stretch>
            <a:fillRect/>
          </a:stretch>
        </p:blipFill>
        <p:spPr>
          <a:xfrm>
            <a:off x="8421511" y="267090"/>
            <a:ext cx="3530600" cy="2099696"/>
          </a:xfrm>
          <a:prstGeom prst="rect">
            <a:avLst/>
          </a:prstGeom>
        </p:spPr>
      </p:pic>
      <p:pic>
        <p:nvPicPr>
          <p:cNvPr id="5" name="Picture 4">
            <a:extLst>
              <a:ext uri="{FF2B5EF4-FFF2-40B4-BE49-F238E27FC236}">
                <a16:creationId xmlns:a16="http://schemas.microsoft.com/office/drawing/2014/main" xmlns="" id="{E212B178-F567-4883-A0A5-AC927AB03DE2}"/>
              </a:ext>
            </a:extLst>
          </p:cNvPr>
          <p:cNvPicPr>
            <a:picLocks noChangeAspect="1"/>
          </p:cNvPicPr>
          <p:nvPr/>
        </p:nvPicPr>
        <p:blipFill>
          <a:blip r:embed="rId4"/>
          <a:stretch>
            <a:fillRect/>
          </a:stretch>
        </p:blipFill>
        <p:spPr>
          <a:xfrm>
            <a:off x="8421511" y="2464821"/>
            <a:ext cx="3530600" cy="2113715"/>
          </a:xfrm>
          <a:prstGeom prst="rect">
            <a:avLst/>
          </a:prstGeom>
        </p:spPr>
      </p:pic>
      <p:pic>
        <p:nvPicPr>
          <p:cNvPr id="6" name="Picture 5">
            <a:extLst>
              <a:ext uri="{FF2B5EF4-FFF2-40B4-BE49-F238E27FC236}">
                <a16:creationId xmlns:a16="http://schemas.microsoft.com/office/drawing/2014/main" xmlns="" id="{4C28E1B3-01F7-4228-94A3-483FD58B342D}"/>
              </a:ext>
            </a:extLst>
          </p:cNvPr>
          <p:cNvPicPr>
            <a:picLocks noChangeAspect="1"/>
          </p:cNvPicPr>
          <p:nvPr/>
        </p:nvPicPr>
        <p:blipFill>
          <a:blip r:embed="rId5"/>
          <a:stretch>
            <a:fillRect/>
          </a:stretch>
        </p:blipFill>
        <p:spPr>
          <a:xfrm>
            <a:off x="12687299" y="4578536"/>
            <a:ext cx="2833513" cy="2104674"/>
          </a:xfrm>
          <a:prstGeom prst="rect">
            <a:avLst/>
          </a:prstGeom>
        </p:spPr>
      </p:pic>
      <p:pic>
        <p:nvPicPr>
          <p:cNvPr id="7" name="Picture 6">
            <a:extLst>
              <a:ext uri="{FF2B5EF4-FFF2-40B4-BE49-F238E27FC236}">
                <a16:creationId xmlns:a16="http://schemas.microsoft.com/office/drawing/2014/main" xmlns="" id="{058479EA-22D0-4507-87F6-663EC821DB43}"/>
              </a:ext>
            </a:extLst>
          </p:cNvPr>
          <p:cNvPicPr>
            <a:picLocks noChangeAspect="1"/>
          </p:cNvPicPr>
          <p:nvPr/>
        </p:nvPicPr>
        <p:blipFill>
          <a:blip r:embed="rId6"/>
          <a:stretch>
            <a:fillRect/>
          </a:stretch>
        </p:blipFill>
        <p:spPr>
          <a:xfrm>
            <a:off x="8483600" y="4581076"/>
            <a:ext cx="3406422" cy="2276924"/>
          </a:xfrm>
          <a:prstGeom prst="rect">
            <a:avLst/>
          </a:prstGeom>
        </p:spPr>
      </p:pic>
      <p:sp>
        <p:nvSpPr>
          <p:cNvPr id="8" name="TextBox 7">
            <a:extLst>
              <a:ext uri="{FF2B5EF4-FFF2-40B4-BE49-F238E27FC236}">
                <a16:creationId xmlns:a16="http://schemas.microsoft.com/office/drawing/2014/main" xmlns="" id="{26126EC4-DEEC-4490-8955-8BADCECD3644}"/>
              </a:ext>
            </a:extLst>
          </p:cNvPr>
          <p:cNvSpPr txBox="1"/>
          <p:nvPr/>
        </p:nvSpPr>
        <p:spPr>
          <a:xfrm>
            <a:off x="301978" y="1093666"/>
            <a:ext cx="7631289" cy="5478423"/>
          </a:xfrm>
          <a:prstGeom prst="rect">
            <a:avLst/>
          </a:prstGeom>
          <a:noFill/>
        </p:spPr>
        <p:txBody>
          <a:bodyPr wrap="square" rtlCol="0">
            <a:spAutoFit/>
          </a:bodyPr>
          <a:lstStyle/>
          <a:p>
            <a:pPr marL="342900" indent="-342900">
              <a:buFont typeface="+mj-lt"/>
              <a:buAutoNum type="arabicPeriod"/>
            </a:pPr>
            <a:r>
              <a:rPr lang="en-GB" sz="1600" dirty="0"/>
              <a:t>Describe what you see? </a:t>
            </a:r>
            <a:r>
              <a:rPr lang="en-GB" sz="1600" dirty="0" err="1">
                <a:solidFill>
                  <a:srgbClr val="FF0000"/>
                </a:solidFill>
              </a:rPr>
              <a:t>Conj</a:t>
            </a:r>
            <a:r>
              <a:rPr lang="en-GB" sz="1600" dirty="0">
                <a:solidFill>
                  <a:srgbClr val="FF0000"/>
                </a:solidFill>
              </a:rPr>
              <a:t> injection, serous discharge, follicular conjunctivitis</a:t>
            </a:r>
            <a:endParaRPr lang="en-GB" sz="1600" dirty="0"/>
          </a:p>
          <a:p>
            <a:pPr marL="342900" indent="-342900">
              <a:buFont typeface="+mj-lt"/>
              <a:buAutoNum type="arabicPeriod"/>
            </a:pPr>
            <a:endParaRPr lang="en-GB" sz="1600" dirty="0"/>
          </a:p>
          <a:p>
            <a:pPr marL="342900" indent="-342900">
              <a:buFont typeface="+mj-lt"/>
              <a:buAutoNum type="arabicPeriod"/>
            </a:pPr>
            <a:r>
              <a:rPr lang="en-GB" sz="1600" dirty="0"/>
              <a:t>What are your </a:t>
            </a:r>
            <a:r>
              <a:rPr lang="en-GB" sz="1600" dirty="0" err="1"/>
              <a:t>ddx</a:t>
            </a:r>
            <a:r>
              <a:rPr lang="en-GB" sz="1600" dirty="0"/>
              <a:t> at this stage? </a:t>
            </a:r>
            <a:r>
              <a:rPr lang="en-GB" sz="1600" dirty="0">
                <a:solidFill>
                  <a:srgbClr val="FF0000"/>
                </a:solidFill>
              </a:rPr>
              <a:t>HSV/Adeno/VZV/EBV/CMV keratitis, </a:t>
            </a:r>
            <a:r>
              <a:rPr lang="en-GB" sz="1600" dirty="0" err="1">
                <a:solidFill>
                  <a:srgbClr val="FF0000"/>
                </a:solidFill>
              </a:rPr>
              <a:t>acanthamoeba</a:t>
            </a:r>
            <a:r>
              <a:rPr lang="en-GB" sz="1600" dirty="0">
                <a:solidFill>
                  <a:srgbClr val="FF0000"/>
                </a:solidFill>
              </a:rPr>
              <a:t>, fungal keratitis, bacterial keratitis, conjunctivitis</a:t>
            </a:r>
            <a:endParaRPr lang="en-GB" sz="1600" dirty="0"/>
          </a:p>
          <a:p>
            <a:pPr marL="342900" indent="-342900">
              <a:buFont typeface="+mj-lt"/>
              <a:buAutoNum type="arabicPeriod"/>
            </a:pPr>
            <a:endParaRPr lang="en-GB" sz="1600" dirty="0"/>
          </a:p>
          <a:p>
            <a:pPr marL="342900" indent="-342900">
              <a:buFont typeface="+mj-lt"/>
              <a:buAutoNum type="arabicPeriod"/>
            </a:pPr>
            <a:r>
              <a:rPr lang="en-GB" sz="1600" dirty="0"/>
              <a:t>What other tests would you do? </a:t>
            </a:r>
            <a:r>
              <a:rPr lang="en-GB" sz="1600" dirty="0" err="1">
                <a:solidFill>
                  <a:srgbClr val="FF0000"/>
                </a:solidFill>
              </a:rPr>
              <a:t>NaFl</a:t>
            </a:r>
            <a:r>
              <a:rPr lang="en-GB" sz="1600" dirty="0">
                <a:solidFill>
                  <a:srgbClr val="FF0000"/>
                </a:solidFill>
              </a:rPr>
              <a:t> assessment, corneal sensitivity, IOP</a:t>
            </a:r>
            <a:endParaRPr lang="en-GB" sz="1600" dirty="0"/>
          </a:p>
          <a:p>
            <a:pPr marL="342900" indent="-342900">
              <a:buFont typeface="+mj-lt"/>
              <a:buAutoNum type="arabicPeriod"/>
            </a:pPr>
            <a:endParaRPr lang="en-GB" sz="1600" dirty="0"/>
          </a:p>
          <a:p>
            <a:pPr marL="342900" indent="-342900">
              <a:buFont typeface="+mj-lt"/>
              <a:buAutoNum type="arabicPeriod"/>
            </a:pPr>
            <a:r>
              <a:rPr lang="en-GB" sz="1600" dirty="0"/>
              <a:t>What is your most likely diagnosis now? </a:t>
            </a:r>
            <a:r>
              <a:rPr lang="en-GB" sz="1600" dirty="0">
                <a:solidFill>
                  <a:srgbClr val="FF0000"/>
                </a:solidFill>
              </a:rPr>
              <a:t>HSV epithelial keratitis</a:t>
            </a:r>
            <a:endParaRPr lang="en-GB" sz="1600" dirty="0"/>
          </a:p>
          <a:p>
            <a:pPr marL="342900" indent="-342900">
              <a:buFont typeface="+mj-lt"/>
              <a:buAutoNum type="arabicPeriod"/>
            </a:pPr>
            <a:endParaRPr lang="en-GB" sz="1600" dirty="0"/>
          </a:p>
          <a:p>
            <a:pPr marL="342900" indent="-342900">
              <a:buFont typeface="+mj-lt"/>
              <a:buAutoNum type="arabicPeriod"/>
            </a:pPr>
            <a:r>
              <a:rPr lang="en-GB" sz="1600" dirty="0"/>
              <a:t>What is your management? </a:t>
            </a:r>
            <a:r>
              <a:rPr lang="en-GB" sz="1600" dirty="0">
                <a:solidFill>
                  <a:srgbClr val="FF0000"/>
                </a:solidFill>
              </a:rPr>
              <a:t>Acyclovir 3% ointment 5x/day until dendrites resolve + cold compress + ATs + infection control (do not share shit) + disinfect consulting room</a:t>
            </a:r>
            <a:endParaRPr lang="en-GB" sz="1600" dirty="0"/>
          </a:p>
          <a:p>
            <a:pPr marL="342900" indent="-342900">
              <a:buFont typeface="+mj-lt"/>
              <a:buAutoNum type="arabicPeriod"/>
            </a:pPr>
            <a:endParaRPr lang="en-GB" sz="1600" dirty="0"/>
          </a:p>
          <a:p>
            <a:pPr marL="342900" indent="-342900">
              <a:buFont typeface="+mj-lt"/>
              <a:buAutoNum type="arabicPeriod"/>
            </a:pPr>
            <a:r>
              <a:rPr lang="en-GB" sz="1600" dirty="0"/>
              <a:t>Patient is currently in second trimester. Any changes to mx? </a:t>
            </a:r>
            <a:r>
              <a:rPr lang="en-GB" sz="1600" dirty="0">
                <a:solidFill>
                  <a:srgbClr val="FF0000"/>
                </a:solidFill>
              </a:rPr>
              <a:t>Acyclovir is cat B3 i.e. limited studies humans but no effect. Animals shows changes to foetus</a:t>
            </a:r>
          </a:p>
          <a:p>
            <a:pPr marL="342900" indent="-342900">
              <a:buFont typeface="+mj-lt"/>
              <a:buAutoNum type="arabicPeriod"/>
            </a:pPr>
            <a:endParaRPr lang="en-GB" sz="1600" dirty="0">
              <a:solidFill>
                <a:srgbClr val="FF0000"/>
              </a:solidFill>
            </a:endParaRPr>
          </a:p>
          <a:p>
            <a:pPr marL="342900" indent="-342900">
              <a:buFont typeface="+mj-lt"/>
              <a:buAutoNum type="arabicPeriod"/>
            </a:pPr>
            <a:r>
              <a:rPr lang="en-GB" sz="1600" dirty="0"/>
              <a:t>Are any medications contraindicated? Why? </a:t>
            </a:r>
            <a:r>
              <a:rPr lang="en-GB" sz="1600" dirty="0">
                <a:solidFill>
                  <a:srgbClr val="FF0000"/>
                </a:solidFill>
              </a:rPr>
              <a:t>Steroids. Convert dendritic lesions to geographic ulcers</a:t>
            </a:r>
          </a:p>
          <a:p>
            <a:pPr marL="342900" indent="-342900">
              <a:buFont typeface="+mj-lt"/>
              <a:buAutoNum type="arabicPeriod"/>
            </a:pPr>
            <a:endParaRPr lang="en-GB" sz="1600" dirty="0">
              <a:solidFill>
                <a:srgbClr val="FF0000"/>
              </a:solidFill>
            </a:endParaRPr>
          </a:p>
          <a:p>
            <a:pPr marL="342900" indent="-342900">
              <a:buFont typeface="+mj-lt"/>
              <a:buAutoNum type="arabicPeriod"/>
            </a:pPr>
            <a:r>
              <a:rPr lang="en-GB" sz="1600" dirty="0"/>
              <a:t>What are some possible </a:t>
            </a:r>
            <a:r>
              <a:rPr lang="en-GB" sz="1600" dirty="0" err="1"/>
              <a:t>sequalae</a:t>
            </a:r>
            <a:r>
              <a:rPr lang="en-GB" sz="1600" dirty="0"/>
              <a:t> if left untreated? </a:t>
            </a:r>
            <a:r>
              <a:rPr lang="en-GB" sz="1600" dirty="0">
                <a:solidFill>
                  <a:srgbClr val="FF0000"/>
                </a:solidFill>
              </a:rPr>
              <a:t>Stromal/endothelial keratitis </a:t>
            </a:r>
            <a:r>
              <a:rPr lang="en-GB" sz="1600" dirty="0">
                <a:solidFill>
                  <a:srgbClr val="FF0000"/>
                </a:solidFill>
                <a:sym typeface="Wingdings" panose="05000000000000000000" pitchFamily="2" charset="2"/>
              </a:rPr>
              <a:t> S</a:t>
            </a:r>
            <a:r>
              <a:rPr lang="en-GB" sz="1600" dirty="0">
                <a:solidFill>
                  <a:srgbClr val="FF0000"/>
                </a:solidFill>
              </a:rPr>
              <a:t>tromal scarring, neovascularisation, ulceration, </a:t>
            </a:r>
            <a:r>
              <a:rPr lang="en-GB" sz="1600" dirty="0" err="1">
                <a:solidFill>
                  <a:srgbClr val="FF0000"/>
                </a:solidFill>
              </a:rPr>
              <a:t>peforation</a:t>
            </a:r>
            <a:endParaRPr lang="en-GB" sz="1600" dirty="0"/>
          </a:p>
          <a:p>
            <a:pPr marL="342900" indent="-342900">
              <a:buFont typeface="+mj-lt"/>
              <a:buAutoNum type="arabicPeriod"/>
            </a:pPr>
            <a:endParaRPr lang="en-GB" dirty="0"/>
          </a:p>
        </p:txBody>
      </p:sp>
    </p:spTree>
    <p:extLst>
      <p:ext uri="{BB962C8B-B14F-4D97-AF65-F5344CB8AC3E}">
        <p14:creationId xmlns:p14="http://schemas.microsoft.com/office/powerpoint/2010/main" val="3728501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xmlns="" id="{EB181E26-89C4-4A14-92DE-0F4C4B0E9484}"/>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0" name="Freeform 37">
            <a:extLst>
              <a:ext uri="{FF2B5EF4-FFF2-40B4-BE49-F238E27FC236}">
                <a16:creationId xmlns:a16="http://schemas.microsoft.com/office/drawing/2014/main" xmlns="" id="{13958066-7CBD-4B89-8F46-614C4F28BCF9}"/>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V="1">
            <a:off x="0" y="1691641"/>
            <a:ext cx="7571262" cy="5166360"/>
          </a:xfrm>
          <a:custGeom>
            <a:avLst/>
            <a:gdLst>
              <a:gd name="connsiteX0" fmla="*/ 0 w 7571262"/>
              <a:gd name="connsiteY0" fmla="*/ 5166360 h 5166360"/>
              <a:gd name="connsiteX1" fmla="*/ 7571262 w 7571262"/>
              <a:gd name="connsiteY1" fmla="*/ 5166360 h 5166360"/>
              <a:gd name="connsiteX2" fmla="*/ 5177382 w 7571262"/>
              <a:gd name="connsiteY2" fmla="*/ 0 h 5166360"/>
              <a:gd name="connsiteX3" fmla="*/ 5171159 w 7571262"/>
              <a:gd name="connsiteY3" fmla="*/ 0 h 5166360"/>
              <a:gd name="connsiteX4" fmla="*/ 3981368 w 7571262"/>
              <a:gd name="connsiteY4" fmla="*/ 0 h 5166360"/>
              <a:gd name="connsiteX5" fmla="*/ 2331323 w 7571262"/>
              <a:gd name="connsiteY5" fmla="*/ 0 h 5166360"/>
              <a:gd name="connsiteX6" fmla="*/ 0 w 7571262"/>
              <a:gd name="connsiteY6" fmla="*/ 0 h 5166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571262" h="5166360">
                <a:moveTo>
                  <a:pt x="0" y="5166360"/>
                </a:moveTo>
                <a:lnTo>
                  <a:pt x="7571262" y="5166360"/>
                </a:lnTo>
                <a:lnTo>
                  <a:pt x="5177382" y="0"/>
                </a:lnTo>
                <a:lnTo>
                  <a:pt x="5171159" y="0"/>
                </a:lnTo>
                <a:lnTo>
                  <a:pt x="3981368" y="0"/>
                </a:lnTo>
                <a:lnTo>
                  <a:pt x="2331323" y="0"/>
                </a:lnTo>
                <a:lnTo>
                  <a:pt x="0" y="0"/>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Picture 3">
            <a:extLst>
              <a:ext uri="{FF2B5EF4-FFF2-40B4-BE49-F238E27FC236}">
                <a16:creationId xmlns:a16="http://schemas.microsoft.com/office/drawing/2014/main" xmlns="" id="{DCF415A0-C3EB-421D-AE6B-4D2CEDDEC582}"/>
              </a:ext>
            </a:extLst>
          </p:cNvPr>
          <p:cNvPicPr>
            <a:picLocks noChangeAspect="1" noChangeArrowheads="1"/>
          </p:cNvPicPr>
          <p:nvPr/>
        </p:nvPicPr>
        <p:blipFill rotWithShape="1">
          <a:blip r:embed="rId3" cstate="print"/>
          <a:srcRect l="-7475" t="13719" r="19772" b="13105"/>
          <a:stretch/>
        </p:blipFill>
        <p:spPr bwMode="auto">
          <a:xfrm>
            <a:off x="6587330" y="1690689"/>
            <a:ext cx="4915557" cy="2501837"/>
          </a:xfrm>
          <a:custGeom>
            <a:avLst/>
            <a:gdLst>
              <a:gd name="connsiteX0" fmla="*/ 1159248 w 5604670"/>
              <a:gd name="connsiteY0" fmla="*/ 0 h 2501837"/>
              <a:gd name="connsiteX1" fmla="*/ 5604670 w 5604670"/>
              <a:gd name="connsiteY1" fmla="*/ 0 h 2501837"/>
              <a:gd name="connsiteX2" fmla="*/ 5604670 w 5604670"/>
              <a:gd name="connsiteY2" fmla="*/ 2501837 h 2501837"/>
              <a:gd name="connsiteX3" fmla="*/ 0 w 5604670"/>
              <a:gd name="connsiteY3" fmla="*/ 2501837 h 2501837"/>
            </a:gdLst>
            <a:ahLst/>
            <a:cxnLst>
              <a:cxn ang="0">
                <a:pos x="connsiteX0" y="connsiteY0"/>
              </a:cxn>
              <a:cxn ang="0">
                <a:pos x="connsiteX1" y="connsiteY1"/>
              </a:cxn>
              <a:cxn ang="0">
                <a:pos x="connsiteX2" y="connsiteY2"/>
              </a:cxn>
              <a:cxn ang="0">
                <a:pos x="connsiteX3" y="connsiteY3"/>
              </a:cxn>
            </a:cxnLst>
            <a:rect l="l" t="t" r="r" b="b"/>
            <a:pathLst>
              <a:path w="5604670" h="2501837">
                <a:moveTo>
                  <a:pt x="1159248" y="0"/>
                </a:moveTo>
                <a:lnTo>
                  <a:pt x="5604670" y="0"/>
                </a:lnTo>
                <a:lnTo>
                  <a:pt x="5604670" y="2501837"/>
                </a:lnTo>
                <a:lnTo>
                  <a:pt x="0" y="2501837"/>
                </a:lnTo>
                <a:close/>
              </a:path>
            </a:pathLst>
          </a:custGeom>
          <a:noFill/>
        </p:spPr>
      </p:pic>
      <p:pic>
        <p:nvPicPr>
          <p:cNvPr id="1026" name="Picture 2" descr="Image result for sampaolesi line">
            <a:extLst>
              <a:ext uri="{FF2B5EF4-FFF2-40B4-BE49-F238E27FC236}">
                <a16:creationId xmlns:a16="http://schemas.microsoft.com/office/drawing/2014/main" xmlns="" id="{20B0041E-699F-44C1-BAFE-16D6CF81E9B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21612" r="-2" b="32568"/>
          <a:stretch/>
        </p:blipFill>
        <p:spPr bwMode="auto">
          <a:xfrm>
            <a:off x="4791075" y="4357117"/>
            <a:ext cx="7400925" cy="2500884"/>
          </a:xfrm>
          <a:custGeom>
            <a:avLst/>
            <a:gdLst>
              <a:gd name="connsiteX0" fmla="*/ 1717230 w 7400925"/>
              <a:gd name="connsiteY0" fmla="*/ 0 h 2500884"/>
              <a:gd name="connsiteX1" fmla="*/ 7400925 w 7400925"/>
              <a:gd name="connsiteY1" fmla="*/ 0 h 2500884"/>
              <a:gd name="connsiteX2" fmla="*/ 7400925 w 7400925"/>
              <a:gd name="connsiteY2" fmla="*/ 2500884 h 2500884"/>
              <a:gd name="connsiteX3" fmla="*/ 0 w 7400925"/>
              <a:gd name="connsiteY3" fmla="*/ 2500884 h 2500884"/>
              <a:gd name="connsiteX4" fmla="*/ 0 w 7400925"/>
              <a:gd name="connsiteY4" fmla="*/ 2500883 h 2500884"/>
              <a:gd name="connsiteX5" fmla="*/ 552186 w 7400925"/>
              <a:gd name="connsiteY5" fmla="*/ 2500883 h 2500884"/>
              <a:gd name="connsiteX6" fmla="*/ 558423 w 7400925"/>
              <a:gd name="connsiteY6" fmla="*/ 2500883 h 2500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400925" h="2500884">
                <a:moveTo>
                  <a:pt x="1717230" y="0"/>
                </a:moveTo>
                <a:lnTo>
                  <a:pt x="7400925" y="0"/>
                </a:lnTo>
                <a:lnTo>
                  <a:pt x="7400925" y="2500884"/>
                </a:lnTo>
                <a:lnTo>
                  <a:pt x="0" y="2500884"/>
                </a:lnTo>
                <a:lnTo>
                  <a:pt x="0" y="2500883"/>
                </a:lnTo>
                <a:lnTo>
                  <a:pt x="552186" y="2500883"/>
                </a:lnTo>
                <a:lnTo>
                  <a:pt x="558423" y="2500883"/>
                </a:lnTo>
                <a:close/>
              </a:path>
            </a:pathLst>
          </a:cu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xmlns="" id="{0BAEF270-0A03-4FCD-90D7-EBB950BA009E}"/>
              </a:ext>
            </a:extLst>
          </p:cNvPr>
          <p:cNvSpPr>
            <a:spLocks noGrp="1"/>
          </p:cNvSpPr>
          <p:nvPr>
            <p:ph type="title"/>
          </p:nvPr>
        </p:nvSpPr>
        <p:spPr>
          <a:xfrm>
            <a:off x="838200" y="365125"/>
            <a:ext cx="10515600" cy="1325563"/>
          </a:xfrm>
        </p:spPr>
        <p:txBody>
          <a:bodyPr>
            <a:normAutofit/>
          </a:bodyPr>
          <a:lstStyle/>
          <a:p>
            <a:r>
              <a:rPr lang="en-GB" sz="4100"/>
              <a:t>76YOF presents for routine eye examination as her sister was recently diagnosed with glaucoma</a:t>
            </a:r>
          </a:p>
        </p:txBody>
      </p:sp>
      <p:sp>
        <p:nvSpPr>
          <p:cNvPr id="3" name="Content Placeholder 2">
            <a:extLst>
              <a:ext uri="{FF2B5EF4-FFF2-40B4-BE49-F238E27FC236}">
                <a16:creationId xmlns:a16="http://schemas.microsoft.com/office/drawing/2014/main" xmlns="" id="{8289CDAC-8A78-4677-9E58-AA0E01DC497C}"/>
              </a:ext>
            </a:extLst>
          </p:cNvPr>
          <p:cNvSpPr>
            <a:spLocks noGrp="1"/>
          </p:cNvSpPr>
          <p:nvPr>
            <p:ph idx="1"/>
          </p:nvPr>
        </p:nvSpPr>
        <p:spPr>
          <a:xfrm>
            <a:off x="331304" y="1690688"/>
            <a:ext cx="5604675" cy="5167312"/>
          </a:xfrm>
        </p:spPr>
        <p:txBody>
          <a:bodyPr anchor="t">
            <a:normAutofit lnSpcReduction="10000"/>
          </a:bodyPr>
          <a:lstStyle/>
          <a:p>
            <a:pPr marL="514350" indent="-514350">
              <a:buFont typeface="+mj-lt"/>
              <a:buAutoNum type="arabicPeriod"/>
            </a:pPr>
            <a:r>
              <a:rPr lang="en-GB" sz="2000" dirty="0">
                <a:solidFill>
                  <a:schemeClr val="bg1"/>
                </a:solidFill>
              </a:rPr>
              <a:t>This is her left eye. Describe what you see in the anterior eye photo</a:t>
            </a:r>
          </a:p>
          <a:p>
            <a:pPr marL="514350" indent="-514350">
              <a:buFont typeface="+mj-lt"/>
              <a:buAutoNum type="arabicPeriod"/>
            </a:pPr>
            <a:endParaRPr lang="en-GB" sz="2000" dirty="0">
              <a:solidFill>
                <a:schemeClr val="bg1"/>
              </a:solidFill>
            </a:endParaRPr>
          </a:p>
          <a:p>
            <a:pPr marL="514350" indent="-514350">
              <a:buFont typeface="+mj-lt"/>
              <a:buAutoNum type="arabicPeriod"/>
            </a:pPr>
            <a:r>
              <a:rPr lang="en-GB" sz="2000" dirty="0">
                <a:solidFill>
                  <a:schemeClr val="bg1"/>
                </a:solidFill>
              </a:rPr>
              <a:t>What is the second image? What do you see?</a:t>
            </a:r>
          </a:p>
          <a:p>
            <a:pPr marL="514350" indent="-514350">
              <a:buFont typeface="+mj-lt"/>
              <a:buAutoNum type="arabicPeriod"/>
            </a:pPr>
            <a:endParaRPr lang="en-GB" sz="2000" dirty="0">
              <a:solidFill>
                <a:schemeClr val="bg1"/>
              </a:solidFill>
            </a:endParaRPr>
          </a:p>
          <a:p>
            <a:pPr marL="514350" indent="-514350">
              <a:buFont typeface="+mj-lt"/>
              <a:buAutoNum type="arabicPeriod"/>
            </a:pPr>
            <a:r>
              <a:rPr lang="en-GB" sz="2000" dirty="0">
                <a:solidFill>
                  <a:schemeClr val="bg1"/>
                </a:solidFill>
              </a:rPr>
              <a:t>What is your </a:t>
            </a:r>
            <a:r>
              <a:rPr lang="en-GB" sz="2000" dirty="0" err="1">
                <a:solidFill>
                  <a:schemeClr val="bg1"/>
                </a:solidFill>
              </a:rPr>
              <a:t>ddx</a:t>
            </a:r>
            <a:r>
              <a:rPr lang="en-GB" sz="2000" dirty="0">
                <a:solidFill>
                  <a:schemeClr val="bg1"/>
                </a:solidFill>
              </a:rPr>
              <a:t> and most likely dx?</a:t>
            </a:r>
          </a:p>
          <a:p>
            <a:pPr marL="514350" indent="-514350">
              <a:buFont typeface="+mj-lt"/>
              <a:buAutoNum type="arabicPeriod"/>
            </a:pPr>
            <a:endParaRPr lang="en-GB" sz="2000" dirty="0">
              <a:solidFill>
                <a:schemeClr val="bg1"/>
              </a:solidFill>
            </a:endParaRPr>
          </a:p>
          <a:p>
            <a:pPr marL="514350" indent="-514350">
              <a:buFont typeface="+mj-lt"/>
              <a:buAutoNum type="arabicPeriod"/>
            </a:pPr>
            <a:r>
              <a:rPr lang="en-GB" sz="2000" dirty="0">
                <a:solidFill>
                  <a:schemeClr val="bg1"/>
                </a:solidFill>
              </a:rPr>
              <a:t>What is the pathophysiology of your dx?</a:t>
            </a:r>
          </a:p>
          <a:p>
            <a:pPr marL="514350" indent="-514350">
              <a:buFont typeface="+mj-lt"/>
              <a:buAutoNum type="arabicPeriod"/>
            </a:pPr>
            <a:endParaRPr lang="en-GB" sz="2000" dirty="0">
              <a:solidFill>
                <a:schemeClr val="bg1"/>
              </a:solidFill>
            </a:endParaRPr>
          </a:p>
          <a:p>
            <a:pPr marL="514350" indent="-514350">
              <a:buFont typeface="+mj-lt"/>
              <a:buAutoNum type="arabicPeriod"/>
            </a:pPr>
            <a:r>
              <a:rPr lang="en-GB" sz="2000" dirty="0">
                <a:solidFill>
                  <a:schemeClr val="bg1"/>
                </a:solidFill>
              </a:rPr>
              <a:t>What other signs would you expect to see?</a:t>
            </a:r>
          </a:p>
          <a:p>
            <a:pPr marL="514350" indent="-514350">
              <a:buFont typeface="+mj-lt"/>
              <a:buAutoNum type="arabicPeriod"/>
            </a:pPr>
            <a:endParaRPr lang="en-GB" sz="2000" dirty="0">
              <a:solidFill>
                <a:schemeClr val="bg1"/>
              </a:solidFill>
            </a:endParaRPr>
          </a:p>
          <a:p>
            <a:pPr marL="514350" indent="-514350">
              <a:buFont typeface="+mj-lt"/>
              <a:buAutoNum type="arabicPeriod"/>
            </a:pPr>
            <a:r>
              <a:rPr lang="en-GB" sz="2000" dirty="0">
                <a:solidFill>
                  <a:schemeClr val="bg1"/>
                </a:solidFill>
              </a:rPr>
              <a:t>What is risk of developing glaucoma?</a:t>
            </a:r>
          </a:p>
          <a:p>
            <a:pPr marL="514350" indent="-514350">
              <a:buFont typeface="+mj-lt"/>
              <a:buAutoNum type="arabicPeriod"/>
            </a:pPr>
            <a:endParaRPr lang="en-GB" sz="2000" dirty="0">
              <a:solidFill>
                <a:schemeClr val="bg1"/>
              </a:solidFill>
            </a:endParaRPr>
          </a:p>
          <a:p>
            <a:pPr marL="514350" indent="-514350">
              <a:buFont typeface="+mj-lt"/>
              <a:buAutoNum type="arabicPeriod"/>
            </a:pPr>
            <a:r>
              <a:rPr lang="en-GB" sz="2000" dirty="0">
                <a:solidFill>
                  <a:schemeClr val="bg1"/>
                </a:solidFill>
              </a:rPr>
              <a:t>What is rate of visual field progression?</a:t>
            </a:r>
          </a:p>
        </p:txBody>
      </p:sp>
    </p:spTree>
    <p:extLst>
      <p:ext uri="{BB962C8B-B14F-4D97-AF65-F5344CB8AC3E}">
        <p14:creationId xmlns:p14="http://schemas.microsoft.com/office/powerpoint/2010/main" val="4048499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xmlns="" id="{EB181E26-89C4-4A14-92DE-0F4C4B0E9484}"/>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0" name="Freeform 37">
            <a:extLst>
              <a:ext uri="{FF2B5EF4-FFF2-40B4-BE49-F238E27FC236}">
                <a16:creationId xmlns:a16="http://schemas.microsoft.com/office/drawing/2014/main" xmlns="" id="{13958066-7CBD-4B89-8F46-614C4F28BCF9}"/>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V="1">
            <a:off x="0" y="1691641"/>
            <a:ext cx="7571262" cy="5166360"/>
          </a:xfrm>
          <a:custGeom>
            <a:avLst/>
            <a:gdLst>
              <a:gd name="connsiteX0" fmla="*/ 0 w 7571262"/>
              <a:gd name="connsiteY0" fmla="*/ 5166360 h 5166360"/>
              <a:gd name="connsiteX1" fmla="*/ 7571262 w 7571262"/>
              <a:gd name="connsiteY1" fmla="*/ 5166360 h 5166360"/>
              <a:gd name="connsiteX2" fmla="*/ 5177382 w 7571262"/>
              <a:gd name="connsiteY2" fmla="*/ 0 h 5166360"/>
              <a:gd name="connsiteX3" fmla="*/ 5171159 w 7571262"/>
              <a:gd name="connsiteY3" fmla="*/ 0 h 5166360"/>
              <a:gd name="connsiteX4" fmla="*/ 3981368 w 7571262"/>
              <a:gd name="connsiteY4" fmla="*/ 0 h 5166360"/>
              <a:gd name="connsiteX5" fmla="*/ 2331323 w 7571262"/>
              <a:gd name="connsiteY5" fmla="*/ 0 h 5166360"/>
              <a:gd name="connsiteX6" fmla="*/ 0 w 7571262"/>
              <a:gd name="connsiteY6" fmla="*/ 0 h 5166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571262" h="5166360">
                <a:moveTo>
                  <a:pt x="0" y="5166360"/>
                </a:moveTo>
                <a:lnTo>
                  <a:pt x="7571262" y="5166360"/>
                </a:lnTo>
                <a:lnTo>
                  <a:pt x="5177382" y="0"/>
                </a:lnTo>
                <a:lnTo>
                  <a:pt x="5171159" y="0"/>
                </a:lnTo>
                <a:lnTo>
                  <a:pt x="3981368" y="0"/>
                </a:lnTo>
                <a:lnTo>
                  <a:pt x="2331323" y="0"/>
                </a:lnTo>
                <a:lnTo>
                  <a:pt x="0" y="0"/>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Picture 3">
            <a:extLst>
              <a:ext uri="{FF2B5EF4-FFF2-40B4-BE49-F238E27FC236}">
                <a16:creationId xmlns:a16="http://schemas.microsoft.com/office/drawing/2014/main" xmlns="" id="{DCF415A0-C3EB-421D-AE6B-4D2CEDDEC582}"/>
              </a:ext>
            </a:extLst>
          </p:cNvPr>
          <p:cNvPicPr>
            <a:picLocks noChangeAspect="1" noChangeArrowheads="1"/>
          </p:cNvPicPr>
          <p:nvPr/>
        </p:nvPicPr>
        <p:blipFill rotWithShape="1">
          <a:blip r:embed="rId3" cstate="print"/>
          <a:srcRect l="-7475" t="13719" r="19772" b="13105"/>
          <a:stretch/>
        </p:blipFill>
        <p:spPr bwMode="auto">
          <a:xfrm>
            <a:off x="6587330" y="1690689"/>
            <a:ext cx="4915557" cy="2501837"/>
          </a:xfrm>
          <a:custGeom>
            <a:avLst/>
            <a:gdLst>
              <a:gd name="connsiteX0" fmla="*/ 1159248 w 5604670"/>
              <a:gd name="connsiteY0" fmla="*/ 0 h 2501837"/>
              <a:gd name="connsiteX1" fmla="*/ 5604670 w 5604670"/>
              <a:gd name="connsiteY1" fmla="*/ 0 h 2501837"/>
              <a:gd name="connsiteX2" fmla="*/ 5604670 w 5604670"/>
              <a:gd name="connsiteY2" fmla="*/ 2501837 h 2501837"/>
              <a:gd name="connsiteX3" fmla="*/ 0 w 5604670"/>
              <a:gd name="connsiteY3" fmla="*/ 2501837 h 2501837"/>
            </a:gdLst>
            <a:ahLst/>
            <a:cxnLst>
              <a:cxn ang="0">
                <a:pos x="connsiteX0" y="connsiteY0"/>
              </a:cxn>
              <a:cxn ang="0">
                <a:pos x="connsiteX1" y="connsiteY1"/>
              </a:cxn>
              <a:cxn ang="0">
                <a:pos x="connsiteX2" y="connsiteY2"/>
              </a:cxn>
              <a:cxn ang="0">
                <a:pos x="connsiteX3" y="connsiteY3"/>
              </a:cxn>
            </a:cxnLst>
            <a:rect l="l" t="t" r="r" b="b"/>
            <a:pathLst>
              <a:path w="5604670" h="2501837">
                <a:moveTo>
                  <a:pt x="1159248" y="0"/>
                </a:moveTo>
                <a:lnTo>
                  <a:pt x="5604670" y="0"/>
                </a:lnTo>
                <a:lnTo>
                  <a:pt x="5604670" y="2501837"/>
                </a:lnTo>
                <a:lnTo>
                  <a:pt x="0" y="2501837"/>
                </a:lnTo>
                <a:close/>
              </a:path>
            </a:pathLst>
          </a:custGeom>
          <a:noFill/>
        </p:spPr>
      </p:pic>
      <p:pic>
        <p:nvPicPr>
          <p:cNvPr id="1026" name="Picture 2" descr="Image result for sampaolesi line">
            <a:extLst>
              <a:ext uri="{FF2B5EF4-FFF2-40B4-BE49-F238E27FC236}">
                <a16:creationId xmlns:a16="http://schemas.microsoft.com/office/drawing/2014/main" xmlns="" id="{20B0041E-699F-44C1-BAFE-16D6CF81E9B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21612" r="-2" b="32568"/>
          <a:stretch/>
        </p:blipFill>
        <p:spPr bwMode="auto">
          <a:xfrm>
            <a:off x="4791075" y="4357117"/>
            <a:ext cx="7400925" cy="2500884"/>
          </a:xfrm>
          <a:custGeom>
            <a:avLst/>
            <a:gdLst>
              <a:gd name="connsiteX0" fmla="*/ 1717230 w 7400925"/>
              <a:gd name="connsiteY0" fmla="*/ 0 h 2500884"/>
              <a:gd name="connsiteX1" fmla="*/ 7400925 w 7400925"/>
              <a:gd name="connsiteY1" fmla="*/ 0 h 2500884"/>
              <a:gd name="connsiteX2" fmla="*/ 7400925 w 7400925"/>
              <a:gd name="connsiteY2" fmla="*/ 2500884 h 2500884"/>
              <a:gd name="connsiteX3" fmla="*/ 0 w 7400925"/>
              <a:gd name="connsiteY3" fmla="*/ 2500884 h 2500884"/>
              <a:gd name="connsiteX4" fmla="*/ 0 w 7400925"/>
              <a:gd name="connsiteY4" fmla="*/ 2500883 h 2500884"/>
              <a:gd name="connsiteX5" fmla="*/ 552186 w 7400925"/>
              <a:gd name="connsiteY5" fmla="*/ 2500883 h 2500884"/>
              <a:gd name="connsiteX6" fmla="*/ 558423 w 7400925"/>
              <a:gd name="connsiteY6" fmla="*/ 2500883 h 2500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400925" h="2500884">
                <a:moveTo>
                  <a:pt x="1717230" y="0"/>
                </a:moveTo>
                <a:lnTo>
                  <a:pt x="7400925" y="0"/>
                </a:lnTo>
                <a:lnTo>
                  <a:pt x="7400925" y="2500884"/>
                </a:lnTo>
                <a:lnTo>
                  <a:pt x="0" y="2500884"/>
                </a:lnTo>
                <a:lnTo>
                  <a:pt x="0" y="2500883"/>
                </a:lnTo>
                <a:lnTo>
                  <a:pt x="552186" y="2500883"/>
                </a:lnTo>
                <a:lnTo>
                  <a:pt x="558423" y="2500883"/>
                </a:lnTo>
                <a:close/>
              </a:path>
            </a:pathLst>
          </a:cu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xmlns="" id="{0BAEF270-0A03-4FCD-90D7-EBB950BA009E}"/>
              </a:ext>
            </a:extLst>
          </p:cNvPr>
          <p:cNvSpPr>
            <a:spLocks noGrp="1"/>
          </p:cNvSpPr>
          <p:nvPr>
            <p:ph type="title"/>
          </p:nvPr>
        </p:nvSpPr>
        <p:spPr>
          <a:xfrm>
            <a:off x="838200" y="365125"/>
            <a:ext cx="10515600" cy="1325563"/>
          </a:xfrm>
        </p:spPr>
        <p:txBody>
          <a:bodyPr>
            <a:normAutofit/>
          </a:bodyPr>
          <a:lstStyle/>
          <a:p>
            <a:r>
              <a:rPr lang="en-GB" sz="4100"/>
              <a:t>76YOF presents for routine eye examination as her sister was recently diagnosed with glaucoma</a:t>
            </a:r>
          </a:p>
        </p:txBody>
      </p:sp>
      <p:sp>
        <p:nvSpPr>
          <p:cNvPr id="3" name="Content Placeholder 2">
            <a:extLst>
              <a:ext uri="{FF2B5EF4-FFF2-40B4-BE49-F238E27FC236}">
                <a16:creationId xmlns:a16="http://schemas.microsoft.com/office/drawing/2014/main" xmlns="" id="{8289CDAC-8A78-4677-9E58-AA0E01DC497C}"/>
              </a:ext>
            </a:extLst>
          </p:cNvPr>
          <p:cNvSpPr>
            <a:spLocks noGrp="1"/>
          </p:cNvSpPr>
          <p:nvPr>
            <p:ph idx="1"/>
          </p:nvPr>
        </p:nvSpPr>
        <p:spPr>
          <a:xfrm>
            <a:off x="159026" y="1690688"/>
            <a:ext cx="5711687" cy="5167312"/>
          </a:xfrm>
        </p:spPr>
        <p:txBody>
          <a:bodyPr anchor="t">
            <a:normAutofit fontScale="85000" lnSpcReduction="20000"/>
          </a:bodyPr>
          <a:lstStyle/>
          <a:p>
            <a:pPr marL="514350" indent="-514350">
              <a:buFont typeface="+mj-lt"/>
              <a:buAutoNum type="arabicPeriod"/>
            </a:pPr>
            <a:r>
              <a:rPr lang="en-GB" sz="1600" dirty="0">
                <a:solidFill>
                  <a:schemeClr val="bg1"/>
                </a:solidFill>
              </a:rPr>
              <a:t>This is her left eye. Describe what you see in the anterior eye photo </a:t>
            </a:r>
            <a:r>
              <a:rPr lang="en-GB" sz="1600" dirty="0" err="1">
                <a:solidFill>
                  <a:schemeClr val="accent2"/>
                </a:solidFill>
              </a:rPr>
              <a:t>Pseudoexfoliative</a:t>
            </a:r>
            <a:r>
              <a:rPr lang="en-GB" sz="1600" dirty="0">
                <a:solidFill>
                  <a:schemeClr val="accent2"/>
                </a:solidFill>
              </a:rPr>
              <a:t> material on lens (central white material, clear zone + granular peripheral). No TID (typically pupil margin</a:t>
            </a:r>
            <a:endParaRPr lang="en-GB" sz="1600" dirty="0">
              <a:solidFill>
                <a:schemeClr val="bg1"/>
              </a:solidFill>
            </a:endParaRPr>
          </a:p>
          <a:p>
            <a:pPr marL="514350" indent="-514350">
              <a:buFont typeface="+mj-lt"/>
              <a:buAutoNum type="arabicPeriod"/>
            </a:pPr>
            <a:endParaRPr lang="en-GB" sz="1600" dirty="0">
              <a:solidFill>
                <a:schemeClr val="bg1"/>
              </a:solidFill>
            </a:endParaRPr>
          </a:p>
          <a:p>
            <a:pPr marL="514350" indent="-514350">
              <a:buFont typeface="+mj-lt"/>
              <a:buAutoNum type="arabicPeriod"/>
            </a:pPr>
            <a:r>
              <a:rPr lang="en-GB" sz="1600" dirty="0">
                <a:solidFill>
                  <a:schemeClr val="bg1"/>
                </a:solidFill>
              </a:rPr>
              <a:t>What is the second image? What do you see? </a:t>
            </a:r>
            <a:r>
              <a:rPr lang="en-GB" sz="1600" dirty="0" err="1">
                <a:solidFill>
                  <a:schemeClr val="accent2"/>
                </a:solidFill>
              </a:rPr>
              <a:t>Gonioscopy</a:t>
            </a:r>
            <a:r>
              <a:rPr lang="en-GB" sz="1600" dirty="0">
                <a:solidFill>
                  <a:schemeClr val="accent2"/>
                </a:solidFill>
              </a:rPr>
              <a:t> of inferior angle. Open to CBB. </a:t>
            </a:r>
            <a:r>
              <a:rPr lang="en-GB" sz="1600" dirty="0" err="1">
                <a:solidFill>
                  <a:schemeClr val="accent2"/>
                </a:solidFill>
              </a:rPr>
              <a:t>Sampaolesi’s</a:t>
            </a:r>
            <a:r>
              <a:rPr lang="en-GB" sz="1600" dirty="0">
                <a:solidFill>
                  <a:schemeClr val="accent2"/>
                </a:solidFill>
              </a:rPr>
              <a:t> line (white arrow)</a:t>
            </a:r>
            <a:endParaRPr lang="en-GB" sz="1600" dirty="0">
              <a:solidFill>
                <a:schemeClr val="bg1"/>
              </a:solidFill>
            </a:endParaRPr>
          </a:p>
          <a:p>
            <a:pPr marL="514350" indent="-514350">
              <a:buFont typeface="+mj-lt"/>
              <a:buAutoNum type="arabicPeriod"/>
            </a:pPr>
            <a:endParaRPr lang="en-GB" sz="1600" dirty="0">
              <a:solidFill>
                <a:schemeClr val="bg1"/>
              </a:solidFill>
            </a:endParaRPr>
          </a:p>
          <a:p>
            <a:pPr marL="514350" indent="-514350">
              <a:buFont typeface="+mj-lt"/>
              <a:buAutoNum type="arabicPeriod"/>
            </a:pPr>
            <a:r>
              <a:rPr lang="en-GB" sz="1600" dirty="0">
                <a:solidFill>
                  <a:schemeClr val="bg1"/>
                </a:solidFill>
              </a:rPr>
              <a:t>What is your most likely dx? </a:t>
            </a:r>
            <a:r>
              <a:rPr lang="en-GB" sz="1600" b="1" u="sng" dirty="0">
                <a:solidFill>
                  <a:schemeClr val="accent2"/>
                </a:solidFill>
              </a:rPr>
              <a:t>PXF</a:t>
            </a:r>
            <a:endParaRPr lang="en-GB" sz="1600" b="1" u="sng" dirty="0">
              <a:solidFill>
                <a:schemeClr val="bg1"/>
              </a:solidFill>
            </a:endParaRPr>
          </a:p>
          <a:p>
            <a:pPr marL="514350" indent="-514350">
              <a:buFont typeface="+mj-lt"/>
              <a:buAutoNum type="arabicPeriod"/>
            </a:pPr>
            <a:endParaRPr lang="en-GB" sz="1600" dirty="0">
              <a:solidFill>
                <a:schemeClr val="bg1"/>
              </a:solidFill>
            </a:endParaRPr>
          </a:p>
          <a:p>
            <a:pPr marL="514350" indent="-514350">
              <a:buFont typeface="+mj-lt"/>
              <a:buAutoNum type="arabicPeriod"/>
            </a:pPr>
            <a:r>
              <a:rPr lang="en-GB" sz="1600" dirty="0">
                <a:solidFill>
                  <a:schemeClr val="bg1"/>
                </a:solidFill>
              </a:rPr>
              <a:t>What is the pathophysiology of your dx? </a:t>
            </a:r>
            <a:r>
              <a:rPr lang="en-GB" sz="1600" dirty="0">
                <a:solidFill>
                  <a:schemeClr val="accent2"/>
                </a:solidFill>
              </a:rPr>
              <a:t>LOXL1 gene mutation </a:t>
            </a:r>
            <a:r>
              <a:rPr lang="en-GB" sz="1600" dirty="0">
                <a:solidFill>
                  <a:schemeClr val="accent2"/>
                </a:solidFill>
                <a:sym typeface="Wingdings" panose="05000000000000000000" pitchFamily="2" charset="2"/>
              </a:rPr>
              <a:t> overproduction of elastin = major component of material. PXF material (amyloid) clogs TM  reduced aqueous outflow  IOP elevation  Glaucoma</a:t>
            </a:r>
            <a:endParaRPr lang="en-GB" sz="1600" dirty="0">
              <a:solidFill>
                <a:schemeClr val="bg1"/>
              </a:solidFill>
            </a:endParaRPr>
          </a:p>
          <a:p>
            <a:pPr marL="514350" indent="-514350">
              <a:buFont typeface="+mj-lt"/>
              <a:buAutoNum type="arabicPeriod"/>
            </a:pPr>
            <a:endParaRPr lang="en-GB" sz="1600" dirty="0">
              <a:solidFill>
                <a:schemeClr val="bg1"/>
              </a:solidFill>
            </a:endParaRPr>
          </a:p>
          <a:p>
            <a:pPr marL="514350" indent="-514350">
              <a:buFont typeface="+mj-lt"/>
              <a:buAutoNum type="arabicPeriod"/>
            </a:pPr>
            <a:r>
              <a:rPr lang="en-GB" sz="1600" dirty="0">
                <a:solidFill>
                  <a:schemeClr val="bg1"/>
                </a:solidFill>
              </a:rPr>
              <a:t>What other signs would you expect to see? </a:t>
            </a:r>
            <a:r>
              <a:rPr lang="en-GB" sz="1600" dirty="0">
                <a:solidFill>
                  <a:schemeClr val="accent2"/>
                </a:solidFill>
              </a:rPr>
              <a:t>Corneal guttate, </a:t>
            </a:r>
            <a:r>
              <a:rPr lang="en-GB" sz="1600" dirty="0" err="1">
                <a:solidFill>
                  <a:schemeClr val="accent2"/>
                </a:solidFill>
              </a:rPr>
              <a:t>peripupillary</a:t>
            </a:r>
            <a:r>
              <a:rPr lang="en-GB" sz="1600" dirty="0">
                <a:solidFill>
                  <a:schemeClr val="accent2"/>
                </a:solidFill>
              </a:rPr>
              <a:t> atrophy, poor pupil dilation, </a:t>
            </a:r>
            <a:r>
              <a:rPr lang="en-GB" sz="1600" dirty="0" err="1">
                <a:solidFill>
                  <a:schemeClr val="accent2"/>
                </a:solidFill>
              </a:rPr>
              <a:t>phacodonesis</a:t>
            </a:r>
            <a:r>
              <a:rPr lang="en-GB" sz="1600" dirty="0">
                <a:solidFill>
                  <a:schemeClr val="accent2"/>
                </a:solidFill>
              </a:rPr>
              <a:t>, frosted zonular fibres</a:t>
            </a:r>
            <a:endParaRPr lang="en-GB" sz="1600" dirty="0">
              <a:solidFill>
                <a:schemeClr val="bg1"/>
              </a:solidFill>
            </a:endParaRPr>
          </a:p>
          <a:p>
            <a:pPr marL="514350" indent="-514350">
              <a:buFont typeface="+mj-lt"/>
              <a:buAutoNum type="arabicPeriod"/>
            </a:pPr>
            <a:endParaRPr lang="en-GB" sz="1600" dirty="0">
              <a:solidFill>
                <a:schemeClr val="bg1"/>
              </a:solidFill>
            </a:endParaRPr>
          </a:p>
          <a:p>
            <a:pPr marL="514350" indent="-514350">
              <a:buFont typeface="+mj-lt"/>
              <a:buAutoNum type="arabicPeriod"/>
            </a:pPr>
            <a:r>
              <a:rPr lang="en-GB" sz="1600" dirty="0">
                <a:solidFill>
                  <a:schemeClr val="bg1"/>
                </a:solidFill>
              </a:rPr>
              <a:t>What is risk of developing glaucoma? </a:t>
            </a:r>
            <a:r>
              <a:rPr lang="en-GB" sz="1600" dirty="0">
                <a:solidFill>
                  <a:schemeClr val="accent2"/>
                </a:solidFill>
              </a:rPr>
              <a:t>Lifetime risk is 35-50% - Risk of PXG with PXF is 1% per year i.e. 5% at 5 years and 15% at 15 years</a:t>
            </a:r>
          </a:p>
          <a:p>
            <a:pPr marL="514350" indent="-514350">
              <a:buFont typeface="+mj-lt"/>
              <a:buAutoNum type="arabicPeriod"/>
            </a:pPr>
            <a:endParaRPr lang="en-GB" sz="1600" dirty="0">
              <a:solidFill>
                <a:schemeClr val="accent2"/>
              </a:solidFill>
            </a:endParaRPr>
          </a:p>
          <a:p>
            <a:pPr marL="514350" indent="-514350">
              <a:buFont typeface="+mj-lt"/>
              <a:buAutoNum type="arabicPeriod"/>
            </a:pPr>
            <a:r>
              <a:rPr lang="en-GB" sz="1600" dirty="0">
                <a:solidFill>
                  <a:schemeClr val="bg1"/>
                </a:solidFill>
              </a:rPr>
              <a:t>What is rate of visual field progression? </a:t>
            </a:r>
            <a:r>
              <a:rPr lang="en-GB" sz="1600" dirty="0">
                <a:solidFill>
                  <a:schemeClr val="accent2"/>
                </a:solidFill>
              </a:rPr>
              <a:t>-3.13dB [EMGT]</a:t>
            </a:r>
            <a:endParaRPr lang="en-GB" sz="1600" dirty="0">
              <a:solidFill>
                <a:schemeClr val="bg1"/>
              </a:solidFill>
            </a:endParaRPr>
          </a:p>
        </p:txBody>
      </p:sp>
    </p:spTree>
    <p:extLst>
      <p:ext uri="{BB962C8B-B14F-4D97-AF65-F5344CB8AC3E}">
        <p14:creationId xmlns:p14="http://schemas.microsoft.com/office/powerpoint/2010/main" val="31894580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98FFC78-51E2-4519-8D09-1F887D517CE8}"/>
              </a:ext>
            </a:extLst>
          </p:cNvPr>
          <p:cNvSpPr>
            <a:spLocks noGrp="1"/>
          </p:cNvSpPr>
          <p:nvPr>
            <p:ph type="title"/>
          </p:nvPr>
        </p:nvSpPr>
        <p:spPr/>
        <p:txBody>
          <a:bodyPr/>
          <a:lstStyle/>
          <a:p>
            <a:r>
              <a:rPr lang="en-GB" dirty="0"/>
              <a:t>76YOF</a:t>
            </a:r>
          </a:p>
        </p:txBody>
      </p:sp>
      <p:pic>
        <p:nvPicPr>
          <p:cNvPr id="5" name="Picture 4">
            <a:extLst>
              <a:ext uri="{FF2B5EF4-FFF2-40B4-BE49-F238E27FC236}">
                <a16:creationId xmlns:a16="http://schemas.microsoft.com/office/drawing/2014/main" xmlns="" id="{87419937-C4FF-49D1-9FCE-CC8797880933}"/>
              </a:ext>
            </a:extLst>
          </p:cNvPr>
          <p:cNvPicPr/>
          <p:nvPr/>
        </p:nvPicPr>
        <p:blipFill rotWithShape="1">
          <a:blip r:embed="rId2"/>
          <a:srcRect t="17937" b="16383"/>
          <a:stretch/>
        </p:blipFill>
        <p:spPr>
          <a:xfrm>
            <a:off x="5531556" y="1448859"/>
            <a:ext cx="5822244" cy="4997097"/>
          </a:xfrm>
          <a:prstGeom prst="rect">
            <a:avLst/>
          </a:prstGeom>
        </p:spPr>
      </p:pic>
      <p:pic>
        <p:nvPicPr>
          <p:cNvPr id="6" name="Picture 5">
            <a:extLst>
              <a:ext uri="{FF2B5EF4-FFF2-40B4-BE49-F238E27FC236}">
                <a16:creationId xmlns:a16="http://schemas.microsoft.com/office/drawing/2014/main" xmlns="" id="{7EDB6658-F37C-489D-82EA-B3A7B4BEC272}"/>
              </a:ext>
            </a:extLst>
          </p:cNvPr>
          <p:cNvPicPr/>
          <p:nvPr/>
        </p:nvPicPr>
        <p:blipFill rotWithShape="1">
          <a:blip r:embed="rId3"/>
          <a:srcRect t="18335" b="15670"/>
          <a:stretch/>
        </p:blipFill>
        <p:spPr>
          <a:xfrm>
            <a:off x="292100" y="1448859"/>
            <a:ext cx="5943600" cy="5076119"/>
          </a:xfrm>
          <a:prstGeom prst="rect">
            <a:avLst/>
          </a:prstGeom>
        </p:spPr>
      </p:pic>
    </p:spTree>
    <p:extLst>
      <p:ext uri="{BB962C8B-B14F-4D97-AF65-F5344CB8AC3E}">
        <p14:creationId xmlns:p14="http://schemas.microsoft.com/office/powerpoint/2010/main" val="5377218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21847B5-68A4-44DA-A445-4E29FA19719E}"/>
              </a:ext>
            </a:extLst>
          </p:cNvPr>
          <p:cNvSpPr>
            <a:spLocks noGrp="1"/>
          </p:cNvSpPr>
          <p:nvPr>
            <p:ph type="title"/>
          </p:nvPr>
        </p:nvSpPr>
        <p:spPr>
          <a:xfrm>
            <a:off x="838200" y="365125"/>
            <a:ext cx="10515600" cy="1325563"/>
          </a:xfrm>
        </p:spPr>
        <p:txBody>
          <a:bodyPr/>
          <a:lstStyle/>
          <a:p>
            <a:r>
              <a:rPr lang="en-GB" dirty="0"/>
              <a:t>76YOF - ii</a:t>
            </a:r>
          </a:p>
        </p:txBody>
      </p:sp>
      <p:pic>
        <p:nvPicPr>
          <p:cNvPr id="2050" name="Picture 2" descr="POAG, macula">
            <a:extLst>
              <a:ext uri="{FF2B5EF4-FFF2-40B4-BE49-F238E27FC236}">
                <a16:creationId xmlns:a16="http://schemas.microsoft.com/office/drawing/2014/main" xmlns="" id="{A3D63A3B-1034-40D1-B726-F3E1AEB750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06910" y="1772355"/>
            <a:ext cx="5164667" cy="442224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xmlns="" id="{253C0075-DA24-484A-BC90-A9C91749295D}"/>
              </a:ext>
            </a:extLst>
          </p:cNvPr>
          <p:cNvSpPr txBox="1"/>
          <p:nvPr/>
        </p:nvSpPr>
        <p:spPr>
          <a:xfrm>
            <a:off x="282222" y="1675154"/>
            <a:ext cx="5703710" cy="3046988"/>
          </a:xfrm>
          <a:prstGeom prst="rect">
            <a:avLst/>
          </a:prstGeom>
          <a:noFill/>
        </p:spPr>
        <p:txBody>
          <a:bodyPr wrap="square" rtlCol="0">
            <a:spAutoFit/>
          </a:bodyPr>
          <a:lstStyle/>
          <a:p>
            <a:pPr marL="342900" indent="-342900">
              <a:buFont typeface="+mj-lt"/>
              <a:buAutoNum type="arabicPeriod"/>
            </a:pPr>
            <a:r>
              <a:rPr lang="en-GB" sz="2400" dirty="0"/>
              <a:t>Describe the VF and your </a:t>
            </a:r>
            <a:r>
              <a:rPr lang="en-GB" sz="2400" dirty="0" err="1"/>
              <a:t>ddx</a:t>
            </a:r>
            <a:r>
              <a:rPr lang="en-GB" sz="2400" dirty="0"/>
              <a:t>?</a:t>
            </a:r>
          </a:p>
          <a:p>
            <a:pPr marL="342900" indent="-342900">
              <a:buFont typeface="+mj-lt"/>
              <a:buAutoNum type="arabicPeriod"/>
            </a:pPr>
            <a:endParaRPr lang="en-GB" sz="2400" dirty="0"/>
          </a:p>
          <a:p>
            <a:pPr marL="342900" indent="-342900">
              <a:buFont typeface="+mj-lt"/>
              <a:buAutoNum type="arabicPeriod"/>
            </a:pPr>
            <a:endParaRPr lang="en-GB" sz="2400" dirty="0"/>
          </a:p>
          <a:p>
            <a:pPr marL="342900" indent="-342900">
              <a:buFont typeface="+mj-lt"/>
              <a:buAutoNum type="arabicPeriod"/>
            </a:pPr>
            <a:r>
              <a:rPr lang="en-GB" sz="2400" dirty="0"/>
              <a:t>Describe the left eye seen here</a:t>
            </a:r>
          </a:p>
          <a:p>
            <a:pPr marL="342900" indent="-342900">
              <a:buFont typeface="+mj-lt"/>
              <a:buAutoNum type="arabicPeriod"/>
            </a:pPr>
            <a:endParaRPr lang="en-GB" sz="2400" dirty="0"/>
          </a:p>
          <a:p>
            <a:pPr marL="342900" indent="-342900">
              <a:buFont typeface="+mj-lt"/>
              <a:buAutoNum type="arabicPeriod"/>
            </a:pPr>
            <a:endParaRPr lang="en-GB" sz="2400" dirty="0"/>
          </a:p>
          <a:p>
            <a:pPr marL="342900" indent="-342900">
              <a:buFont typeface="+mj-lt"/>
              <a:buAutoNum type="arabicPeriod"/>
            </a:pPr>
            <a:r>
              <a:rPr lang="en-GB" sz="2400" dirty="0"/>
              <a:t>If the VF and this left eye were from the same patient what is your dx now? </a:t>
            </a:r>
          </a:p>
        </p:txBody>
      </p:sp>
    </p:spTree>
    <p:extLst>
      <p:ext uri="{BB962C8B-B14F-4D97-AF65-F5344CB8AC3E}">
        <p14:creationId xmlns:p14="http://schemas.microsoft.com/office/powerpoint/2010/main" val="35674465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21847B5-68A4-44DA-A445-4E29FA19719E}"/>
              </a:ext>
            </a:extLst>
          </p:cNvPr>
          <p:cNvSpPr>
            <a:spLocks noGrp="1"/>
          </p:cNvSpPr>
          <p:nvPr>
            <p:ph type="title"/>
          </p:nvPr>
        </p:nvSpPr>
        <p:spPr>
          <a:xfrm>
            <a:off x="838200" y="365125"/>
            <a:ext cx="10515600" cy="1325563"/>
          </a:xfrm>
        </p:spPr>
        <p:txBody>
          <a:bodyPr/>
          <a:lstStyle/>
          <a:p>
            <a:r>
              <a:rPr lang="en-GB" dirty="0"/>
              <a:t>76YOF - ii</a:t>
            </a:r>
          </a:p>
        </p:txBody>
      </p:sp>
      <p:pic>
        <p:nvPicPr>
          <p:cNvPr id="2050" name="Picture 2" descr="POAG, macula">
            <a:extLst>
              <a:ext uri="{FF2B5EF4-FFF2-40B4-BE49-F238E27FC236}">
                <a16:creationId xmlns:a16="http://schemas.microsoft.com/office/drawing/2014/main" xmlns="" id="{A3D63A3B-1034-40D1-B726-F3E1AEB750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06910" y="1846097"/>
            <a:ext cx="5164667" cy="442224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xmlns="" id="{253C0075-DA24-484A-BC90-A9C91749295D}"/>
              </a:ext>
            </a:extLst>
          </p:cNvPr>
          <p:cNvSpPr txBox="1"/>
          <p:nvPr/>
        </p:nvSpPr>
        <p:spPr>
          <a:xfrm>
            <a:off x="203200" y="1302620"/>
            <a:ext cx="5703710" cy="5509200"/>
          </a:xfrm>
          <a:prstGeom prst="rect">
            <a:avLst/>
          </a:prstGeom>
          <a:noFill/>
        </p:spPr>
        <p:txBody>
          <a:bodyPr wrap="square" rtlCol="0">
            <a:spAutoFit/>
          </a:bodyPr>
          <a:lstStyle/>
          <a:p>
            <a:pPr marL="342900" indent="-342900">
              <a:buFont typeface="+mj-lt"/>
              <a:buAutoNum type="arabicPeriod"/>
            </a:pPr>
            <a:r>
              <a:rPr lang="en-GB" sz="2400" dirty="0"/>
              <a:t>Describe the VF and your </a:t>
            </a:r>
            <a:r>
              <a:rPr lang="en-GB" sz="2400" dirty="0" err="1"/>
              <a:t>ddx</a:t>
            </a:r>
            <a:r>
              <a:rPr lang="en-GB" sz="2400" dirty="0"/>
              <a:t>?</a:t>
            </a:r>
          </a:p>
          <a:p>
            <a:pPr marL="800100" lvl="1" indent="-342900">
              <a:buFont typeface="+mj-lt"/>
              <a:buAutoNum type="arabicPeriod"/>
            </a:pPr>
            <a:r>
              <a:rPr lang="en-GB" sz="1400" dirty="0">
                <a:solidFill>
                  <a:srgbClr val="FF0000"/>
                </a:solidFill>
              </a:rPr>
              <a:t>OS dense super arcuate + nasal step</a:t>
            </a:r>
          </a:p>
          <a:p>
            <a:pPr marL="800100" lvl="1" indent="-342900">
              <a:buFont typeface="+mj-lt"/>
              <a:buAutoNum type="arabicPeriod"/>
            </a:pPr>
            <a:r>
              <a:rPr lang="en-GB" sz="1400" dirty="0">
                <a:solidFill>
                  <a:srgbClr val="FF0000"/>
                </a:solidFill>
              </a:rPr>
              <a:t>OD early sup arcuate</a:t>
            </a:r>
          </a:p>
          <a:p>
            <a:pPr marL="1257300" lvl="2" indent="-342900">
              <a:buFont typeface="+mj-lt"/>
              <a:buAutoNum type="arabicPeriod"/>
            </a:pPr>
            <a:r>
              <a:rPr lang="en-GB" sz="1400" dirty="0">
                <a:solidFill>
                  <a:srgbClr val="FF0000"/>
                </a:solidFill>
              </a:rPr>
              <a:t>Neither obey V/H midline</a:t>
            </a:r>
          </a:p>
          <a:p>
            <a:pPr lvl="1"/>
            <a:r>
              <a:rPr lang="en-GB" sz="1400" dirty="0" err="1">
                <a:solidFill>
                  <a:srgbClr val="FF0000"/>
                </a:solidFill>
              </a:rPr>
              <a:t>DDx</a:t>
            </a:r>
            <a:r>
              <a:rPr lang="en-GB" sz="1400" dirty="0">
                <a:solidFill>
                  <a:srgbClr val="FF0000"/>
                </a:solidFill>
              </a:rPr>
              <a:t>: Glaucoma, optic neuritis, papilledema, congenital tilted discs, </a:t>
            </a:r>
          </a:p>
          <a:p>
            <a:pPr marL="342900" indent="-342900">
              <a:buFont typeface="+mj-lt"/>
              <a:buAutoNum type="arabicPeriod"/>
            </a:pPr>
            <a:endParaRPr lang="en-GB" sz="2400" dirty="0"/>
          </a:p>
          <a:p>
            <a:pPr marL="342900" indent="-342900">
              <a:buFont typeface="+mj-lt"/>
              <a:buAutoNum type="arabicPeriod"/>
            </a:pPr>
            <a:r>
              <a:rPr lang="en-GB" sz="2400" dirty="0"/>
              <a:t>Describe the left eye seen here</a:t>
            </a:r>
          </a:p>
          <a:p>
            <a:pPr marL="800100" lvl="1" indent="-342900">
              <a:buFont typeface="+mj-lt"/>
              <a:buAutoNum type="arabicPeriod"/>
            </a:pPr>
            <a:r>
              <a:rPr lang="en-GB" sz="1600" dirty="0">
                <a:solidFill>
                  <a:srgbClr val="FF0000"/>
                </a:solidFill>
              </a:rPr>
              <a:t>Average size nerve, CDR 0.8/0.6 V/H</a:t>
            </a:r>
          </a:p>
          <a:p>
            <a:pPr marL="800100" lvl="1" indent="-342900">
              <a:buFont typeface="+mj-lt"/>
              <a:buAutoNum type="arabicPeriod"/>
            </a:pPr>
            <a:r>
              <a:rPr lang="en-GB" sz="1600" dirty="0">
                <a:solidFill>
                  <a:srgbClr val="FF0000"/>
                </a:solidFill>
              </a:rPr>
              <a:t>NRR inferior notch, temporal thin</a:t>
            </a:r>
          </a:p>
          <a:p>
            <a:pPr marL="800100" lvl="1" indent="-342900">
              <a:buFont typeface="+mj-lt"/>
              <a:buAutoNum type="arabicPeriod"/>
            </a:pPr>
            <a:r>
              <a:rPr lang="en-GB" sz="1600" dirty="0">
                <a:solidFill>
                  <a:srgbClr val="FF0000"/>
                </a:solidFill>
              </a:rPr>
              <a:t>Wide inferior RNFL wedge defect</a:t>
            </a:r>
          </a:p>
          <a:p>
            <a:pPr marL="800100" lvl="1" indent="-342900">
              <a:buFont typeface="+mj-lt"/>
              <a:buAutoNum type="arabicPeriod"/>
            </a:pPr>
            <a:r>
              <a:rPr lang="en-GB" sz="1600" dirty="0">
                <a:solidFill>
                  <a:srgbClr val="FF0000"/>
                </a:solidFill>
              </a:rPr>
              <a:t>PPA-alpha</a:t>
            </a:r>
          </a:p>
          <a:p>
            <a:pPr marL="800100" lvl="1" indent="-342900">
              <a:buFont typeface="+mj-lt"/>
              <a:buAutoNum type="arabicPeriod"/>
            </a:pPr>
            <a:r>
              <a:rPr lang="en-GB" sz="1600" dirty="0">
                <a:solidFill>
                  <a:srgbClr val="FF0000"/>
                </a:solidFill>
              </a:rPr>
              <a:t>No </a:t>
            </a:r>
            <a:r>
              <a:rPr lang="en-GB" sz="1600" dirty="0" err="1">
                <a:solidFill>
                  <a:srgbClr val="FF0000"/>
                </a:solidFill>
              </a:rPr>
              <a:t>drance</a:t>
            </a:r>
            <a:r>
              <a:rPr lang="en-GB" sz="1600" dirty="0">
                <a:solidFill>
                  <a:srgbClr val="FF0000"/>
                </a:solidFill>
              </a:rPr>
              <a:t> haem</a:t>
            </a:r>
          </a:p>
          <a:p>
            <a:endParaRPr lang="en-GB" sz="2400" dirty="0"/>
          </a:p>
          <a:p>
            <a:pPr marL="342900" indent="-342900">
              <a:buFont typeface="+mj-lt"/>
              <a:buAutoNum type="arabicPeriod"/>
            </a:pPr>
            <a:r>
              <a:rPr lang="en-GB" sz="2400" dirty="0"/>
              <a:t>If the VF and this left eye were from the same patient what is your dx now? </a:t>
            </a:r>
            <a:r>
              <a:rPr lang="en-GB" sz="2400" dirty="0">
                <a:solidFill>
                  <a:srgbClr val="FF0000"/>
                </a:solidFill>
              </a:rPr>
              <a:t>Glaucoma – most likely NTG</a:t>
            </a:r>
          </a:p>
          <a:p>
            <a:r>
              <a:rPr lang="en-GB" sz="2400" dirty="0">
                <a:solidFill>
                  <a:srgbClr val="FF0000"/>
                </a:solidFill>
              </a:rPr>
              <a:t>Mod glaucoma OS (Mills MD = -11.55dB)</a:t>
            </a:r>
          </a:p>
          <a:p>
            <a:r>
              <a:rPr lang="en-GB" sz="2400" dirty="0">
                <a:solidFill>
                  <a:srgbClr val="FF0000"/>
                </a:solidFill>
              </a:rPr>
              <a:t>Early glaucoma OD (Mills MD = -3.82dB)</a:t>
            </a:r>
            <a:endParaRPr lang="en-GB" sz="2400" dirty="0"/>
          </a:p>
        </p:txBody>
      </p:sp>
    </p:spTree>
    <p:extLst>
      <p:ext uri="{BB962C8B-B14F-4D97-AF65-F5344CB8AC3E}">
        <p14:creationId xmlns:p14="http://schemas.microsoft.com/office/powerpoint/2010/main" val="19004612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021A37E-2E97-4187-BDE9-7F0F8C56B996}"/>
              </a:ext>
            </a:extLst>
          </p:cNvPr>
          <p:cNvSpPr>
            <a:spLocks noGrp="1"/>
          </p:cNvSpPr>
          <p:nvPr>
            <p:ph type="title"/>
          </p:nvPr>
        </p:nvSpPr>
        <p:spPr/>
        <p:txBody>
          <a:bodyPr/>
          <a:lstStyle/>
          <a:p>
            <a:r>
              <a:rPr lang="en-GB" dirty="0"/>
              <a:t>15YOF</a:t>
            </a:r>
          </a:p>
        </p:txBody>
      </p:sp>
      <p:pic>
        <p:nvPicPr>
          <p:cNvPr id="4" name="Picture 3">
            <a:extLst>
              <a:ext uri="{FF2B5EF4-FFF2-40B4-BE49-F238E27FC236}">
                <a16:creationId xmlns:a16="http://schemas.microsoft.com/office/drawing/2014/main" xmlns="" id="{919F0E01-FCC8-4C88-9308-3B5F5ED36DBF}"/>
              </a:ext>
            </a:extLst>
          </p:cNvPr>
          <p:cNvPicPr>
            <a:picLocks noChangeAspect="1"/>
          </p:cNvPicPr>
          <p:nvPr/>
        </p:nvPicPr>
        <p:blipFill>
          <a:blip r:embed="rId3"/>
          <a:stretch>
            <a:fillRect/>
          </a:stretch>
        </p:blipFill>
        <p:spPr>
          <a:xfrm>
            <a:off x="3556000" y="1260445"/>
            <a:ext cx="8532086" cy="5504776"/>
          </a:xfrm>
          <a:prstGeom prst="rect">
            <a:avLst/>
          </a:prstGeom>
        </p:spPr>
      </p:pic>
      <p:sp>
        <p:nvSpPr>
          <p:cNvPr id="5" name="TextBox 4">
            <a:extLst>
              <a:ext uri="{FF2B5EF4-FFF2-40B4-BE49-F238E27FC236}">
                <a16:creationId xmlns:a16="http://schemas.microsoft.com/office/drawing/2014/main" xmlns="" id="{885886DF-611D-4392-B98C-C1157365A52D}"/>
              </a:ext>
            </a:extLst>
          </p:cNvPr>
          <p:cNvSpPr txBox="1"/>
          <p:nvPr/>
        </p:nvSpPr>
        <p:spPr>
          <a:xfrm>
            <a:off x="203200" y="1302620"/>
            <a:ext cx="3104444" cy="1569660"/>
          </a:xfrm>
          <a:prstGeom prst="rect">
            <a:avLst/>
          </a:prstGeom>
          <a:noFill/>
        </p:spPr>
        <p:txBody>
          <a:bodyPr wrap="square" rtlCol="0">
            <a:spAutoFit/>
          </a:bodyPr>
          <a:lstStyle/>
          <a:p>
            <a:pPr marL="342900" indent="-342900">
              <a:buFont typeface="+mj-lt"/>
              <a:buAutoNum type="arabicPeriod"/>
            </a:pPr>
            <a:r>
              <a:rPr lang="en-GB" sz="1600" dirty="0"/>
              <a:t>Describe the VF and your </a:t>
            </a:r>
            <a:r>
              <a:rPr lang="en-GB" sz="1600" dirty="0" err="1"/>
              <a:t>ddx</a:t>
            </a:r>
            <a:r>
              <a:rPr lang="en-GB" sz="1600" dirty="0"/>
              <a:t>?</a:t>
            </a:r>
          </a:p>
          <a:p>
            <a:r>
              <a:rPr lang="en-GB" sz="1600" dirty="0">
                <a:solidFill>
                  <a:srgbClr val="FF0000"/>
                </a:solidFill>
              </a:rPr>
              <a:t>Incomplete bitemporal hemianopia on 30-2 neurological VF</a:t>
            </a:r>
          </a:p>
          <a:p>
            <a:endParaRPr lang="en-GB" sz="1600" dirty="0">
              <a:solidFill>
                <a:srgbClr val="FF0000"/>
              </a:solidFill>
            </a:endParaRPr>
          </a:p>
          <a:p>
            <a:r>
              <a:rPr lang="en-GB" sz="1600" dirty="0" err="1">
                <a:solidFill>
                  <a:srgbClr val="FF0000"/>
                </a:solidFill>
              </a:rPr>
              <a:t>DDx</a:t>
            </a:r>
            <a:r>
              <a:rPr lang="en-GB" sz="1600" dirty="0">
                <a:solidFill>
                  <a:srgbClr val="FF0000"/>
                </a:solidFill>
              </a:rPr>
              <a:t>: Chiasmal lesion (pituitary adenoma), </a:t>
            </a:r>
          </a:p>
        </p:txBody>
      </p:sp>
    </p:spTree>
    <p:extLst>
      <p:ext uri="{BB962C8B-B14F-4D97-AF65-F5344CB8AC3E}">
        <p14:creationId xmlns:p14="http://schemas.microsoft.com/office/powerpoint/2010/main" val="19984709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D80940C-BBCB-445A-B02C-7AC14ECDB04B}"/>
              </a:ext>
            </a:extLst>
          </p:cNvPr>
          <p:cNvSpPr>
            <a:spLocks noGrp="1"/>
          </p:cNvSpPr>
          <p:nvPr>
            <p:ph type="title"/>
          </p:nvPr>
        </p:nvSpPr>
        <p:spPr/>
        <p:txBody>
          <a:bodyPr>
            <a:normAutofit fontScale="90000"/>
          </a:bodyPr>
          <a:lstStyle/>
          <a:p>
            <a:r>
              <a:rPr lang="en-AU" sz="2400" dirty="0"/>
              <a:t>Case 1: A 30 year-old female presents with a painless red right eye (shown below) with blurry vision (gradually over 1 week). BCVA: R 6/15 L 6/6. There have been no previously reported episodes. You notice some round blister-like lesions along her eyelid. The pupil is pharmacologically dilated in this photo (pupil responses normal prior to </a:t>
            </a:r>
            <a:r>
              <a:rPr lang="en-AU" sz="2400" dirty="0" err="1"/>
              <a:t>mydriacyl</a:t>
            </a:r>
            <a:r>
              <a:rPr lang="en-AU" sz="2400" dirty="0"/>
              <a:t> instillation).</a:t>
            </a:r>
          </a:p>
        </p:txBody>
      </p:sp>
      <p:sp>
        <p:nvSpPr>
          <p:cNvPr id="3" name="Content Placeholder 2">
            <a:extLst>
              <a:ext uri="{FF2B5EF4-FFF2-40B4-BE49-F238E27FC236}">
                <a16:creationId xmlns:a16="http://schemas.microsoft.com/office/drawing/2014/main" xmlns="" id="{E21240C8-2031-427C-A6D6-5A29929F2CC9}"/>
              </a:ext>
            </a:extLst>
          </p:cNvPr>
          <p:cNvSpPr>
            <a:spLocks noGrp="1"/>
          </p:cNvSpPr>
          <p:nvPr>
            <p:ph idx="1"/>
          </p:nvPr>
        </p:nvSpPr>
        <p:spPr/>
        <p:txBody>
          <a:bodyPr/>
          <a:lstStyle/>
          <a:p>
            <a:endParaRPr lang="en-AU"/>
          </a:p>
        </p:txBody>
      </p:sp>
      <p:pic>
        <p:nvPicPr>
          <p:cNvPr id="1028" name="Picture 4" descr="Images">
            <a:extLst>
              <a:ext uri="{FF2B5EF4-FFF2-40B4-BE49-F238E27FC236}">
                <a16:creationId xmlns:a16="http://schemas.microsoft.com/office/drawing/2014/main" xmlns="" id="{3D1C0721-2D96-4E15-A40E-24FD57285F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7079" y="1690688"/>
            <a:ext cx="6797842" cy="49131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49708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0704C6B-BDB8-4164-BCD4-ADF62CE50C27}"/>
              </a:ext>
            </a:extLst>
          </p:cNvPr>
          <p:cNvSpPr>
            <a:spLocks noGrp="1"/>
          </p:cNvSpPr>
          <p:nvPr>
            <p:ph type="title"/>
          </p:nvPr>
        </p:nvSpPr>
        <p:spPr/>
        <p:txBody>
          <a:bodyPr/>
          <a:lstStyle/>
          <a:p>
            <a:r>
              <a:rPr lang="en-AU" dirty="0"/>
              <a:t>Case 1</a:t>
            </a:r>
          </a:p>
        </p:txBody>
      </p:sp>
      <p:sp>
        <p:nvSpPr>
          <p:cNvPr id="3" name="Content Placeholder 2">
            <a:extLst>
              <a:ext uri="{FF2B5EF4-FFF2-40B4-BE49-F238E27FC236}">
                <a16:creationId xmlns:a16="http://schemas.microsoft.com/office/drawing/2014/main" xmlns="" id="{AE5572A2-037D-42CB-9C89-E797A5D416AA}"/>
              </a:ext>
            </a:extLst>
          </p:cNvPr>
          <p:cNvSpPr>
            <a:spLocks noGrp="1"/>
          </p:cNvSpPr>
          <p:nvPr>
            <p:ph idx="1"/>
          </p:nvPr>
        </p:nvSpPr>
        <p:spPr>
          <a:xfrm>
            <a:off x="838200" y="1825625"/>
            <a:ext cx="5851358" cy="4351338"/>
          </a:xfrm>
        </p:spPr>
        <p:txBody>
          <a:bodyPr/>
          <a:lstStyle/>
          <a:p>
            <a:r>
              <a:rPr lang="en-AU" dirty="0"/>
              <a:t>Describe what you see</a:t>
            </a:r>
          </a:p>
          <a:p>
            <a:r>
              <a:rPr lang="en-AU" dirty="0"/>
              <a:t>What other tests would you do to confirm your diagnosis?</a:t>
            </a:r>
          </a:p>
          <a:p>
            <a:r>
              <a:rPr lang="en-AU" dirty="0" err="1"/>
              <a:t>DDx</a:t>
            </a:r>
            <a:r>
              <a:rPr lang="en-AU" dirty="0"/>
              <a:t>?</a:t>
            </a:r>
          </a:p>
          <a:p>
            <a:r>
              <a:rPr lang="en-AU" dirty="0"/>
              <a:t>Diagnosis?</a:t>
            </a:r>
          </a:p>
          <a:p>
            <a:r>
              <a:rPr lang="en-AU" dirty="0"/>
              <a:t>Management?</a:t>
            </a:r>
          </a:p>
          <a:p>
            <a:r>
              <a:rPr lang="en-AU" dirty="0"/>
              <a:t>Prognosis?</a:t>
            </a:r>
          </a:p>
        </p:txBody>
      </p:sp>
      <p:pic>
        <p:nvPicPr>
          <p:cNvPr id="4" name="Picture 4" descr="Images">
            <a:extLst>
              <a:ext uri="{FF2B5EF4-FFF2-40B4-BE49-F238E27FC236}">
                <a16:creationId xmlns:a16="http://schemas.microsoft.com/office/drawing/2014/main" xmlns="" id="{13D15D2B-85C3-4ECE-BDB3-6635536D64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89558" y="1690688"/>
            <a:ext cx="5185152" cy="37475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06024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B23B90E-9B4F-48B1-B5CA-FE5766B46B00}"/>
              </a:ext>
            </a:extLst>
          </p:cNvPr>
          <p:cNvSpPr>
            <a:spLocks noGrp="1"/>
          </p:cNvSpPr>
          <p:nvPr>
            <p:ph type="title"/>
          </p:nvPr>
        </p:nvSpPr>
        <p:spPr/>
        <p:txBody>
          <a:bodyPr/>
          <a:lstStyle/>
          <a:p>
            <a:r>
              <a:rPr lang="en-AU" dirty="0"/>
              <a:t>Case 1</a:t>
            </a:r>
          </a:p>
        </p:txBody>
      </p:sp>
      <p:sp>
        <p:nvSpPr>
          <p:cNvPr id="3" name="Content Placeholder 2">
            <a:extLst>
              <a:ext uri="{FF2B5EF4-FFF2-40B4-BE49-F238E27FC236}">
                <a16:creationId xmlns:a16="http://schemas.microsoft.com/office/drawing/2014/main" xmlns="" id="{F652B0DF-E9B6-4278-B20C-1979A42C73F5}"/>
              </a:ext>
            </a:extLst>
          </p:cNvPr>
          <p:cNvSpPr>
            <a:spLocks noGrp="1"/>
          </p:cNvSpPr>
          <p:nvPr>
            <p:ph idx="1"/>
          </p:nvPr>
        </p:nvSpPr>
        <p:spPr/>
        <p:txBody>
          <a:bodyPr>
            <a:normAutofit lnSpcReduction="10000"/>
          </a:bodyPr>
          <a:lstStyle/>
          <a:p>
            <a:r>
              <a:rPr lang="en-AU" dirty="0"/>
              <a:t>Describe what you see:</a:t>
            </a:r>
          </a:p>
          <a:p>
            <a:pPr lvl="1"/>
            <a:r>
              <a:rPr lang="en-AU" dirty="0"/>
              <a:t>Central </a:t>
            </a:r>
            <a:r>
              <a:rPr lang="en-AU" dirty="0" err="1"/>
              <a:t>disciform</a:t>
            </a:r>
            <a:r>
              <a:rPr lang="en-AU" dirty="0"/>
              <a:t> region of stromal oedema with underlying Descemet’s folds</a:t>
            </a:r>
          </a:p>
          <a:p>
            <a:pPr lvl="1"/>
            <a:r>
              <a:rPr lang="en-AU" dirty="0"/>
              <a:t>Granulomatous </a:t>
            </a:r>
            <a:r>
              <a:rPr lang="en-AU" dirty="0" err="1"/>
              <a:t>keratic</a:t>
            </a:r>
            <a:r>
              <a:rPr lang="en-AU" dirty="0"/>
              <a:t> precipitates underlying the stromal haze, in the inferior cornea</a:t>
            </a:r>
          </a:p>
          <a:p>
            <a:pPr lvl="1"/>
            <a:r>
              <a:rPr lang="en-AU" dirty="0"/>
              <a:t>Conjunctival injection</a:t>
            </a:r>
          </a:p>
          <a:p>
            <a:r>
              <a:rPr lang="en-AU" dirty="0"/>
              <a:t>Other tests: </a:t>
            </a:r>
          </a:p>
          <a:p>
            <a:pPr lvl="1"/>
            <a:r>
              <a:rPr lang="en-AU" dirty="0"/>
              <a:t>Corneal sensitivity, check for preauricular lymphadenopathy, check for epithelial involvement (fluorescein), DFE (to rule out posterior eye involvement e.g. PORN)</a:t>
            </a:r>
          </a:p>
          <a:p>
            <a:r>
              <a:rPr lang="en-AU" dirty="0" err="1"/>
              <a:t>DDx</a:t>
            </a:r>
            <a:r>
              <a:rPr lang="en-AU" dirty="0"/>
              <a:t>: </a:t>
            </a:r>
          </a:p>
          <a:p>
            <a:pPr lvl="1"/>
            <a:r>
              <a:rPr lang="en-AU" dirty="0"/>
              <a:t>AAU, HSV stromal keratitis, HSV </a:t>
            </a:r>
            <a:r>
              <a:rPr lang="en-AU" dirty="0" err="1"/>
              <a:t>endotheliitis</a:t>
            </a:r>
            <a:r>
              <a:rPr lang="en-AU" dirty="0"/>
              <a:t>, Acanthamoeba keratitis, fungal keratitis</a:t>
            </a:r>
          </a:p>
          <a:p>
            <a:endParaRPr lang="en-AU" dirty="0"/>
          </a:p>
          <a:p>
            <a:endParaRPr lang="en-AU" dirty="0"/>
          </a:p>
        </p:txBody>
      </p:sp>
    </p:spTree>
    <p:extLst>
      <p:ext uri="{BB962C8B-B14F-4D97-AF65-F5344CB8AC3E}">
        <p14:creationId xmlns:p14="http://schemas.microsoft.com/office/powerpoint/2010/main" val="1304132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fade">
                                      <p:cBhvr>
                                        <p:cTn id="18" dur="500"/>
                                        <p:tgtEl>
                                          <p:spTgt spid="3">
                                            <p:txEl>
                                              <p:pRg st="5" end="5"/>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animEffect transition="in" filter="fade">
                                      <p:cBhvr>
                                        <p:cTn id="23"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6988F9F-CE48-40B0-8C29-A7279C9AAAFE}"/>
              </a:ext>
            </a:extLst>
          </p:cNvPr>
          <p:cNvSpPr>
            <a:spLocks noGrp="1"/>
          </p:cNvSpPr>
          <p:nvPr>
            <p:ph type="title"/>
          </p:nvPr>
        </p:nvSpPr>
        <p:spPr/>
        <p:txBody>
          <a:bodyPr/>
          <a:lstStyle/>
          <a:p>
            <a:endParaRPr lang="en-AU"/>
          </a:p>
        </p:txBody>
      </p:sp>
      <p:sp>
        <p:nvSpPr>
          <p:cNvPr id="3" name="Content Placeholder 2">
            <a:extLst>
              <a:ext uri="{FF2B5EF4-FFF2-40B4-BE49-F238E27FC236}">
                <a16:creationId xmlns:a16="http://schemas.microsoft.com/office/drawing/2014/main" xmlns="" id="{250355B7-A8E9-47FE-8F5B-205F8E5430B8}"/>
              </a:ext>
            </a:extLst>
          </p:cNvPr>
          <p:cNvSpPr>
            <a:spLocks noGrp="1"/>
          </p:cNvSpPr>
          <p:nvPr>
            <p:ph idx="1"/>
          </p:nvPr>
        </p:nvSpPr>
        <p:spPr/>
        <p:txBody>
          <a:bodyPr>
            <a:normAutofit lnSpcReduction="10000"/>
          </a:bodyPr>
          <a:lstStyle/>
          <a:p>
            <a:r>
              <a:rPr lang="en-AU" dirty="0"/>
              <a:t>Diagnosis: </a:t>
            </a:r>
          </a:p>
          <a:p>
            <a:pPr lvl="1"/>
            <a:r>
              <a:rPr lang="en-AU" dirty="0"/>
              <a:t>HSV Stromal (</a:t>
            </a:r>
            <a:r>
              <a:rPr lang="en-AU" dirty="0" err="1"/>
              <a:t>Disciform</a:t>
            </a:r>
            <a:r>
              <a:rPr lang="en-AU" dirty="0"/>
              <a:t> or Interstitial) Keratitis</a:t>
            </a:r>
          </a:p>
          <a:p>
            <a:r>
              <a:rPr lang="en-AU" dirty="0"/>
              <a:t>Management:</a:t>
            </a:r>
          </a:p>
          <a:p>
            <a:pPr lvl="1"/>
            <a:r>
              <a:rPr lang="en-AU" dirty="0" err="1"/>
              <a:t>Pred</a:t>
            </a:r>
            <a:r>
              <a:rPr lang="en-AU" dirty="0"/>
              <a:t> Forte 1% QID RE</a:t>
            </a:r>
          </a:p>
          <a:p>
            <a:pPr lvl="1"/>
            <a:r>
              <a:rPr lang="en-AU" dirty="0"/>
              <a:t>Topical Aciclovir 3% ointment 5 times a day RE</a:t>
            </a:r>
          </a:p>
          <a:p>
            <a:pPr lvl="1"/>
            <a:r>
              <a:rPr lang="en-AU" dirty="0"/>
              <a:t>Review daily until improvement in signs </a:t>
            </a:r>
            <a:r>
              <a:rPr lang="en-AU" dirty="0">
                <a:sym typeface="Wingdings" panose="05000000000000000000" pitchFamily="2" charset="2"/>
              </a:rPr>
              <a:t> taper steroid over no less than 4 weeks (Kanski)</a:t>
            </a:r>
            <a:endParaRPr lang="en-AU" dirty="0"/>
          </a:p>
          <a:p>
            <a:pPr lvl="1"/>
            <a:r>
              <a:rPr lang="en-AU" dirty="0"/>
              <a:t>Following resolution, recommend oral acyclovir 400mg BID (HEDS, 1994) – long-term (important to check for any renal disease, and periodically check this considering the long-term treatment)</a:t>
            </a:r>
          </a:p>
          <a:p>
            <a:pPr lvl="1"/>
            <a:r>
              <a:rPr lang="en-AU" dirty="0"/>
              <a:t>Risk factors in recurrence: history of HSV stromal keratitis, greater number of previous HSV episodes (of any type)</a:t>
            </a:r>
          </a:p>
        </p:txBody>
      </p:sp>
    </p:spTree>
    <p:extLst>
      <p:ext uri="{BB962C8B-B14F-4D97-AF65-F5344CB8AC3E}">
        <p14:creationId xmlns:p14="http://schemas.microsoft.com/office/powerpoint/2010/main" val="3403636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fade">
                                      <p:cBhvr>
                                        <p:cTn id="18" dur="500"/>
                                        <p:tgtEl>
                                          <p:spTgt spid="3">
                                            <p:txEl>
                                              <p:pRg st="5" end="5"/>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Effect transition="in" filter="fade">
                                      <p:cBhvr>
                                        <p:cTn id="21" dur="500"/>
                                        <p:tgtEl>
                                          <p:spTgt spid="3">
                                            <p:txEl>
                                              <p:pRg st="6" end="6"/>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7" end="7"/>
                                            </p:txEl>
                                          </p:spTgt>
                                        </p:tgtEl>
                                        <p:attrNameLst>
                                          <p:attrName>style.visibility</p:attrName>
                                        </p:attrNameLst>
                                      </p:cBhvr>
                                      <p:to>
                                        <p:strVal val="visible"/>
                                      </p:to>
                                    </p:set>
                                    <p:animEffect transition="in" filter="fade">
                                      <p:cBhvr>
                                        <p:cTn id="24"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D8F1FA1-0230-41EA-85C8-D4274EB80BE2}"/>
              </a:ext>
            </a:extLst>
          </p:cNvPr>
          <p:cNvSpPr>
            <a:spLocks noGrp="1"/>
          </p:cNvSpPr>
          <p:nvPr>
            <p:ph type="title"/>
          </p:nvPr>
        </p:nvSpPr>
        <p:spPr/>
        <p:txBody>
          <a:bodyPr>
            <a:normAutofit/>
          </a:bodyPr>
          <a:lstStyle/>
          <a:p>
            <a:r>
              <a:rPr lang="en-AU" sz="2400" dirty="0"/>
              <a:t>Case 2: 8 year-old boy presents with bilateral itchy red eyes, which have progressively gotten worse since the start of September. He reports getting a yellowy-white discharge from both eyes. </a:t>
            </a:r>
          </a:p>
        </p:txBody>
      </p:sp>
      <p:pic>
        <p:nvPicPr>
          <p:cNvPr id="2050" name="Picture 2" descr="Related image">
            <a:extLst>
              <a:ext uri="{FF2B5EF4-FFF2-40B4-BE49-F238E27FC236}">
                <a16:creationId xmlns:a16="http://schemas.microsoft.com/office/drawing/2014/main" xmlns="" id="{7DF21AD7-EA1C-4D21-8521-3C271A24437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92747" y="1562350"/>
            <a:ext cx="6806505" cy="51005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0621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26EC12E-F09A-47F4-845B-2D0198CEE36D}"/>
              </a:ext>
            </a:extLst>
          </p:cNvPr>
          <p:cNvSpPr>
            <a:spLocks noGrp="1"/>
          </p:cNvSpPr>
          <p:nvPr>
            <p:ph type="title"/>
          </p:nvPr>
        </p:nvSpPr>
        <p:spPr/>
        <p:txBody>
          <a:bodyPr/>
          <a:lstStyle/>
          <a:p>
            <a:r>
              <a:rPr lang="en-AU" dirty="0"/>
              <a:t>Case 2</a:t>
            </a:r>
          </a:p>
        </p:txBody>
      </p:sp>
      <p:sp>
        <p:nvSpPr>
          <p:cNvPr id="3" name="Content Placeholder 2">
            <a:extLst>
              <a:ext uri="{FF2B5EF4-FFF2-40B4-BE49-F238E27FC236}">
                <a16:creationId xmlns:a16="http://schemas.microsoft.com/office/drawing/2014/main" xmlns="" id="{0BBF1019-AE6D-4854-A5D3-2CBE6A790BEB}"/>
              </a:ext>
            </a:extLst>
          </p:cNvPr>
          <p:cNvSpPr>
            <a:spLocks noGrp="1"/>
          </p:cNvSpPr>
          <p:nvPr>
            <p:ph idx="1"/>
          </p:nvPr>
        </p:nvSpPr>
        <p:spPr>
          <a:xfrm>
            <a:off x="838200" y="1690688"/>
            <a:ext cx="4792579" cy="4234251"/>
          </a:xfrm>
        </p:spPr>
        <p:txBody>
          <a:bodyPr/>
          <a:lstStyle/>
          <a:p>
            <a:r>
              <a:rPr lang="en-AU" dirty="0"/>
              <a:t>Describe the lesion and its pathophysiology</a:t>
            </a:r>
          </a:p>
          <a:p>
            <a:r>
              <a:rPr lang="en-AU" dirty="0"/>
              <a:t>What other signs could you potentially see in this condition?</a:t>
            </a:r>
          </a:p>
          <a:p>
            <a:r>
              <a:rPr lang="en-AU" dirty="0" err="1"/>
              <a:t>DDx</a:t>
            </a:r>
            <a:r>
              <a:rPr lang="en-AU" dirty="0"/>
              <a:t>?</a:t>
            </a:r>
          </a:p>
          <a:p>
            <a:r>
              <a:rPr lang="en-AU" dirty="0"/>
              <a:t>Management?</a:t>
            </a:r>
          </a:p>
          <a:p>
            <a:r>
              <a:rPr lang="en-AU" dirty="0"/>
              <a:t>Prognosis?</a:t>
            </a:r>
          </a:p>
          <a:p>
            <a:endParaRPr lang="en-AU" dirty="0"/>
          </a:p>
        </p:txBody>
      </p:sp>
      <p:pic>
        <p:nvPicPr>
          <p:cNvPr id="4" name="Picture 2" descr="Related image">
            <a:extLst>
              <a:ext uri="{FF2B5EF4-FFF2-40B4-BE49-F238E27FC236}">
                <a16:creationId xmlns:a16="http://schemas.microsoft.com/office/drawing/2014/main" xmlns="" id="{CD34C787-FEE8-4758-BE96-CE48EDFE21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09559" y="1443789"/>
            <a:ext cx="5979966" cy="44811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12218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A2AA076-AD30-4347-B6A7-CD392E0BFE9E}"/>
              </a:ext>
            </a:extLst>
          </p:cNvPr>
          <p:cNvSpPr>
            <a:spLocks noGrp="1"/>
          </p:cNvSpPr>
          <p:nvPr>
            <p:ph type="title"/>
          </p:nvPr>
        </p:nvSpPr>
        <p:spPr/>
        <p:txBody>
          <a:bodyPr/>
          <a:lstStyle/>
          <a:p>
            <a:r>
              <a:rPr lang="en-GB" dirty="0"/>
              <a:t>Identify these signs</a:t>
            </a:r>
          </a:p>
        </p:txBody>
      </p:sp>
      <p:pic>
        <p:nvPicPr>
          <p:cNvPr id="4098" name="Picture 2" descr="https://clinicalgate.com/wp-content/uploads/2015/02/B9781416036777500108_gr5.jpg">
            <a:extLst>
              <a:ext uri="{FF2B5EF4-FFF2-40B4-BE49-F238E27FC236}">
                <a16:creationId xmlns:a16="http://schemas.microsoft.com/office/drawing/2014/main" xmlns="" id="{AFCF71FD-3972-4C06-893B-AAE40163F1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3418" y="1338924"/>
            <a:ext cx="4232803" cy="3184311"/>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http://webeye.ophth.uiowa.edu/eyeforum/cases-i/case70/Vernal-Keratoconjunctivitis-Atopic-Asthma_Fig1.jpg">
            <a:extLst>
              <a:ext uri="{FF2B5EF4-FFF2-40B4-BE49-F238E27FC236}">
                <a16:creationId xmlns:a16="http://schemas.microsoft.com/office/drawing/2014/main" xmlns="" id="{EFE86B1E-27AF-41B0-9603-AF5CA3C55F8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86311" y="248003"/>
            <a:ext cx="4592757" cy="3184311"/>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https://www.aao.org/image.axd?id=e881e3d8-6242-4b68-b24a-0c0c515ede4f&amp;t=635972999199530000">
            <a:extLst>
              <a:ext uri="{FF2B5EF4-FFF2-40B4-BE49-F238E27FC236}">
                <a16:creationId xmlns:a16="http://schemas.microsoft.com/office/drawing/2014/main" xmlns="" id="{EC0B5EE1-78FC-49AF-BB87-6AA45CD04BA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86311" y="3549436"/>
            <a:ext cx="4861684" cy="30869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5358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EEC1D57-808E-4073-9253-66C4B01EB050}"/>
              </a:ext>
            </a:extLst>
          </p:cNvPr>
          <p:cNvSpPr>
            <a:spLocks noGrp="1"/>
          </p:cNvSpPr>
          <p:nvPr>
            <p:ph type="title"/>
          </p:nvPr>
        </p:nvSpPr>
        <p:spPr/>
        <p:txBody>
          <a:bodyPr/>
          <a:lstStyle/>
          <a:p>
            <a:r>
              <a:rPr lang="en-AU" dirty="0"/>
              <a:t>Case 2</a:t>
            </a:r>
          </a:p>
        </p:txBody>
      </p:sp>
      <p:sp>
        <p:nvSpPr>
          <p:cNvPr id="3" name="Content Placeholder 2">
            <a:extLst>
              <a:ext uri="{FF2B5EF4-FFF2-40B4-BE49-F238E27FC236}">
                <a16:creationId xmlns:a16="http://schemas.microsoft.com/office/drawing/2014/main" xmlns="" id="{63844FD4-8155-4F60-9CFB-8AF81974E540}"/>
              </a:ext>
            </a:extLst>
          </p:cNvPr>
          <p:cNvSpPr>
            <a:spLocks noGrp="1"/>
          </p:cNvSpPr>
          <p:nvPr>
            <p:ph idx="1"/>
          </p:nvPr>
        </p:nvSpPr>
        <p:spPr/>
        <p:txBody>
          <a:bodyPr>
            <a:normAutofit fontScale="92500" lnSpcReduction="20000"/>
          </a:bodyPr>
          <a:lstStyle/>
          <a:p>
            <a:r>
              <a:rPr lang="en-AU" dirty="0"/>
              <a:t>Shield ulcer in VKC:  </a:t>
            </a:r>
          </a:p>
          <a:p>
            <a:pPr lvl="1"/>
            <a:r>
              <a:rPr lang="en-AU" dirty="0"/>
              <a:t>Mechanical hypothesis: corneal surface abraded by giant papillae on the upper tarsal conjunctiva</a:t>
            </a:r>
          </a:p>
          <a:p>
            <a:pPr lvl="1"/>
            <a:r>
              <a:rPr lang="en-AU" dirty="0"/>
              <a:t>Toxin hypothesis: inflammatory mediators secreted from the eosinophils induce corneal epithelial damage </a:t>
            </a:r>
          </a:p>
          <a:p>
            <a:r>
              <a:rPr lang="en-AU" dirty="0"/>
              <a:t>Other signs: </a:t>
            </a:r>
          </a:p>
          <a:p>
            <a:pPr lvl="1"/>
            <a:r>
              <a:rPr lang="en-AU" dirty="0"/>
              <a:t>Papillary hypertrophy esp. GPC, Horner </a:t>
            </a:r>
            <a:r>
              <a:rPr lang="en-AU" dirty="0" err="1"/>
              <a:t>Trantas</a:t>
            </a:r>
            <a:r>
              <a:rPr lang="en-AU" dirty="0"/>
              <a:t> dots (collections of eosinophils) at the limbus</a:t>
            </a:r>
          </a:p>
          <a:p>
            <a:r>
              <a:rPr lang="en-AU" dirty="0" err="1"/>
              <a:t>DDx</a:t>
            </a:r>
            <a:r>
              <a:rPr lang="en-AU" dirty="0"/>
              <a:t>:</a:t>
            </a:r>
          </a:p>
          <a:p>
            <a:pPr lvl="1"/>
            <a:r>
              <a:rPr lang="en-AU" dirty="0"/>
              <a:t>Seasonal/perennial allergic conjunctivitis </a:t>
            </a:r>
            <a:r>
              <a:rPr lang="en-AU" dirty="0">
                <a:sym typeface="Wingdings" panose="05000000000000000000" pitchFamily="2" charset="2"/>
              </a:rPr>
              <a:t> expect watery discharge</a:t>
            </a:r>
          </a:p>
          <a:p>
            <a:pPr lvl="1"/>
            <a:r>
              <a:rPr lang="en-AU" dirty="0">
                <a:sym typeface="Wingdings" panose="05000000000000000000" pitchFamily="2" charset="2"/>
              </a:rPr>
              <a:t>Bacterial conjunctivitis  more acute onset, one eye first then the other, not itchy</a:t>
            </a:r>
            <a:endParaRPr lang="en-AU" dirty="0"/>
          </a:p>
          <a:p>
            <a:pPr lvl="1"/>
            <a:r>
              <a:rPr lang="en-AU" dirty="0"/>
              <a:t>PUK, SLK</a:t>
            </a:r>
          </a:p>
          <a:p>
            <a:pPr lvl="1"/>
            <a:r>
              <a:rPr lang="en-AU" dirty="0"/>
              <a:t>Microbial keratitis e.g. bacterial, HSV, fungal (due to presence of ulcer)</a:t>
            </a:r>
          </a:p>
          <a:p>
            <a:pPr lvl="1"/>
            <a:r>
              <a:rPr lang="en-AU" dirty="0"/>
              <a:t>Neurotrophic keratopathy (e.g. from drug/anaesthetic toxicity)</a:t>
            </a:r>
          </a:p>
          <a:p>
            <a:endParaRPr lang="en-AU" dirty="0"/>
          </a:p>
        </p:txBody>
      </p:sp>
    </p:spTree>
    <p:extLst>
      <p:ext uri="{BB962C8B-B14F-4D97-AF65-F5344CB8AC3E}">
        <p14:creationId xmlns:p14="http://schemas.microsoft.com/office/powerpoint/2010/main" val="3888456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6" end="6"/>
                                            </p:txEl>
                                          </p:spTgt>
                                        </p:tgtEl>
                                        <p:attrNameLst>
                                          <p:attrName>style.visibility</p:attrName>
                                        </p:attrNameLst>
                                      </p:cBhvr>
                                      <p:to>
                                        <p:strVal val="visible"/>
                                      </p:to>
                                    </p:set>
                                    <p:animEffect transition="in" filter="fade">
                                      <p:cBhvr>
                                        <p:cTn id="20" dur="500"/>
                                        <p:tgtEl>
                                          <p:spTgt spid="3">
                                            <p:txEl>
                                              <p:pRg st="6" end="6"/>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animEffect transition="in" filter="fade">
                                      <p:cBhvr>
                                        <p:cTn id="23" dur="500"/>
                                        <p:tgtEl>
                                          <p:spTgt spid="3">
                                            <p:txEl>
                                              <p:pRg st="7" end="7"/>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8" end="8"/>
                                            </p:txEl>
                                          </p:spTgt>
                                        </p:tgtEl>
                                        <p:attrNameLst>
                                          <p:attrName>style.visibility</p:attrName>
                                        </p:attrNameLst>
                                      </p:cBhvr>
                                      <p:to>
                                        <p:strVal val="visible"/>
                                      </p:to>
                                    </p:set>
                                    <p:animEffect transition="in" filter="fade">
                                      <p:cBhvr>
                                        <p:cTn id="26" dur="500"/>
                                        <p:tgtEl>
                                          <p:spTgt spid="3">
                                            <p:txEl>
                                              <p:pRg st="8" end="8"/>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animEffect transition="in" filter="fade">
                                      <p:cBhvr>
                                        <p:cTn id="29" dur="500"/>
                                        <p:tgtEl>
                                          <p:spTgt spid="3">
                                            <p:txEl>
                                              <p:pRg st="9" end="9"/>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
                                            <p:txEl>
                                              <p:pRg st="10" end="10"/>
                                            </p:txEl>
                                          </p:spTgt>
                                        </p:tgtEl>
                                        <p:attrNameLst>
                                          <p:attrName>style.visibility</p:attrName>
                                        </p:attrNameLst>
                                      </p:cBhvr>
                                      <p:to>
                                        <p:strVal val="visible"/>
                                      </p:to>
                                    </p:set>
                                    <p:animEffect transition="in" filter="fade">
                                      <p:cBhvr>
                                        <p:cTn id="32"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AE242B7-42A7-4F77-AD33-42BA68BDA7F5}"/>
              </a:ext>
            </a:extLst>
          </p:cNvPr>
          <p:cNvSpPr>
            <a:spLocks noGrp="1"/>
          </p:cNvSpPr>
          <p:nvPr>
            <p:ph type="title"/>
          </p:nvPr>
        </p:nvSpPr>
        <p:spPr/>
        <p:txBody>
          <a:bodyPr/>
          <a:lstStyle/>
          <a:p>
            <a:r>
              <a:rPr lang="en-AU" dirty="0"/>
              <a:t>Case 2</a:t>
            </a:r>
          </a:p>
        </p:txBody>
      </p:sp>
      <p:sp>
        <p:nvSpPr>
          <p:cNvPr id="3" name="Content Placeholder 2">
            <a:extLst>
              <a:ext uri="{FF2B5EF4-FFF2-40B4-BE49-F238E27FC236}">
                <a16:creationId xmlns:a16="http://schemas.microsoft.com/office/drawing/2014/main" xmlns="" id="{D6553337-AEFA-4CA4-B875-17E2F7A6FDE5}"/>
              </a:ext>
            </a:extLst>
          </p:cNvPr>
          <p:cNvSpPr>
            <a:spLocks noGrp="1"/>
          </p:cNvSpPr>
          <p:nvPr>
            <p:ph idx="1"/>
          </p:nvPr>
        </p:nvSpPr>
        <p:spPr/>
        <p:txBody>
          <a:bodyPr>
            <a:normAutofit fontScale="77500" lnSpcReduction="20000"/>
          </a:bodyPr>
          <a:lstStyle/>
          <a:p>
            <a:r>
              <a:rPr lang="en-AU" dirty="0"/>
              <a:t>Management:</a:t>
            </a:r>
          </a:p>
          <a:p>
            <a:pPr lvl="1"/>
            <a:r>
              <a:rPr lang="en-AU" dirty="0"/>
              <a:t>Palliative mx: cool compresses QID, </a:t>
            </a:r>
            <a:r>
              <a:rPr lang="en-AU" dirty="0" err="1"/>
              <a:t>allergan</a:t>
            </a:r>
            <a:r>
              <a:rPr lang="en-AU" dirty="0"/>
              <a:t> avoidance</a:t>
            </a:r>
          </a:p>
          <a:p>
            <a:pPr lvl="1"/>
            <a:r>
              <a:rPr lang="en-AU" dirty="0"/>
              <a:t>Topical antihistamine + mast cell stabiliser combination drug: Ketotifen 0.025% BID OU</a:t>
            </a:r>
          </a:p>
          <a:p>
            <a:pPr lvl="1"/>
            <a:r>
              <a:rPr lang="en-AU" dirty="0"/>
              <a:t>Epithelial debridement + AMT (Reddy et al): for stage 2-3 ulcers (Cameron grading scale)</a:t>
            </a:r>
          </a:p>
          <a:p>
            <a:pPr lvl="1"/>
            <a:r>
              <a:rPr lang="en-AU" dirty="0"/>
              <a:t>Topical chloramphenicol ointment 1% QID OU</a:t>
            </a:r>
          </a:p>
          <a:p>
            <a:pPr lvl="1"/>
            <a:r>
              <a:rPr lang="en-AU" dirty="0"/>
              <a:t>High pulsed therapy: Topical </a:t>
            </a:r>
            <a:r>
              <a:rPr lang="en-AU" dirty="0" err="1"/>
              <a:t>Pred</a:t>
            </a:r>
            <a:r>
              <a:rPr lang="en-AU" dirty="0"/>
              <a:t> Forte 1% - 1 drop every 2 hours for 4-7 days, then QID OU for 4-7 days (in total no more than 2 weeks)</a:t>
            </a:r>
          </a:p>
          <a:p>
            <a:pPr lvl="1"/>
            <a:r>
              <a:rPr lang="en-AU" dirty="0"/>
              <a:t>Review in 1-3 days due to shield ulcer present</a:t>
            </a:r>
          </a:p>
          <a:p>
            <a:pPr lvl="1"/>
            <a:r>
              <a:rPr lang="en-AU" dirty="0"/>
              <a:t>Prophylaxis: start sodium cromoglycate 2% QID OU 4-6 weeks before allergy season, oral antihistamines</a:t>
            </a:r>
          </a:p>
          <a:p>
            <a:r>
              <a:rPr lang="en-AU" dirty="0"/>
              <a:t>Prognosis:</a:t>
            </a:r>
          </a:p>
          <a:p>
            <a:pPr lvl="1" fontAlgn="base"/>
            <a:r>
              <a:rPr lang="en-AU" dirty="0"/>
              <a:t>VKC is benign and a self-limiting disease that may resolve with age or spontaneously at puberty</a:t>
            </a:r>
          </a:p>
          <a:p>
            <a:pPr lvl="1" fontAlgn="base"/>
            <a:r>
              <a:rPr lang="en-AU" dirty="0"/>
              <a:t>Takes 21 days for shield ulcer to resolve (Reddy et al)</a:t>
            </a:r>
          </a:p>
          <a:p>
            <a:pPr lvl="1" fontAlgn="base"/>
            <a:r>
              <a:rPr lang="en-AU" dirty="0"/>
              <a:t>12% of patients: symptoms may persist into adulthood in the form of Atopic </a:t>
            </a:r>
            <a:r>
              <a:rPr lang="en-AU" dirty="0" err="1"/>
              <a:t>Keratoconjunctivitis</a:t>
            </a:r>
            <a:r>
              <a:rPr lang="en-AU" dirty="0"/>
              <a:t> (AKC)</a:t>
            </a:r>
          </a:p>
          <a:p>
            <a:pPr lvl="1" fontAlgn="base"/>
            <a:endParaRPr lang="en-AU" dirty="0"/>
          </a:p>
          <a:p>
            <a:pPr lvl="1" fontAlgn="base"/>
            <a:endParaRPr lang="en-AU" dirty="0"/>
          </a:p>
          <a:p>
            <a:pPr lvl="1"/>
            <a:endParaRPr lang="en-AU" dirty="0"/>
          </a:p>
          <a:p>
            <a:pPr lvl="1"/>
            <a:endParaRPr lang="en-AU" dirty="0"/>
          </a:p>
          <a:p>
            <a:endParaRPr lang="en-AU" dirty="0"/>
          </a:p>
        </p:txBody>
      </p:sp>
    </p:spTree>
    <p:extLst>
      <p:ext uri="{BB962C8B-B14F-4D97-AF65-F5344CB8AC3E}">
        <p14:creationId xmlns:p14="http://schemas.microsoft.com/office/powerpoint/2010/main" val="1661884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fade">
                                      <p:cBhvr>
                                        <p:cTn id="16" dur="500"/>
                                        <p:tgtEl>
                                          <p:spTgt spid="3">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fade">
                                      <p:cBhvr>
                                        <p:cTn id="19" dur="500"/>
                                        <p:tgtEl>
                                          <p:spTgt spid="3">
                                            <p:txEl>
                                              <p:pRg st="5" end="5"/>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animEffect transition="in" filter="fade">
                                      <p:cBhvr>
                                        <p:cTn id="25" dur="500"/>
                                        <p:tgtEl>
                                          <p:spTgt spid="3">
                                            <p:txEl>
                                              <p:pRg st="7" end="7"/>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
                                            <p:txEl>
                                              <p:pRg st="9" end="9"/>
                                            </p:txEl>
                                          </p:spTgt>
                                        </p:tgtEl>
                                        <p:attrNameLst>
                                          <p:attrName>style.visibility</p:attrName>
                                        </p:attrNameLst>
                                      </p:cBhvr>
                                      <p:to>
                                        <p:strVal val="visible"/>
                                      </p:to>
                                    </p:set>
                                    <p:animEffect transition="in" filter="fade">
                                      <p:cBhvr>
                                        <p:cTn id="30" dur="500"/>
                                        <p:tgtEl>
                                          <p:spTgt spid="3">
                                            <p:txEl>
                                              <p:pRg st="9" end="9"/>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animEffect transition="in" filter="fade">
                                      <p:cBhvr>
                                        <p:cTn id="33" dur="500"/>
                                        <p:tgtEl>
                                          <p:spTgt spid="3">
                                            <p:txEl>
                                              <p:pRg st="10" end="10"/>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3">
                                            <p:txEl>
                                              <p:pRg st="11" end="11"/>
                                            </p:txEl>
                                          </p:spTgt>
                                        </p:tgtEl>
                                        <p:attrNameLst>
                                          <p:attrName>style.visibility</p:attrName>
                                        </p:attrNameLst>
                                      </p:cBhvr>
                                      <p:to>
                                        <p:strVal val="visible"/>
                                      </p:to>
                                    </p:set>
                                    <p:animEffect transition="in" filter="fade">
                                      <p:cBhvr>
                                        <p:cTn id="36"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F322D3D-53BB-4F52-BEF1-3E5DECCFF885}"/>
              </a:ext>
            </a:extLst>
          </p:cNvPr>
          <p:cNvSpPr>
            <a:spLocks noGrp="1"/>
          </p:cNvSpPr>
          <p:nvPr>
            <p:ph type="title"/>
          </p:nvPr>
        </p:nvSpPr>
        <p:spPr/>
        <p:txBody>
          <a:bodyPr>
            <a:normAutofit fontScale="90000"/>
          </a:bodyPr>
          <a:lstStyle/>
          <a:p>
            <a:r>
              <a:rPr lang="en-AU" sz="2400" dirty="0"/>
              <a:t>Case 3:  52 year-old male presents for an ocular assessment. He reports having difficulty seeing some traffic signs. History includes a car accident 3 years ago where he hit his head. During the examination, he reported seeing a red flower on the consult room wall. Pupils were equal, round and reactive, with no RAPD. Fundus assessment showed no abnormalities.</a:t>
            </a:r>
          </a:p>
        </p:txBody>
      </p:sp>
      <p:sp>
        <p:nvSpPr>
          <p:cNvPr id="3" name="Content Placeholder 2">
            <a:extLst>
              <a:ext uri="{FF2B5EF4-FFF2-40B4-BE49-F238E27FC236}">
                <a16:creationId xmlns:a16="http://schemas.microsoft.com/office/drawing/2014/main" xmlns="" id="{52BBF92D-4DDF-45F5-A64F-6A40F207A0A9}"/>
              </a:ext>
            </a:extLst>
          </p:cNvPr>
          <p:cNvSpPr>
            <a:spLocks noGrp="1"/>
          </p:cNvSpPr>
          <p:nvPr>
            <p:ph idx="1"/>
          </p:nvPr>
        </p:nvSpPr>
        <p:spPr/>
        <p:txBody>
          <a:bodyPr/>
          <a:lstStyle/>
          <a:p>
            <a:endParaRPr lang="en-AU"/>
          </a:p>
        </p:txBody>
      </p:sp>
      <p:pic>
        <p:nvPicPr>
          <p:cNvPr id="4098" name="Picture 2" descr="Figure 1: Automated visual field on Humphrey's visual field analyzer (24-2 program) of right eye (a) and (b) left eye showing right superior quadrantanopia (pie in the sky)">
            <a:extLst>
              <a:ext uri="{FF2B5EF4-FFF2-40B4-BE49-F238E27FC236}">
                <a16:creationId xmlns:a16="http://schemas.microsoft.com/office/drawing/2014/main" xmlns="" id="{CBBB1B81-9DE3-47CE-8CD9-8CB5BF9EED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5500" y="1690688"/>
            <a:ext cx="8001000" cy="48156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29652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33DFB78-CEFD-4C00-A11B-F24F0C1058A1}"/>
              </a:ext>
            </a:extLst>
          </p:cNvPr>
          <p:cNvSpPr>
            <a:spLocks noGrp="1"/>
          </p:cNvSpPr>
          <p:nvPr>
            <p:ph type="title"/>
          </p:nvPr>
        </p:nvSpPr>
        <p:spPr/>
        <p:txBody>
          <a:bodyPr/>
          <a:lstStyle/>
          <a:p>
            <a:r>
              <a:rPr lang="en-AU" dirty="0"/>
              <a:t>Case 3</a:t>
            </a:r>
          </a:p>
        </p:txBody>
      </p:sp>
      <p:sp>
        <p:nvSpPr>
          <p:cNvPr id="3" name="Content Placeholder 2">
            <a:extLst>
              <a:ext uri="{FF2B5EF4-FFF2-40B4-BE49-F238E27FC236}">
                <a16:creationId xmlns:a16="http://schemas.microsoft.com/office/drawing/2014/main" xmlns="" id="{202F23E5-204E-4BC4-8A1D-3A4E2D1E754D}"/>
              </a:ext>
            </a:extLst>
          </p:cNvPr>
          <p:cNvSpPr>
            <a:spLocks noGrp="1"/>
          </p:cNvSpPr>
          <p:nvPr>
            <p:ph idx="1"/>
          </p:nvPr>
        </p:nvSpPr>
        <p:spPr>
          <a:xfrm>
            <a:off x="838200" y="1825625"/>
            <a:ext cx="4247147" cy="4351338"/>
          </a:xfrm>
        </p:spPr>
        <p:txBody>
          <a:bodyPr/>
          <a:lstStyle/>
          <a:p>
            <a:r>
              <a:rPr lang="en-AU" dirty="0"/>
              <a:t>Describe the defect</a:t>
            </a:r>
          </a:p>
          <a:p>
            <a:r>
              <a:rPr lang="en-AU" dirty="0" err="1"/>
              <a:t>DDx</a:t>
            </a:r>
            <a:r>
              <a:rPr lang="en-AU" dirty="0"/>
              <a:t>?</a:t>
            </a:r>
          </a:p>
          <a:p>
            <a:r>
              <a:rPr lang="en-AU" dirty="0"/>
              <a:t>Diagnosis?</a:t>
            </a:r>
          </a:p>
        </p:txBody>
      </p:sp>
      <p:sp>
        <p:nvSpPr>
          <p:cNvPr id="4" name="Content Placeholder 2">
            <a:extLst>
              <a:ext uri="{FF2B5EF4-FFF2-40B4-BE49-F238E27FC236}">
                <a16:creationId xmlns:a16="http://schemas.microsoft.com/office/drawing/2014/main" xmlns="" id="{B5E8ABD6-58C5-4A39-ABCC-794EC95F63C9}"/>
              </a:ext>
            </a:extLst>
          </p:cNvPr>
          <p:cNvSpPr txBox="1">
            <a:spLocks/>
          </p:cNvSpPr>
          <p:nvPr/>
        </p:nvSpPr>
        <p:spPr>
          <a:xfrm>
            <a:off x="5947611" y="1825625"/>
            <a:ext cx="4247147"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a:t>Incomplete R homonymous hemianopia</a:t>
            </a:r>
          </a:p>
          <a:p>
            <a:r>
              <a:rPr lang="en-AU" dirty="0"/>
              <a:t>L temporal lobe damage</a:t>
            </a:r>
          </a:p>
          <a:p>
            <a:r>
              <a:rPr lang="en-AU" dirty="0"/>
              <a:t>L optic tract lesion – expect RAPD</a:t>
            </a:r>
          </a:p>
          <a:p>
            <a:r>
              <a:rPr lang="en-AU" dirty="0"/>
              <a:t>Damage to the left </a:t>
            </a:r>
            <a:r>
              <a:rPr lang="en-AU" dirty="0" err="1"/>
              <a:t>calcarine</a:t>
            </a:r>
            <a:r>
              <a:rPr lang="en-AU" dirty="0"/>
              <a:t> sulcus – expect to be more congruous</a:t>
            </a:r>
          </a:p>
          <a:p>
            <a:endParaRPr lang="en-AU" dirty="0"/>
          </a:p>
        </p:txBody>
      </p:sp>
    </p:spTree>
    <p:extLst>
      <p:ext uri="{BB962C8B-B14F-4D97-AF65-F5344CB8AC3E}">
        <p14:creationId xmlns:p14="http://schemas.microsoft.com/office/powerpoint/2010/main" val="3702787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fade">
                                      <p:cBhvr>
                                        <p:cTn id="15" dur="500"/>
                                        <p:tgtEl>
                                          <p:spTgt spid="4">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animEffect transition="in" filter="fade">
                                      <p:cBhvr>
                                        <p:cTn id="18"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2B1BF45-FFA4-490C-9E67-B46C88468EEF}"/>
              </a:ext>
            </a:extLst>
          </p:cNvPr>
          <p:cNvSpPr>
            <a:spLocks noGrp="1"/>
          </p:cNvSpPr>
          <p:nvPr>
            <p:ph type="title"/>
          </p:nvPr>
        </p:nvSpPr>
        <p:spPr>
          <a:xfrm>
            <a:off x="838200" y="365125"/>
            <a:ext cx="5674360" cy="1325563"/>
          </a:xfrm>
        </p:spPr>
        <p:txBody>
          <a:bodyPr>
            <a:normAutofit/>
          </a:bodyPr>
          <a:lstStyle/>
          <a:p>
            <a:r>
              <a:rPr lang="en-AU" sz="3600" dirty="0"/>
              <a:t>Case 4: 67 year-old hypertensive female</a:t>
            </a:r>
          </a:p>
        </p:txBody>
      </p:sp>
      <p:sp>
        <p:nvSpPr>
          <p:cNvPr id="3" name="Content Placeholder 2">
            <a:extLst>
              <a:ext uri="{FF2B5EF4-FFF2-40B4-BE49-F238E27FC236}">
                <a16:creationId xmlns:a16="http://schemas.microsoft.com/office/drawing/2014/main" xmlns="" id="{46C1770E-F019-4E74-99F3-2B09850404B6}"/>
              </a:ext>
            </a:extLst>
          </p:cNvPr>
          <p:cNvSpPr>
            <a:spLocks noGrp="1"/>
          </p:cNvSpPr>
          <p:nvPr>
            <p:ph idx="1"/>
          </p:nvPr>
        </p:nvSpPr>
        <p:spPr>
          <a:xfrm>
            <a:off x="838200" y="1825625"/>
            <a:ext cx="5511800" cy="4351338"/>
          </a:xfrm>
        </p:spPr>
        <p:txBody>
          <a:bodyPr>
            <a:normAutofit lnSpcReduction="10000"/>
          </a:bodyPr>
          <a:lstStyle/>
          <a:p>
            <a:r>
              <a:rPr lang="en-AU" dirty="0"/>
              <a:t>Describe this VF print-out</a:t>
            </a:r>
          </a:p>
          <a:p>
            <a:r>
              <a:rPr lang="en-AU" dirty="0"/>
              <a:t>List conditions that can cause this type of VF defect</a:t>
            </a:r>
          </a:p>
          <a:p>
            <a:pPr lvl="1"/>
            <a:r>
              <a:rPr lang="en-AU" dirty="0"/>
              <a:t>Glaucoma (any type) with inferior wedge defect</a:t>
            </a:r>
          </a:p>
          <a:p>
            <a:pPr lvl="1"/>
            <a:r>
              <a:rPr lang="en-AU" dirty="0"/>
              <a:t>Optic disc </a:t>
            </a:r>
            <a:r>
              <a:rPr lang="en-AU" dirty="0" err="1"/>
              <a:t>drusen</a:t>
            </a:r>
            <a:endParaRPr lang="en-AU" dirty="0"/>
          </a:p>
          <a:p>
            <a:pPr lvl="1"/>
            <a:r>
              <a:rPr lang="en-AU" dirty="0"/>
              <a:t>Inferior BRVO/BRAO</a:t>
            </a:r>
          </a:p>
          <a:p>
            <a:pPr lvl="1"/>
            <a:r>
              <a:rPr lang="en-AU" dirty="0"/>
              <a:t>AION</a:t>
            </a:r>
          </a:p>
          <a:p>
            <a:pPr lvl="1"/>
            <a:r>
              <a:rPr lang="en-AU" dirty="0"/>
              <a:t>Optic neuritis</a:t>
            </a:r>
          </a:p>
          <a:p>
            <a:pPr lvl="1"/>
            <a:r>
              <a:rPr lang="en-AU" dirty="0"/>
              <a:t>Inferior temporal chorioretinal scar</a:t>
            </a:r>
          </a:p>
          <a:p>
            <a:pPr lvl="1"/>
            <a:r>
              <a:rPr lang="en-AU" dirty="0"/>
              <a:t>Tilted disc syndrome</a:t>
            </a:r>
          </a:p>
          <a:p>
            <a:pPr lvl="1"/>
            <a:endParaRPr lang="en-AU" dirty="0"/>
          </a:p>
        </p:txBody>
      </p:sp>
      <p:pic>
        <p:nvPicPr>
          <p:cNvPr id="6146" name="Picture 2" descr="http://www.mrcophth.com/mock/arcuatescotoma.jpg">
            <a:extLst>
              <a:ext uri="{FF2B5EF4-FFF2-40B4-BE49-F238E27FC236}">
                <a16:creationId xmlns:a16="http://schemas.microsoft.com/office/drawing/2014/main" xmlns="" id="{6BDD3777-E306-4E21-A691-ABC62A3B7C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34480" y="0"/>
            <a:ext cx="5486400" cy="6200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589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500"/>
                                        <p:tgtEl>
                                          <p:spTgt spid="3">
                                            <p:txEl>
                                              <p:pRg st="4" end="4"/>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5" end="5"/>
                                            </p:txEl>
                                          </p:spTgt>
                                        </p:tgtEl>
                                        <p:attrNameLst>
                                          <p:attrName>style.visibility</p:attrName>
                                        </p:attrNameLst>
                                      </p:cBhvr>
                                      <p:to>
                                        <p:strVal val="visible"/>
                                      </p:to>
                                    </p:set>
                                    <p:animEffect transition="in" filter="fade">
                                      <p:cBhvr>
                                        <p:cTn id="16" dur="500"/>
                                        <p:tgtEl>
                                          <p:spTgt spid="3">
                                            <p:txEl>
                                              <p:pRg st="5" end="5"/>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Effect transition="in" filter="fade">
                                      <p:cBhvr>
                                        <p:cTn id="19" dur="500"/>
                                        <p:tgtEl>
                                          <p:spTgt spid="3">
                                            <p:txEl>
                                              <p:pRg st="6" end="6"/>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7" end="7"/>
                                            </p:txEl>
                                          </p:spTgt>
                                        </p:tgtEl>
                                        <p:attrNameLst>
                                          <p:attrName>style.visibility</p:attrName>
                                        </p:attrNameLst>
                                      </p:cBhvr>
                                      <p:to>
                                        <p:strVal val="visible"/>
                                      </p:to>
                                    </p:set>
                                    <p:animEffect transition="in" filter="fade">
                                      <p:cBhvr>
                                        <p:cTn id="22" dur="500"/>
                                        <p:tgtEl>
                                          <p:spTgt spid="3">
                                            <p:txEl>
                                              <p:pRg st="7" end="7"/>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animEffect transition="in" filter="fade">
                                      <p:cBhvr>
                                        <p:cTn id="25"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AF20445-2AA2-40CA-99E3-C02A7D7DB410}"/>
              </a:ext>
            </a:extLst>
          </p:cNvPr>
          <p:cNvSpPr>
            <a:spLocks noGrp="1"/>
          </p:cNvSpPr>
          <p:nvPr>
            <p:ph type="title"/>
          </p:nvPr>
        </p:nvSpPr>
        <p:spPr/>
        <p:txBody>
          <a:bodyPr/>
          <a:lstStyle/>
          <a:p>
            <a:r>
              <a:rPr lang="en-AU" dirty="0"/>
              <a:t>Case 5</a:t>
            </a:r>
          </a:p>
        </p:txBody>
      </p:sp>
      <p:sp>
        <p:nvSpPr>
          <p:cNvPr id="3" name="Content Placeholder 2">
            <a:extLst>
              <a:ext uri="{FF2B5EF4-FFF2-40B4-BE49-F238E27FC236}">
                <a16:creationId xmlns:a16="http://schemas.microsoft.com/office/drawing/2014/main" xmlns="" id="{EF28DC6D-67F7-40E3-AB60-FA8D5BE154A4}"/>
              </a:ext>
            </a:extLst>
          </p:cNvPr>
          <p:cNvSpPr>
            <a:spLocks noGrp="1"/>
          </p:cNvSpPr>
          <p:nvPr>
            <p:ph idx="1"/>
          </p:nvPr>
        </p:nvSpPr>
        <p:spPr>
          <a:xfrm>
            <a:off x="838200" y="1825625"/>
            <a:ext cx="3968115" cy="4351338"/>
          </a:xfrm>
        </p:spPr>
        <p:txBody>
          <a:bodyPr>
            <a:normAutofit fontScale="92500" lnSpcReduction="10000"/>
          </a:bodyPr>
          <a:lstStyle/>
          <a:p>
            <a:r>
              <a:rPr lang="en-AU" dirty="0"/>
              <a:t>Describe the defect</a:t>
            </a:r>
          </a:p>
          <a:p>
            <a:r>
              <a:rPr lang="en-AU" dirty="0"/>
              <a:t>Potential causes?</a:t>
            </a:r>
          </a:p>
          <a:p>
            <a:pPr lvl="1"/>
            <a:r>
              <a:rPr lang="en-AU" dirty="0"/>
              <a:t>LHON</a:t>
            </a:r>
          </a:p>
          <a:p>
            <a:pPr lvl="1"/>
            <a:r>
              <a:rPr lang="en-AU" dirty="0"/>
              <a:t>Autosomal dominant optic atrophy (ADOA)</a:t>
            </a:r>
          </a:p>
          <a:p>
            <a:pPr lvl="1"/>
            <a:r>
              <a:rPr lang="en-AU" dirty="0"/>
              <a:t>Toxic/nutritional optic neuropathies</a:t>
            </a:r>
          </a:p>
          <a:p>
            <a:pPr lvl="1"/>
            <a:r>
              <a:rPr lang="en-AU" dirty="0"/>
              <a:t>Optic neuritis </a:t>
            </a:r>
          </a:p>
          <a:p>
            <a:pPr lvl="1"/>
            <a:r>
              <a:rPr lang="en-AU" dirty="0"/>
              <a:t>NAION/AAION</a:t>
            </a:r>
          </a:p>
          <a:p>
            <a:pPr lvl="1"/>
            <a:r>
              <a:rPr lang="en-AU" dirty="0"/>
              <a:t>NTG </a:t>
            </a:r>
          </a:p>
          <a:p>
            <a:pPr lvl="1"/>
            <a:r>
              <a:rPr lang="en-AU" dirty="0"/>
              <a:t>Macular disease</a:t>
            </a:r>
          </a:p>
          <a:p>
            <a:pPr lvl="1"/>
            <a:r>
              <a:rPr lang="en-AU" dirty="0"/>
              <a:t>Cilioretinal artery occlusion</a:t>
            </a:r>
          </a:p>
        </p:txBody>
      </p:sp>
      <p:pic>
        <p:nvPicPr>
          <p:cNvPr id="4" name="Picture 3">
            <a:extLst>
              <a:ext uri="{FF2B5EF4-FFF2-40B4-BE49-F238E27FC236}">
                <a16:creationId xmlns:a16="http://schemas.microsoft.com/office/drawing/2014/main" xmlns="" id="{89F0EFED-7336-4885-961A-FB1FF3A90812}"/>
              </a:ext>
            </a:extLst>
          </p:cNvPr>
          <p:cNvPicPr>
            <a:picLocks noChangeAspect="1"/>
          </p:cNvPicPr>
          <p:nvPr/>
        </p:nvPicPr>
        <p:blipFill rotWithShape="1">
          <a:blip r:embed="rId3"/>
          <a:srcRect r="49566"/>
          <a:stretch/>
        </p:blipFill>
        <p:spPr>
          <a:xfrm>
            <a:off x="7410003" y="365124"/>
            <a:ext cx="4284157" cy="5547995"/>
          </a:xfrm>
          <a:prstGeom prst="rect">
            <a:avLst/>
          </a:prstGeom>
        </p:spPr>
      </p:pic>
    </p:spTree>
    <p:extLst>
      <p:ext uri="{BB962C8B-B14F-4D97-AF65-F5344CB8AC3E}">
        <p14:creationId xmlns:p14="http://schemas.microsoft.com/office/powerpoint/2010/main" val="1725205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500"/>
                                        <p:tgtEl>
                                          <p:spTgt spid="3">
                                            <p:txEl>
                                              <p:pRg st="4" end="4"/>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5" end="5"/>
                                            </p:txEl>
                                          </p:spTgt>
                                        </p:tgtEl>
                                        <p:attrNameLst>
                                          <p:attrName>style.visibility</p:attrName>
                                        </p:attrNameLst>
                                      </p:cBhvr>
                                      <p:to>
                                        <p:strVal val="visible"/>
                                      </p:to>
                                    </p:set>
                                    <p:animEffect transition="in" filter="fade">
                                      <p:cBhvr>
                                        <p:cTn id="16" dur="500"/>
                                        <p:tgtEl>
                                          <p:spTgt spid="3">
                                            <p:txEl>
                                              <p:pRg st="5" end="5"/>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Effect transition="in" filter="fade">
                                      <p:cBhvr>
                                        <p:cTn id="19" dur="500"/>
                                        <p:tgtEl>
                                          <p:spTgt spid="3">
                                            <p:txEl>
                                              <p:pRg st="6" end="6"/>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7" end="7"/>
                                            </p:txEl>
                                          </p:spTgt>
                                        </p:tgtEl>
                                        <p:attrNameLst>
                                          <p:attrName>style.visibility</p:attrName>
                                        </p:attrNameLst>
                                      </p:cBhvr>
                                      <p:to>
                                        <p:strVal val="visible"/>
                                      </p:to>
                                    </p:set>
                                    <p:animEffect transition="in" filter="fade">
                                      <p:cBhvr>
                                        <p:cTn id="22" dur="500"/>
                                        <p:tgtEl>
                                          <p:spTgt spid="3">
                                            <p:txEl>
                                              <p:pRg st="7" end="7"/>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animEffect transition="in" filter="fade">
                                      <p:cBhvr>
                                        <p:cTn id="25" dur="500"/>
                                        <p:tgtEl>
                                          <p:spTgt spid="3">
                                            <p:txEl>
                                              <p:pRg st="8" end="8"/>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
                                            <p:txEl>
                                              <p:pRg st="9" end="9"/>
                                            </p:txEl>
                                          </p:spTgt>
                                        </p:tgtEl>
                                        <p:attrNameLst>
                                          <p:attrName>style.visibility</p:attrName>
                                        </p:attrNameLst>
                                      </p:cBhvr>
                                      <p:to>
                                        <p:strVal val="visible"/>
                                      </p:to>
                                    </p:set>
                                    <p:animEffect transition="in" filter="fade">
                                      <p:cBhvr>
                                        <p:cTn id="28"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FB676-2DC3-41CD-9CE2-1E2877217FFA}"/>
              </a:ext>
            </a:extLst>
          </p:cNvPr>
          <p:cNvSpPr>
            <a:spLocks noGrp="1"/>
          </p:cNvSpPr>
          <p:nvPr>
            <p:ph type="title"/>
          </p:nvPr>
        </p:nvSpPr>
        <p:spPr/>
        <p:txBody>
          <a:bodyPr>
            <a:normAutofit/>
          </a:bodyPr>
          <a:lstStyle/>
          <a:p>
            <a:r>
              <a:rPr lang="en-AU" sz="2400" dirty="0"/>
              <a:t>Case 6: 50 year-old female presents with a left-sided headache and ocular pain with blurry vision in OS, which began last night. Pupils showed a mid-dilated and sluggish left pupil, normal pupil responses in OD.</a:t>
            </a:r>
          </a:p>
        </p:txBody>
      </p:sp>
      <p:pic>
        <p:nvPicPr>
          <p:cNvPr id="8194" name="Picture 2" descr="http://www.e-tjo.org/articles/2017/7/2/images/TaiwanJOphthalmol_2017_7_2_104_208585_f1.jpg">
            <a:extLst>
              <a:ext uri="{FF2B5EF4-FFF2-40B4-BE49-F238E27FC236}">
                <a16:creationId xmlns:a16="http://schemas.microsoft.com/office/drawing/2014/main" xmlns="" id="{64460189-8D58-4B03-8CD0-CE69F7A4801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34742" y="1690688"/>
            <a:ext cx="6922516" cy="46549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81100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28AA7E6-10AC-48D4-A088-D112B37A70AE}"/>
              </a:ext>
            </a:extLst>
          </p:cNvPr>
          <p:cNvSpPr>
            <a:spLocks noGrp="1"/>
          </p:cNvSpPr>
          <p:nvPr>
            <p:ph type="title"/>
          </p:nvPr>
        </p:nvSpPr>
        <p:spPr/>
        <p:txBody>
          <a:bodyPr/>
          <a:lstStyle/>
          <a:p>
            <a:r>
              <a:rPr lang="en-AU" dirty="0"/>
              <a:t>Case 6</a:t>
            </a:r>
          </a:p>
        </p:txBody>
      </p:sp>
      <p:sp>
        <p:nvSpPr>
          <p:cNvPr id="3" name="Content Placeholder 2">
            <a:extLst>
              <a:ext uri="{FF2B5EF4-FFF2-40B4-BE49-F238E27FC236}">
                <a16:creationId xmlns:a16="http://schemas.microsoft.com/office/drawing/2014/main" xmlns="" id="{68A10987-E335-4508-AF5E-D958B475FFD5}"/>
              </a:ext>
            </a:extLst>
          </p:cNvPr>
          <p:cNvSpPr>
            <a:spLocks noGrp="1"/>
          </p:cNvSpPr>
          <p:nvPr>
            <p:ph idx="1"/>
          </p:nvPr>
        </p:nvSpPr>
        <p:spPr/>
        <p:txBody>
          <a:bodyPr>
            <a:normAutofit fontScale="77500" lnSpcReduction="20000"/>
          </a:bodyPr>
          <a:lstStyle/>
          <a:p>
            <a:r>
              <a:rPr lang="en-AU" dirty="0"/>
              <a:t>Describe what you see</a:t>
            </a:r>
          </a:p>
          <a:p>
            <a:pPr lvl="1"/>
            <a:r>
              <a:rPr lang="en-AU" dirty="0"/>
              <a:t>Moderate conjunctival injection</a:t>
            </a:r>
          </a:p>
          <a:p>
            <a:pPr lvl="1"/>
            <a:r>
              <a:rPr lang="en-AU" dirty="0"/>
              <a:t>Shallow anterior chamber on VH</a:t>
            </a:r>
          </a:p>
          <a:p>
            <a:pPr lvl="1"/>
            <a:r>
              <a:rPr lang="en-AU" dirty="0"/>
              <a:t>Mid-dilated pupil</a:t>
            </a:r>
          </a:p>
          <a:p>
            <a:pPr lvl="1"/>
            <a:r>
              <a:rPr lang="en-AU" dirty="0"/>
              <a:t>Cornea oedema</a:t>
            </a:r>
          </a:p>
          <a:p>
            <a:r>
              <a:rPr lang="en-AU" dirty="0" err="1"/>
              <a:t>DDx</a:t>
            </a:r>
            <a:r>
              <a:rPr lang="en-AU" dirty="0"/>
              <a:t>?</a:t>
            </a:r>
          </a:p>
          <a:p>
            <a:pPr lvl="1"/>
            <a:r>
              <a:rPr lang="en-AU" dirty="0"/>
              <a:t>Acute angle closure attack – shallow AC, unilateral, pain and blurry vision</a:t>
            </a:r>
          </a:p>
          <a:p>
            <a:pPr lvl="1"/>
            <a:r>
              <a:rPr lang="en-AU" dirty="0"/>
              <a:t>Posner </a:t>
            </a:r>
            <a:r>
              <a:rPr lang="en-AU" dirty="0" err="1"/>
              <a:t>Schlossman</a:t>
            </a:r>
            <a:r>
              <a:rPr lang="en-AU" dirty="0"/>
              <a:t> – also markedly high IOP (40-60mm Hg) and mild AC reaction, but usually minimal conjunctival injection, young to middle-aged, may have few fine KPs </a:t>
            </a:r>
          </a:p>
          <a:p>
            <a:pPr lvl="1"/>
            <a:r>
              <a:rPr lang="en-AU" dirty="0"/>
              <a:t>Pigment dispersion syndrome/pigmentary glaucoma – expect other associated signs e.g. pigment in AC, </a:t>
            </a:r>
            <a:r>
              <a:rPr lang="en-AU" dirty="0" err="1"/>
              <a:t>Krukenberg</a:t>
            </a:r>
            <a:r>
              <a:rPr lang="en-AU" dirty="0"/>
              <a:t> spindle, mid-peripheral radial TIDs</a:t>
            </a:r>
          </a:p>
          <a:p>
            <a:pPr lvl="1"/>
            <a:r>
              <a:rPr lang="en-AU" dirty="0"/>
              <a:t>Inflammatory OAG – can have acute IOP increase but with an open angle, greater anterior chamber reaction expected</a:t>
            </a:r>
          </a:p>
          <a:p>
            <a:pPr lvl="1"/>
            <a:r>
              <a:rPr lang="en-AU" dirty="0"/>
              <a:t>Anterior uveitis – sarcoidosis, HSV, toxoplasmosis; can cause PAS or trabeculitis </a:t>
            </a:r>
            <a:r>
              <a:rPr lang="en-AU" dirty="0">
                <a:sym typeface="Wingdings" panose="05000000000000000000" pitchFamily="2" charset="2"/>
              </a:rPr>
              <a:t> elevated IOP</a:t>
            </a:r>
            <a:endParaRPr lang="en-AU" dirty="0"/>
          </a:p>
          <a:p>
            <a:pPr lvl="1"/>
            <a:r>
              <a:rPr lang="en-AU" dirty="0" err="1"/>
              <a:t>Fuch’s</a:t>
            </a:r>
            <a:r>
              <a:rPr lang="en-AU" dirty="0"/>
              <a:t> endothelial dystrophy – presence of corneal haze, pain due to rupture of epithelial bullae</a:t>
            </a:r>
          </a:p>
        </p:txBody>
      </p:sp>
      <p:pic>
        <p:nvPicPr>
          <p:cNvPr id="4" name="Picture 2" descr="http://www.e-tjo.org/articles/2017/7/2/images/TaiwanJOphthalmol_2017_7_2_104_208585_f1.jpg">
            <a:extLst>
              <a:ext uri="{FF2B5EF4-FFF2-40B4-BE49-F238E27FC236}">
                <a16:creationId xmlns:a16="http://schemas.microsoft.com/office/drawing/2014/main" xmlns="" id="{E8C07D0F-80BE-445A-9F07-9D2A2F88FE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72477" y="446108"/>
            <a:ext cx="4103047" cy="27590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47063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881BC25-AFCD-4DDF-9F09-FEBEC2697FB2}"/>
              </a:ext>
            </a:extLst>
          </p:cNvPr>
          <p:cNvSpPr>
            <a:spLocks noGrp="1"/>
          </p:cNvSpPr>
          <p:nvPr>
            <p:ph type="title"/>
          </p:nvPr>
        </p:nvSpPr>
        <p:spPr/>
        <p:txBody>
          <a:bodyPr/>
          <a:lstStyle/>
          <a:p>
            <a:r>
              <a:rPr lang="en-AU" dirty="0"/>
              <a:t>Case 6</a:t>
            </a:r>
          </a:p>
        </p:txBody>
      </p:sp>
      <p:sp>
        <p:nvSpPr>
          <p:cNvPr id="3" name="Content Placeholder 2">
            <a:extLst>
              <a:ext uri="{FF2B5EF4-FFF2-40B4-BE49-F238E27FC236}">
                <a16:creationId xmlns:a16="http://schemas.microsoft.com/office/drawing/2014/main" xmlns="" id="{191890E7-52C5-4D07-9601-4F123F31772D}"/>
              </a:ext>
            </a:extLst>
          </p:cNvPr>
          <p:cNvSpPr>
            <a:spLocks noGrp="1"/>
          </p:cNvSpPr>
          <p:nvPr>
            <p:ph idx="1"/>
          </p:nvPr>
        </p:nvSpPr>
        <p:spPr/>
        <p:txBody>
          <a:bodyPr>
            <a:normAutofit fontScale="85000" lnSpcReduction="20000"/>
          </a:bodyPr>
          <a:lstStyle/>
          <a:p>
            <a:r>
              <a:rPr lang="en-AU" dirty="0"/>
              <a:t>What is the pathophysiology of primary angle closure?</a:t>
            </a:r>
          </a:p>
          <a:p>
            <a:pPr lvl="1"/>
            <a:r>
              <a:rPr lang="en-AU" dirty="0"/>
              <a:t>Pupillary block: apposition of the lens and posterior iris at the pupil, leading to blockage of aqueous humour flow from posterior </a:t>
            </a:r>
            <a:r>
              <a:rPr lang="en-AU" dirty="0">
                <a:sym typeface="Wingdings" panose="05000000000000000000" pitchFamily="2" charset="2"/>
              </a:rPr>
              <a:t> anterior chamber, causing iris bombe (anterior bowing of the peripheral iris), obstructing the TM</a:t>
            </a:r>
          </a:p>
          <a:p>
            <a:pPr lvl="1"/>
            <a:r>
              <a:rPr lang="en-AU" dirty="0">
                <a:sym typeface="Wingdings" panose="05000000000000000000" pitchFamily="2" charset="2"/>
              </a:rPr>
              <a:t>Angle crowding: due to abnormal iris configuration/anatomy e.g. plateau iris syndrome</a:t>
            </a:r>
            <a:endParaRPr lang="en-AU" dirty="0"/>
          </a:p>
          <a:p>
            <a:r>
              <a:rPr lang="en-AU" dirty="0"/>
              <a:t>What are some causes of secondary angle closure?</a:t>
            </a:r>
          </a:p>
          <a:p>
            <a:pPr lvl="1"/>
            <a:r>
              <a:rPr lang="en-AU" dirty="0"/>
              <a:t>PAS pulling the angle closed (e.g. inflammatory)</a:t>
            </a:r>
          </a:p>
          <a:p>
            <a:pPr lvl="1"/>
            <a:r>
              <a:rPr lang="en-AU" dirty="0"/>
              <a:t>Lens-induced (</a:t>
            </a:r>
            <a:r>
              <a:rPr lang="en-AU" dirty="0" err="1"/>
              <a:t>phacomorphic</a:t>
            </a:r>
            <a:r>
              <a:rPr lang="en-AU" dirty="0"/>
              <a:t>)</a:t>
            </a:r>
          </a:p>
          <a:p>
            <a:pPr lvl="1"/>
            <a:r>
              <a:rPr lang="en-AU" dirty="0" err="1"/>
              <a:t>Neovascular</a:t>
            </a:r>
            <a:r>
              <a:rPr lang="en-AU" dirty="0"/>
              <a:t> or fibrovascular membrane pulling the angle closed</a:t>
            </a:r>
          </a:p>
          <a:p>
            <a:pPr lvl="1"/>
            <a:r>
              <a:rPr lang="en-AU" dirty="0"/>
              <a:t>Medication-induced</a:t>
            </a:r>
          </a:p>
          <a:p>
            <a:r>
              <a:rPr lang="en-AU" dirty="0"/>
              <a:t>What are the associations/risk factors for angle closure?</a:t>
            </a:r>
          </a:p>
          <a:p>
            <a:pPr lvl="1"/>
            <a:r>
              <a:rPr lang="en-AU" dirty="0"/>
              <a:t>Hyperopia, Asian, Female, family history of angle closure, </a:t>
            </a:r>
            <a:r>
              <a:rPr lang="en-AU" dirty="0" err="1"/>
              <a:t>phakic</a:t>
            </a:r>
            <a:r>
              <a:rPr lang="en-AU" dirty="0"/>
              <a:t>, older age</a:t>
            </a:r>
          </a:p>
          <a:p>
            <a:pPr lvl="1"/>
            <a:r>
              <a:rPr lang="en-AU" dirty="0"/>
              <a:t>Precipitating events: dim illumination, dilating drops, systemic medications with mydriatic side effects</a:t>
            </a:r>
          </a:p>
          <a:p>
            <a:endParaRPr lang="en-AU" dirty="0"/>
          </a:p>
        </p:txBody>
      </p:sp>
    </p:spTree>
    <p:extLst>
      <p:ext uri="{BB962C8B-B14F-4D97-AF65-F5344CB8AC3E}">
        <p14:creationId xmlns:p14="http://schemas.microsoft.com/office/powerpoint/2010/main" val="1400887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fade">
                                      <p:cBhvr>
                                        <p:cTn id="18" dur="500"/>
                                        <p:tgtEl>
                                          <p:spTgt spid="3">
                                            <p:txEl>
                                              <p:pRg st="5" end="5"/>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Effect transition="in" filter="fade">
                                      <p:cBhvr>
                                        <p:cTn id="21" dur="500"/>
                                        <p:tgtEl>
                                          <p:spTgt spid="3">
                                            <p:txEl>
                                              <p:pRg st="6" end="6"/>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7" end="7"/>
                                            </p:txEl>
                                          </p:spTgt>
                                        </p:tgtEl>
                                        <p:attrNameLst>
                                          <p:attrName>style.visibility</p:attrName>
                                        </p:attrNameLst>
                                      </p:cBhvr>
                                      <p:to>
                                        <p:strVal val="visible"/>
                                      </p:to>
                                    </p:set>
                                    <p:animEffect transition="in" filter="fade">
                                      <p:cBhvr>
                                        <p:cTn id="24" dur="500"/>
                                        <p:tgtEl>
                                          <p:spTgt spid="3">
                                            <p:txEl>
                                              <p:pRg st="7" end="7"/>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animEffect transition="in" filter="fade">
                                      <p:cBhvr>
                                        <p:cTn id="29" dur="500"/>
                                        <p:tgtEl>
                                          <p:spTgt spid="3">
                                            <p:txEl>
                                              <p:pRg st="9" end="9"/>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
                                            <p:txEl>
                                              <p:pRg st="10" end="10"/>
                                            </p:txEl>
                                          </p:spTgt>
                                        </p:tgtEl>
                                        <p:attrNameLst>
                                          <p:attrName>style.visibility</p:attrName>
                                        </p:attrNameLst>
                                      </p:cBhvr>
                                      <p:to>
                                        <p:strVal val="visible"/>
                                      </p:to>
                                    </p:set>
                                    <p:animEffect transition="in" filter="fade">
                                      <p:cBhvr>
                                        <p:cTn id="32"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13876C3-6773-4CD5-958E-DC2484C5B884}"/>
              </a:ext>
            </a:extLst>
          </p:cNvPr>
          <p:cNvSpPr>
            <a:spLocks noGrp="1"/>
          </p:cNvSpPr>
          <p:nvPr>
            <p:ph type="title"/>
          </p:nvPr>
        </p:nvSpPr>
        <p:spPr/>
        <p:txBody>
          <a:bodyPr/>
          <a:lstStyle/>
          <a:p>
            <a:r>
              <a:rPr lang="en-AU" dirty="0"/>
              <a:t>Case 6</a:t>
            </a:r>
          </a:p>
        </p:txBody>
      </p:sp>
      <p:sp>
        <p:nvSpPr>
          <p:cNvPr id="3" name="Content Placeholder 2">
            <a:extLst>
              <a:ext uri="{FF2B5EF4-FFF2-40B4-BE49-F238E27FC236}">
                <a16:creationId xmlns:a16="http://schemas.microsoft.com/office/drawing/2014/main" xmlns="" id="{E41BCD29-72C7-4DD4-9406-66E8F8B4BF38}"/>
              </a:ext>
            </a:extLst>
          </p:cNvPr>
          <p:cNvSpPr>
            <a:spLocks noGrp="1"/>
          </p:cNvSpPr>
          <p:nvPr>
            <p:ph idx="1"/>
          </p:nvPr>
        </p:nvSpPr>
        <p:spPr/>
        <p:txBody>
          <a:bodyPr>
            <a:normAutofit fontScale="92500" lnSpcReduction="10000"/>
          </a:bodyPr>
          <a:lstStyle/>
          <a:p>
            <a:r>
              <a:rPr lang="en-AU" dirty="0"/>
              <a:t>Management?</a:t>
            </a:r>
          </a:p>
          <a:p>
            <a:pPr marL="914400" lvl="1" indent="-457200">
              <a:buAutoNum type="arabicPeriod"/>
            </a:pPr>
            <a:r>
              <a:rPr lang="en-AU" dirty="0"/>
              <a:t>Ring ophthalmologist immediately to discuss management with case, Diamox (oral acetazolamide 500mg) arrangement and co-ordinate transfer</a:t>
            </a:r>
          </a:p>
          <a:p>
            <a:pPr marL="914400" lvl="1" indent="-457200">
              <a:buAutoNum type="arabicPeriod"/>
            </a:pPr>
            <a:r>
              <a:rPr lang="en-AU" dirty="0"/>
              <a:t>Allow approximately 2 min between each drop:</a:t>
            </a:r>
          </a:p>
          <a:p>
            <a:pPr marL="1428750" lvl="2" indent="-514350">
              <a:buAutoNum type="romanLcPeriod"/>
            </a:pPr>
            <a:r>
              <a:rPr lang="en-AU" dirty="0"/>
              <a:t>Timolol 0.5%</a:t>
            </a:r>
          </a:p>
          <a:p>
            <a:pPr marL="1428750" lvl="2" indent="-514350">
              <a:buAutoNum type="romanLcPeriod"/>
            </a:pPr>
            <a:r>
              <a:rPr lang="en-AU" dirty="0"/>
              <a:t>Apraclonidine 0.5%</a:t>
            </a:r>
          </a:p>
          <a:p>
            <a:pPr marL="1428750" lvl="2" indent="-514350">
              <a:buAutoNum type="romanLcPeriod"/>
            </a:pPr>
            <a:r>
              <a:rPr lang="en-AU" dirty="0"/>
              <a:t>Brinzolamide 1% </a:t>
            </a:r>
          </a:p>
          <a:p>
            <a:pPr marL="914400" lvl="1" indent="-457200">
              <a:buAutoNum type="arabicPeriod"/>
            </a:pPr>
            <a:r>
              <a:rPr lang="en-AU" dirty="0"/>
              <a:t>If the eye is red and inflamed: 4 drops of </a:t>
            </a:r>
            <a:r>
              <a:rPr lang="en-AU" dirty="0" err="1"/>
              <a:t>Pred</a:t>
            </a:r>
            <a:r>
              <a:rPr lang="en-AU" dirty="0"/>
              <a:t> Forte 1% in the first hour, then hourly after</a:t>
            </a:r>
          </a:p>
          <a:p>
            <a:pPr marL="914400" lvl="1" indent="-457200">
              <a:buAutoNum type="arabicPeriod"/>
            </a:pPr>
            <a:r>
              <a:rPr lang="en-AU" dirty="0"/>
              <a:t>Discuss with ophthalmologist: Pilocarpine 2% when the IOP has been reduced to below 40mm Hg (only for mechanisms involving </a:t>
            </a:r>
            <a:r>
              <a:rPr lang="en-AU" dirty="0" err="1"/>
              <a:t>phakic</a:t>
            </a:r>
            <a:r>
              <a:rPr lang="en-AU" dirty="0"/>
              <a:t> pupillary block or angle crowding)</a:t>
            </a:r>
          </a:p>
          <a:p>
            <a:pPr marL="914400" lvl="1" indent="-457200">
              <a:buAutoNum type="arabicPeriod"/>
            </a:pPr>
            <a:r>
              <a:rPr lang="en-AU" dirty="0"/>
              <a:t>Ophthalmologist to perform laser PI as soon as the cornea is clear and AC quiet (usually 1-5 days after the attack)</a:t>
            </a:r>
          </a:p>
          <a:p>
            <a:pPr marL="914400" lvl="2" indent="0">
              <a:buNone/>
            </a:pPr>
            <a:endParaRPr lang="en-AU" dirty="0"/>
          </a:p>
        </p:txBody>
      </p:sp>
    </p:spTree>
    <p:extLst>
      <p:ext uri="{BB962C8B-B14F-4D97-AF65-F5344CB8AC3E}">
        <p14:creationId xmlns:p14="http://schemas.microsoft.com/office/powerpoint/2010/main" val="2801804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fade">
                                      <p:cBhvr>
                                        <p:cTn id="16" dur="500"/>
                                        <p:tgtEl>
                                          <p:spTgt spid="3">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fade">
                                      <p:cBhvr>
                                        <p:cTn id="19" dur="500"/>
                                        <p:tgtEl>
                                          <p:spTgt spid="3">
                                            <p:txEl>
                                              <p:pRg st="5" end="5"/>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animEffect transition="in" filter="fade">
                                      <p:cBhvr>
                                        <p:cTn id="25" dur="500"/>
                                        <p:tgtEl>
                                          <p:spTgt spid="3">
                                            <p:txEl>
                                              <p:pRg st="7" end="7"/>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
                                            <p:txEl>
                                              <p:pRg st="8" end="8"/>
                                            </p:txEl>
                                          </p:spTgt>
                                        </p:tgtEl>
                                        <p:attrNameLst>
                                          <p:attrName>style.visibility</p:attrName>
                                        </p:attrNameLst>
                                      </p:cBhvr>
                                      <p:to>
                                        <p:strVal val="visible"/>
                                      </p:to>
                                    </p:set>
                                    <p:animEffect transition="in" filter="fade">
                                      <p:cBhvr>
                                        <p:cTn id="28"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19557DA-4954-43B0-ABE8-BC2CE721327F}"/>
              </a:ext>
            </a:extLst>
          </p:cNvPr>
          <p:cNvSpPr>
            <a:spLocks noGrp="1"/>
          </p:cNvSpPr>
          <p:nvPr>
            <p:ph type="title"/>
          </p:nvPr>
        </p:nvSpPr>
        <p:spPr/>
        <p:txBody>
          <a:bodyPr/>
          <a:lstStyle/>
          <a:p>
            <a:r>
              <a:rPr lang="en-AU" dirty="0"/>
              <a:t>Case 6</a:t>
            </a:r>
          </a:p>
        </p:txBody>
      </p:sp>
      <p:sp>
        <p:nvSpPr>
          <p:cNvPr id="3" name="Content Placeholder 2">
            <a:extLst>
              <a:ext uri="{FF2B5EF4-FFF2-40B4-BE49-F238E27FC236}">
                <a16:creationId xmlns:a16="http://schemas.microsoft.com/office/drawing/2014/main" xmlns="" id="{018E4B3E-4104-4B95-B1F0-6E9D5EAAFB90}"/>
              </a:ext>
            </a:extLst>
          </p:cNvPr>
          <p:cNvSpPr>
            <a:spLocks noGrp="1"/>
          </p:cNvSpPr>
          <p:nvPr>
            <p:ph idx="1"/>
          </p:nvPr>
        </p:nvSpPr>
        <p:spPr/>
        <p:txBody>
          <a:bodyPr>
            <a:normAutofit fontScale="92500" lnSpcReduction="10000"/>
          </a:bodyPr>
          <a:lstStyle/>
          <a:p>
            <a:r>
              <a:rPr lang="en-AU" dirty="0"/>
              <a:t>What are the contraindications for </a:t>
            </a:r>
            <a:r>
              <a:rPr lang="en-AU" dirty="0" err="1"/>
              <a:t>diamox</a:t>
            </a:r>
            <a:r>
              <a:rPr lang="en-AU" dirty="0"/>
              <a:t>?</a:t>
            </a:r>
          </a:p>
          <a:p>
            <a:pPr lvl="1"/>
            <a:r>
              <a:rPr lang="en-AU" dirty="0"/>
              <a:t>Severe renal impairment (renal stones/renal failure), liver disease, sulphonamide allergy, respiratory/metabolic acidosis</a:t>
            </a:r>
          </a:p>
          <a:p>
            <a:r>
              <a:rPr lang="en-AU" dirty="0"/>
              <a:t>What contraindications should you consider prior to use of topical IOP-lowering medications in the first aid of an acute angle closure attack?</a:t>
            </a:r>
          </a:p>
          <a:p>
            <a:pPr lvl="1"/>
            <a:r>
              <a:rPr lang="en-AU" dirty="0">
                <a:cs typeface="Times New Roman" panose="02020603050405020304" pitchFamily="18" charset="0"/>
              </a:rPr>
              <a:t>β-blocker: any reversible airway disease (e.g. asthma, COPD), cardiovascular disease (heart block, bradyarrhythmia, bradycardia &lt;60bpm, cardiac failure), use of verapamil</a:t>
            </a:r>
          </a:p>
          <a:p>
            <a:pPr lvl="1"/>
            <a:r>
              <a:rPr lang="el-GR" dirty="0">
                <a:cs typeface="Times New Roman" panose="02020603050405020304" pitchFamily="18" charset="0"/>
              </a:rPr>
              <a:t>α</a:t>
            </a:r>
            <a:r>
              <a:rPr lang="en-AU" dirty="0">
                <a:cs typeface="Times New Roman" panose="02020603050405020304" pitchFamily="18" charset="0"/>
              </a:rPr>
              <a:t>2-agonist: children &lt; 2 years (CNS effects), MAOIs</a:t>
            </a:r>
          </a:p>
          <a:p>
            <a:pPr lvl="1"/>
            <a:r>
              <a:rPr lang="en-AU" dirty="0">
                <a:cs typeface="Times New Roman" panose="02020603050405020304" pitchFamily="18" charset="0"/>
              </a:rPr>
              <a:t>CAIs: sulphonamide allergy, corneal graft, endothelial dystrophy</a:t>
            </a:r>
          </a:p>
          <a:p>
            <a:pPr lvl="1"/>
            <a:r>
              <a:rPr lang="en-AU" dirty="0">
                <a:cs typeface="Times New Roman" panose="02020603050405020304" pitchFamily="18" charset="0"/>
              </a:rPr>
              <a:t>Pilocarpine: </a:t>
            </a:r>
            <a:r>
              <a:rPr lang="en-AU" dirty="0" err="1">
                <a:cs typeface="Times New Roman" panose="02020603050405020304" pitchFamily="18" charset="0"/>
              </a:rPr>
              <a:t>retrolenticular</a:t>
            </a:r>
            <a:r>
              <a:rPr lang="en-AU" dirty="0">
                <a:cs typeface="Times New Roman" panose="02020603050405020304" pitchFamily="18" charset="0"/>
              </a:rPr>
              <a:t> causes of angle closure (e.g. malignant glaucoma), </a:t>
            </a:r>
            <a:r>
              <a:rPr lang="en-AU" dirty="0" err="1">
                <a:cs typeface="Times New Roman" panose="02020603050405020304" pitchFamily="18" charset="0"/>
              </a:rPr>
              <a:t>aphakic</a:t>
            </a:r>
            <a:r>
              <a:rPr lang="en-AU" dirty="0">
                <a:cs typeface="Times New Roman" panose="02020603050405020304" pitchFamily="18" charset="0"/>
              </a:rPr>
              <a:t> or </a:t>
            </a:r>
            <a:r>
              <a:rPr lang="en-AU" dirty="0" err="1">
                <a:cs typeface="Times New Roman" panose="02020603050405020304" pitchFamily="18" charset="0"/>
              </a:rPr>
              <a:t>pseudophakic</a:t>
            </a:r>
            <a:r>
              <a:rPr lang="en-AU" dirty="0">
                <a:cs typeface="Times New Roman" panose="02020603050405020304" pitchFamily="18" charset="0"/>
              </a:rPr>
              <a:t> pupillary block, secondary </a:t>
            </a:r>
            <a:r>
              <a:rPr lang="en-AU" dirty="0" err="1">
                <a:cs typeface="Times New Roman" panose="02020603050405020304" pitchFamily="18" charset="0"/>
              </a:rPr>
              <a:t>glaucomas</a:t>
            </a:r>
            <a:r>
              <a:rPr lang="en-AU" dirty="0">
                <a:cs typeface="Times New Roman" panose="02020603050405020304" pitchFamily="18" charset="0"/>
              </a:rPr>
              <a:t> with extensive outflow obstruction</a:t>
            </a:r>
            <a:endParaRPr lang="en-AU" dirty="0"/>
          </a:p>
          <a:p>
            <a:pPr lvl="1"/>
            <a:endParaRPr lang="en-AU" dirty="0"/>
          </a:p>
        </p:txBody>
      </p:sp>
    </p:spTree>
    <p:extLst>
      <p:ext uri="{BB962C8B-B14F-4D97-AF65-F5344CB8AC3E}">
        <p14:creationId xmlns:p14="http://schemas.microsoft.com/office/powerpoint/2010/main" val="1162258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fade">
                                      <p:cBhvr>
                                        <p:cTn id="18" dur="500"/>
                                        <p:tgtEl>
                                          <p:spTgt spid="3">
                                            <p:txEl>
                                              <p:pRg st="5" end="5"/>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Effect transition="in" filter="fade">
                                      <p:cBhvr>
                                        <p:cTn id="21"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D4A4883-13CA-494A-9652-24481BEAA625}"/>
              </a:ext>
            </a:extLst>
          </p:cNvPr>
          <p:cNvSpPr>
            <a:spLocks noGrp="1"/>
          </p:cNvSpPr>
          <p:nvPr>
            <p:ph type="title"/>
          </p:nvPr>
        </p:nvSpPr>
        <p:spPr>
          <a:xfrm>
            <a:off x="838200" y="365125"/>
            <a:ext cx="3344333" cy="5629274"/>
          </a:xfrm>
        </p:spPr>
        <p:txBody>
          <a:bodyPr>
            <a:normAutofit/>
          </a:bodyPr>
          <a:lstStyle/>
          <a:p>
            <a:r>
              <a:rPr lang="en-AU" sz="2400" dirty="0"/>
              <a:t>Case 7: 71YOM presents with a painful right eye with blurry vision and photophobia. He reports having a recent stabbing pain on his left face 3 days ago. You notice some rash-like skin lesions around the left eye and left side of the nose.  </a:t>
            </a:r>
          </a:p>
        </p:txBody>
      </p:sp>
      <p:pic>
        <p:nvPicPr>
          <p:cNvPr id="8" name="Picture 2" descr="https://webeye.ophth.uiowa.edu/eyeforum/atlas/pages/VZV-keratitis/VZV-keratitis-LRG.jpg">
            <a:extLst>
              <a:ext uri="{FF2B5EF4-FFF2-40B4-BE49-F238E27FC236}">
                <a16:creationId xmlns:a16="http://schemas.microsoft.com/office/drawing/2014/main" xmlns="" id="{F7B314A9-4D46-4E8B-9EBE-5C4F968B33C0}"/>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8006"/>
          <a:stretch/>
        </p:blipFill>
        <p:spPr bwMode="auto">
          <a:xfrm>
            <a:off x="4443413" y="643466"/>
            <a:ext cx="7413472" cy="53509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5615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705B1BD-3E73-4249-AC8D-15D6D302343A}"/>
              </a:ext>
            </a:extLst>
          </p:cNvPr>
          <p:cNvSpPr>
            <a:spLocks noGrp="1"/>
          </p:cNvSpPr>
          <p:nvPr>
            <p:ph type="title"/>
          </p:nvPr>
        </p:nvSpPr>
        <p:spPr/>
        <p:txBody>
          <a:bodyPr/>
          <a:lstStyle/>
          <a:p>
            <a:r>
              <a:rPr lang="en-AU" dirty="0"/>
              <a:t>Case 7</a:t>
            </a:r>
          </a:p>
        </p:txBody>
      </p:sp>
      <p:sp>
        <p:nvSpPr>
          <p:cNvPr id="3" name="Content Placeholder 2">
            <a:extLst>
              <a:ext uri="{FF2B5EF4-FFF2-40B4-BE49-F238E27FC236}">
                <a16:creationId xmlns:a16="http://schemas.microsoft.com/office/drawing/2014/main" xmlns="" id="{4A979E63-7889-4217-8383-F012394FA010}"/>
              </a:ext>
            </a:extLst>
          </p:cNvPr>
          <p:cNvSpPr>
            <a:spLocks noGrp="1"/>
          </p:cNvSpPr>
          <p:nvPr>
            <p:ph idx="1"/>
          </p:nvPr>
        </p:nvSpPr>
        <p:spPr/>
        <p:txBody>
          <a:bodyPr>
            <a:normAutofit fontScale="92500" lnSpcReduction="20000"/>
          </a:bodyPr>
          <a:lstStyle/>
          <a:p>
            <a:r>
              <a:rPr lang="en-AU" dirty="0"/>
              <a:t>Describe the lesion</a:t>
            </a:r>
          </a:p>
          <a:p>
            <a:pPr lvl="1"/>
            <a:r>
              <a:rPr lang="en-AU" dirty="0"/>
              <a:t>Central pseudo-dendritic corneal epithelial lesion, partially stains with fluorescein</a:t>
            </a:r>
          </a:p>
          <a:p>
            <a:r>
              <a:rPr lang="en-AU" dirty="0" err="1"/>
              <a:t>DDx</a:t>
            </a:r>
            <a:r>
              <a:rPr lang="en-AU" dirty="0"/>
              <a:t>:</a:t>
            </a:r>
          </a:p>
          <a:p>
            <a:pPr lvl="1"/>
            <a:r>
              <a:rPr lang="en-AU" dirty="0"/>
              <a:t>HZO or VZV epithelial keratitis</a:t>
            </a:r>
          </a:p>
          <a:p>
            <a:pPr lvl="1"/>
            <a:r>
              <a:rPr lang="en-AU" dirty="0"/>
              <a:t>HSV epithelial keratitis: younger </a:t>
            </a:r>
            <a:r>
              <a:rPr lang="en-AU" dirty="0" err="1"/>
              <a:t>px</a:t>
            </a:r>
            <a:r>
              <a:rPr lang="en-AU" dirty="0"/>
              <a:t>, dendrites have terminal bulbs, stain better with fluorescein, whereas HZO has tapered ends of the </a:t>
            </a:r>
            <a:r>
              <a:rPr lang="en-AU" dirty="0" err="1"/>
              <a:t>pseudodendrites</a:t>
            </a:r>
            <a:r>
              <a:rPr lang="en-AU" dirty="0"/>
              <a:t>, with a stuck-on appearance (elevated), usually less painful compared to HZO, skins lesions can cross the vertical midline</a:t>
            </a:r>
          </a:p>
          <a:p>
            <a:pPr lvl="1"/>
            <a:r>
              <a:rPr lang="en-AU" dirty="0"/>
              <a:t>Healing corneal abrasion: usually involves history of trauma, usually exhibits negative staining, no skin involvement</a:t>
            </a:r>
          </a:p>
          <a:p>
            <a:pPr lvl="1"/>
            <a:r>
              <a:rPr lang="en-AU" dirty="0"/>
              <a:t>Recurrent corneal erosions: previous episodes, no skin involvement</a:t>
            </a:r>
          </a:p>
          <a:p>
            <a:pPr lvl="1"/>
            <a:r>
              <a:rPr lang="en-AU" dirty="0"/>
              <a:t>Acanthamoeba keratitis: can present with </a:t>
            </a:r>
            <a:r>
              <a:rPr lang="en-AU" dirty="0" err="1"/>
              <a:t>pseudodendrites</a:t>
            </a:r>
            <a:r>
              <a:rPr lang="en-AU" dirty="0"/>
              <a:t>, usually a CLs wearer, more chronic course, pain more severe and disproportionate to signs</a:t>
            </a:r>
          </a:p>
          <a:p>
            <a:pPr lvl="1"/>
            <a:r>
              <a:rPr lang="en-AU" dirty="0"/>
              <a:t>Contact dermatitis: no corneal involvement</a:t>
            </a:r>
          </a:p>
        </p:txBody>
      </p:sp>
      <p:pic>
        <p:nvPicPr>
          <p:cNvPr id="4" name="Picture 2" descr="https://webeye.ophth.uiowa.edu/eyeforum/atlas/pages/VZV-keratitis/VZV-keratitis-LRG.jpg">
            <a:extLst>
              <a:ext uri="{FF2B5EF4-FFF2-40B4-BE49-F238E27FC236}">
                <a16:creationId xmlns:a16="http://schemas.microsoft.com/office/drawing/2014/main" xmlns="" id="{C39B9604-8432-40CB-848A-F2665DEE0F4B}"/>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8006"/>
          <a:stretch/>
        </p:blipFill>
        <p:spPr bwMode="auto">
          <a:xfrm>
            <a:off x="9284620" y="143934"/>
            <a:ext cx="2733131" cy="19727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732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fade">
                                      <p:cBhvr>
                                        <p:cTn id="18" dur="500"/>
                                        <p:tgtEl>
                                          <p:spTgt spid="3">
                                            <p:txEl>
                                              <p:pRg st="5" end="5"/>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Effect transition="in" filter="fade">
                                      <p:cBhvr>
                                        <p:cTn id="21" dur="500"/>
                                        <p:tgtEl>
                                          <p:spTgt spid="3">
                                            <p:txEl>
                                              <p:pRg st="6" end="6"/>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7" end="7"/>
                                            </p:txEl>
                                          </p:spTgt>
                                        </p:tgtEl>
                                        <p:attrNameLst>
                                          <p:attrName>style.visibility</p:attrName>
                                        </p:attrNameLst>
                                      </p:cBhvr>
                                      <p:to>
                                        <p:strVal val="visible"/>
                                      </p:to>
                                    </p:set>
                                    <p:animEffect transition="in" filter="fade">
                                      <p:cBhvr>
                                        <p:cTn id="24" dur="500"/>
                                        <p:tgtEl>
                                          <p:spTgt spid="3">
                                            <p:txEl>
                                              <p:pRg st="7" end="7"/>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fade">
                                      <p:cBhvr>
                                        <p:cTn id="2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E5ACAC8-5976-4BF1-AC19-DB325B693C96}"/>
              </a:ext>
            </a:extLst>
          </p:cNvPr>
          <p:cNvSpPr>
            <a:spLocks noGrp="1"/>
          </p:cNvSpPr>
          <p:nvPr>
            <p:ph type="title"/>
          </p:nvPr>
        </p:nvSpPr>
        <p:spPr/>
        <p:txBody>
          <a:bodyPr/>
          <a:lstStyle/>
          <a:p>
            <a:r>
              <a:rPr lang="en-AU" dirty="0"/>
              <a:t>Case 7</a:t>
            </a:r>
          </a:p>
        </p:txBody>
      </p:sp>
      <p:sp>
        <p:nvSpPr>
          <p:cNvPr id="3" name="Content Placeholder 2">
            <a:extLst>
              <a:ext uri="{FF2B5EF4-FFF2-40B4-BE49-F238E27FC236}">
                <a16:creationId xmlns:a16="http://schemas.microsoft.com/office/drawing/2014/main" xmlns="" id="{2BC1A197-5131-4191-904E-9656C23C991F}"/>
              </a:ext>
            </a:extLst>
          </p:cNvPr>
          <p:cNvSpPr>
            <a:spLocks noGrp="1"/>
          </p:cNvSpPr>
          <p:nvPr>
            <p:ph idx="1"/>
          </p:nvPr>
        </p:nvSpPr>
        <p:spPr>
          <a:xfrm>
            <a:off x="838200" y="1412111"/>
            <a:ext cx="10515600" cy="5000264"/>
          </a:xfrm>
        </p:spPr>
        <p:txBody>
          <a:bodyPr>
            <a:normAutofit fontScale="77500" lnSpcReduction="20000"/>
          </a:bodyPr>
          <a:lstStyle/>
          <a:p>
            <a:r>
              <a:rPr lang="en-AU" dirty="0"/>
              <a:t>Management?</a:t>
            </a:r>
          </a:p>
          <a:p>
            <a:pPr lvl="1"/>
            <a:r>
              <a:rPr lang="en-AU" dirty="0">
                <a:solidFill>
                  <a:srgbClr val="FF0000"/>
                </a:solidFill>
              </a:rPr>
              <a:t>Refer for oral antiviral</a:t>
            </a:r>
            <a:r>
              <a:rPr lang="en-AU" dirty="0"/>
              <a:t>: famciclovir 250mg 3x a day for a minimum of 7 days</a:t>
            </a:r>
          </a:p>
          <a:p>
            <a:pPr lvl="2"/>
            <a:r>
              <a:rPr lang="en-AU" dirty="0"/>
              <a:t>Famciclovir and valaciclovir (1000mg 3x a day) preferred over aciclovir (800mg 5x a day) due to better bioavailability (hence less frequent dosing)</a:t>
            </a:r>
          </a:p>
          <a:p>
            <a:pPr lvl="2"/>
            <a:r>
              <a:rPr lang="en-AU" dirty="0"/>
              <a:t>Administering oral antiviral </a:t>
            </a:r>
            <a:r>
              <a:rPr lang="en-AU" dirty="0">
                <a:solidFill>
                  <a:srgbClr val="FF0000"/>
                </a:solidFill>
              </a:rPr>
              <a:t>within 72 hours of onset of rash</a:t>
            </a:r>
            <a:r>
              <a:rPr lang="en-AU" dirty="0"/>
              <a:t>: speeds resolution of skin lesions, reduce viral shedding and decrease incidence of corneal involvement (dendritic and stromal keratitis) and anterior uveitis, and most importantly, may have a favourable effect on preventing post-herpetic neuralgia (Jackson et al., 1997)</a:t>
            </a:r>
          </a:p>
          <a:p>
            <a:pPr lvl="1"/>
            <a:r>
              <a:rPr lang="en-AU" dirty="0">
                <a:solidFill>
                  <a:srgbClr val="FF0000"/>
                </a:solidFill>
              </a:rPr>
              <a:t>Skin lesions</a:t>
            </a:r>
            <a:r>
              <a:rPr lang="en-AU" dirty="0"/>
              <a:t>: palliative care with cool compresses, bathe lesions with saline to remove exudates </a:t>
            </a:r>
          </a:p>
          <a:p>
            <a:pPr lvl="1"/>
            <a:r>
              <a:rPr lang="en-AU" dirty="0">
                <a:solidFill>
                  <a:srgbClr val="FF0000"/>
                </a:solidFill>
              </a:rPr>
              <a:t>Pain management</a:t>
            </a:r>
            <a:r>
              <a:rPr lang="en-AU" dirty="0"/>
              <a:t>: Paracetamol 1g every 4-6 hours (max 4g daily), refer to GP or pain specialist if significant pain</a:t>
            </a:r>
          </a:p>
          <a:p>
            <a:pPr lvl="1"/>
            <a:r>
              <a:rPr lang="en-AU" dirty="0">
                <a:solidFill>
                  <a:srgbClr val="FF0000"/>
                </a:solidFill>
              </a:rPr>
              <a:t>Limit spread of disease</a:t>
            </a:r>
            <a:r>
              <a:rPr lang="en-AU" dirty="0"/>
              <a:t>: </a:t>
            </a:r>
          </a:p>
          <a:p>
            <a:pPr lvl="2"/>
            <a:r>
              <a:rPr lang="en-AU" dirty="0"/>
              <a:t>Warn about contact with children and pregnant women and immunocompromised</a:t>
            </a:r>
          </a:p>
          <a:p>
            <a:pPr lvl="2"/>
            <a:r>
              <a:rPr lang="en-AU" dirty="0"/>
              <a:t>Non-crusted lesions are active (when rash is &lt; 1 week duration); after 1 week, rashes become crusted and inactive; cover non-crusted lesions with light non-adherent padding dressing</a:t>
            </a:r>
          </a:p>
          <a:p>
            <a:r>
              <a:rPr lang="en-AU" dirty="0"/>
              <a:t>Prognosis?</a:t>
            </a:r>
          </a:p>
          <a:p>
            <a:pPr lvl="1"/>
            <a:r>
              <a:rPr lang="en-AU" dirty="0"/>
              <a:t>Post-herpetic neuralgia – varying degrees of constant or intermittent pain in the distribution of the affected dermatome that </a:t>
            </a:r>
            <a:r>
              <a:rPr lang="en-AU" dirty="0" err="1"/>
              <a:t>perists</a:t>
            </a:r>
            <a:r>
              <a:rPr lang="en-AU" dirty="0"/>
              <a:t> more than 3 months after the rash has healed</a:t>
            </a:r>
          </a:p>
          <a:p>
            <a:pPr lvl="2"/>
            <a:r>
              <a:rPr lang="en-AU" dirty="0"/>
              <a:t>Increased age (75% of &gt;70 years) and prodromal symptoms associated with higher prevalence </a:t>
            </a:r>
          </a:p>
          <a:p>
            <a:pPr lvl="2"/>
            <a:r>
              <a:rPr lang="en-AU" dirty="0"/>
              <a:t>May last months to years</a:t>
            </a:r>
          </a:p>
          <a:p>
            <a:endParaRPr lang="en-AU" dirty="0"/>
          </a:p>
        </p:txBody>
      </p:sp>
    </p:spTree>
    <p:extLst>
      <p:ext uri="{BB962C8B-B14F-4D97-AF65-F5344CB8AC3E}">
        <p14:creationId xmlns:p14="http://schemas.microsoft.com/office/powerpoint/2010/main" val="4285471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fade">
                                      <p:cBhvr>
                                        <p:cTn id="16" dur="500"/>
                                        <p:tgtEl>
                                          <p:spTgt spid="3">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fade">
                                      <p:cBhvr>
                                        <p:cTn id="19" dur="500"/>
                                        <p:tgtEl>
                                          <p:spTgt spid="3">
                                            <p:txEl>
                                              <p:pRg st="5" end="5"/>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animEffect transition="in" filter="fade">
                                      <p:cBhvr>
                                        <p:cTn id="25" dur="500"/>
                                        <p:tgtEl>
                                          <p:spTgt spid="3">
                                            <p:txEl>
                                              <p:pRg st="7" end="7"/>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
                                            <p:txEl>
                                              <p:pRg st="8" end="8"/>
                                            </p:txEl>
                                          </p:spTgt>
                                        </p:tgtEl>
                                        <p:attrNameLst>
                                          <p:attrName>style.visibility</p:attrName>
                                        </p:attrNameLst>
                                      </p:cBhvr>
                                      <p:to>
                                        <p:strVal val="visible"/>
                                      </p:to>
                                    </p:set>
                                    <p:animEffect transition="in" filter="fade">
                                      <p:cBhvr>
                                        <p:cTn id="28" dur="500"/>
                                        <p:tgtEl>
                                          <p:spTgt spid="3">
                                            <p:txEl>
                                              <p:pRg st="8" end="8"/>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animEffect transition="in" filter="fade">
                                      <p:cBhvr>
                                        <p:cTn id="33" dur="500"/>
                                        <p:tgtEl>
                                          <p:spTgt spid="3">
                                            <p:txEl>
                                              <p:pRg st="10" end="10"/>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3">
                                            <p:txEl>
                                              <p:pRg st="11" end="11"/>
                                            </p:txEl>
                                          </p:spTgt>
                                        </p:tgtEl>
                                        <p:attrNameLst>
                                          <p:attrName>style.visibility</p:attrName>
                                        </p:attrNameLst>
                                      </p:cBhvr>
                                      <p:to>
                                        <p:strVal val="visible"/>
                                      </p:to>
                                    </p:set>
                                    <p:animEffect transition="in" filter="fade">
                                      <p:cBhvr>
                                        <p:cTn id="36" dur="500"/>
                                        <p:tgtEl>
                                          <p:spTgt spid="3">
                                            <p:txEl>
                                              <p:pRg st="11" end="11"/>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3">
                                            <p:txEl>
                                              <p:pRg st="12" end="12"/>
                                            </p:txEl>
                                          </p:spTgt>
                                        </p:tgtEl>
                                        <p:attrNameLst>
                                          <p:attrName>style.visibility</p:attrName>
                                        </p:attrNameLst>
                                      </p:cBhvr>
                                      <p:to>
                                        <p:strVal val="visible"/>
                                      </p:to>
                                    </p:set>
                                    <p:animEffect transition="in" filter="fade">
                                      <p:cBhvr>
                                        <p:cTn id="39"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855687D-0968-49E6-BB84-B12BABCBC63B}"/>
              </a:ext>
            </a:extLst>
          </p:cNvPr>
          <p:cNvSpPr>
            <a:spLocks noGrp="1"/>
          </p:cNvSpPr>
          <p:nvPr>
            <p:ph type="title"/>
          </p:nvPr>
        </p:nvSpPr>
        <p:spPr/>
        <p:txBody>
          <a:bodyPr/>
          <a:lstStyle/>
          <a:p>
            <a:r>
              <a:rPr lang="en-AU" dirty="0"/>
              <a:t>Case 8: 65 year-old Japanese female presents for routine eye exam. </a:t>
            </a:r>
          </a:p>
        </p:txBody>
      </p:sp>
      <p:sp>
        <p:nvSpPr>
          <p:cNvPr id="3" name="Content Placeholder 2">
            <a:extLst>
              <a:ext uri="{FF2B5EF4-FFF2-40B4-BE49-F238E27FC236}">
                <a16:creationId xmlns:a16="http://schemas.microsoft.com/office/drawing/2014/main" xmlns="" id="{59A6CBB9-27CA-4306-95C7-747CA782361F}"/>
              </a:ext>
            </a:extLst>
          </p:cNvPr>
          <p:cNvSpPr>
            <a:spLocks noGrp="1"/>
          </p:cNvSpPr>
          <p:nvPr>
            <p:ph idx="1"/>
          </p:nvPr>
        </p:nvSpPr>
        <p:spPr/>
        <p:txBody>
          <a:bodyPr>
            <a:normAutofit fontScale="92500" lnSpcReduction="10000"/>
          </a:bodyPr>
          <a:lstStyle/>
          <a:p>
            <a:r>
              <a:rPr lang="en-AU" dirty="0"/>
              <a:t>Ocular history:</a:t>
            </a:r>
          </a:p>
          <a:p>
            <a:pPr lvl="1"/>
            <a:r>
              <a:rPr lang="en-AU" dirty="0"/>
              <a:t>LEE 2 years ago – was advised to return for VF but never returned</a:t>
            </a:r>
          </a:p>
          <a:p>
            <a:pPr lvl="1"/>
            <a:r>
              <a:rPr lang="en-AU" dirty="0"/>
              <a:t>(-) trauma, surgery</a:t>
            </a:r>
          </a:p>
          <a:p>
            <a:pPr lvl="1"/>
            <a:r>
              <a:rPr lang="en-AU" dirty="0"/>
              <a:t>Family history unknown</a:t>
            </a:r>
          </a:p>
          <a:p>
            <a:r>
              <a:rPr lang="en-AU" dirty="0"/>
              <a:t>Medical history: high blood pressure (taking metoprolol – a systemic </a:t>
            </a:r>
            <a:r>
              <a:rPr lang="el-GR" dirty="0">
                <a:cs typeface="Times New Roman" panose="02020603050405020304" pitchFamily="18" charset="0"/>
              </a:rPr>
              <a:t>β</a:t>
            </a:r>
            <a:r>
              <a:rPr lang="en-AU" dirty="0">
                <a:cs typeface="Times New Roman" panose="02020603050405020304" pitchFamily="18" charset="0"/>
              </a:rPr>
              <a:t>-blocker)</a:t>
            </a:r>
            <a:endParaRPr lang="en-AU" dirty="0"/>
          </a:p>
          <a:p>
            <a:r>
              <a:rPr lang="en-AU" dirty="0"/>
              <a:t>Exam results:</a:t>
            </a:r>
          </a:p>
          <a:p>
            <a:pPr lvl="1"/>
            <a:r>
              <a:rPr lang="en-AU" dirty="0"/>
              <a:t>Rx/BCVA: OD -2.00DS 6/6	OS -1.75DS 6/6</a:t>
            </a:r>
          </a:p>
          <a:p>
            <a:pPr lvl="1"/>
            <a:r>
              <a:rPr lang="en-AU" dirty="0"/>
              <a:t>IOP (applanation): OD 19mm Hg	OS 18mm Hg</a:t>
            </a:r>
          </a:p>
          <a:p>
            <a:pPr lvl="1"/>
            <a:r>
              <a:rPr lang="en-AU" dirty="0"/>
              <a:t>Motilities: no abnormalities</a:t>
            </a:r>
          </a:p>
          <a:p>
            <a:pPr lvl="1"/>
            <a:r>
              <a:rPr lang="en-AU" dirty="0"/>
              <a:t>Pupils: PERRL, no RAPD</a:t>
            </a:r>
          </a:p>
          <a:p>
            <a:pPr lvl="1"/>
            <a:r>
              <a:rPr lang="en-AU" dirty="0"/>
              <a:t>Anterior eye: G1+ NS OU</a:t>
            </a:r>
          </a:p>
        </p:txBody>
      </p:sp>
    </p:spTree>
    <p:extLst>
      <p:ext uri="{BB962C8B-B14F-4D97-AF65-F5344CB8AC3E}">
        <p14:creationId xmlns:p14="http://schemas.microsoft.com/office/powerpoint/2010/main" val="21337227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855687D-0968-49E6-BB84-B12BABCBC63B}"/>
              </a:ext>
            </a:extLst>
          </p:cNvPr>
          <p:cNvSpPr>
            <a:spLocks noGrp="1"/>
          </p:cNvSpPr>
          <p:nvPr>
            <p:ph type="title"/>
          </p:nvPr>
        </p:nvSpPr>
        <p:spPr/>
        <p:txBody>
          <a:bodyPr/>
          <a:lstStyle/>
          <a:p>
            <a:r>
              <a:rPr lang="en-AU" dirty="0"/>
              <a:t>Case 8: Describe the optic nerve appearance (assume average sized nerve)</a:t>
            </a:r>
          </a:p>
        </p:txBody>
      </p:sp>
      <p:sp>
        <p:nvSpPr>
          <p:cNvPr id="3" name="Content Placeholder 2">
            <a:extLst>
              <a:ext uri="{FF2B5EF4-FFF2-40B4-BE49-F238E27FC236}">
                <a16:creationId xmlns:a16="http://schemas.microsoft.com/office/drawing/2014/main" xmlns="" id="{59A6CBB9-27CA-4306-95C7-747CA782361F}"/>
              </a:ext>
            </a:extLst>
          </p:cNvPr>
          <p:cNvSpPr>
            <a:spLocks noGrp="1"/>
          </p:cNvSpPr>
          <p:nvPr>
            <p:ph idx="1"/>
          </p:nvPr>
        </p:nvSpPr>
        <p:spPr>
          <a:xfrm>
            <a:off x="838200" y="1825625"/>
            <a:ext cx="5434263" cy="4351338"/>
          </a:xfrm>
        </p:spPr>
        <p:txBody>
          <a:bodyPr>
            <a:normAutofit fontScale="92500" lnSpcReduction="10000"/>
          </a:bodyPr>
          <a:lstStyle/>
          <a:p>
            <a:r>
              <a:rPr lang="en-AU" dirty="0"/>
              <a:t>Inferior NRR thinning (does not follow ISNT)</a:t>
            </a:r>
          </a:p>
          <a:p>
            <a:r>
              <a:rPr lang="en-AU" dirty="0"/>
              <a:t>Inferotemporal </a:t>
            </a:r>
            <a:r>
              <a:rPr lang="en-AU" dirty="0" err="1"/>
              <a:t>drance</a:t>
            </a:r>
            <a:r>
              <a:rPr lang="en-AU" dirty="0"/>
              <a:t> haemorrhage at 8 o’clock</a:t>
            </a:r>
          </a:p>
          <a:p>
            <a:r>
              <a:rPr lang="en-AU" dirty="0">
                <a:cs typeface="Times New Roman" panose="02020603050405020304" pitchFamily="18" charset="0"/>
              </a:rPr>
              <a:t>β-PPA 360</a:t>
            </a:r>
            <a:r>
              <a:rPr lang="en-AU" baseline="30000" dirty="0">
                <a:cs typeface="Times New Roman" panose="02020603050405020304" pitchFamily="18" charset="0"/>
              </a:rPr>
              <a:t>o</a:t>
            </a:r>
            <a:r>
              <a:rPr lang="en-AU" dirty="0">
                <a:cs typeface="Times New Roman" panose="02020603050405020304" pitchFamily="18" charset="0"/>
              </a:rPr>
              <a:t> </a:t>
            </a:r>
          </a:p>
          <a:p>
            <a:r>
              <a:rPr lang="en-AU" dirty="0">
                <a:cs typeface="Times New Roman" panose="02020603050405020304" pitchFamily="18" charset="0"/>
              </a:rPr>
              <a:t>C/D 0.6/0.65</a:t>
            </a:r>
          </a:p>
          <a:p>
            <a:r>
              <a:rPr lang="en-AU" dirty="0">
                <a:cs typeface="Times New Roman" panose="02020603050405020304" pitchFamily="18" charset="0"/>
              </a:rPr>
              <a:t>Distinct margins</a:t>
            </a:r>
          </a:p>
          <a:p>
            <a:r>
              <a:rPr lang="en-AU" dirty="0">
                <a:cs typeface="Times New Roman" panose="02020603050405020304" pitchFamily="18" charset="0"/>
              </a:rPr>
              <a:t>No optic disc pallor</a:t>
            </a:r>
          </a:p>
          <a:p>
            <a:r>
              <a:rPr lang="en-AU" dirty="0">
                <a:cs typeface="Times New Roman" panose="02020603050405020304" pitchFamily="18" charset="0"/>
              </a:rPr>
              <a:t>(Not in this picture but should also talk about RNFL reflectivity, size of ONH)</a:t>
            </a:r>
          </a:p>
        </p:txBody>
      </p:sp>
      <p:pic>
        <p:nvPicPr>
          <p:cNvPr id="1026" name="Picture 2" descr="https://www.ophthalmologymanagement.com/archive/2010/November/images/OMD_November_A09_Fig03.jpg">
            <a:extLst>
              <a:ext uri="{FF2B5EF4-FFF2-40B4-BE49-F238E27FC236}">
                <a16:creationId xmlns:a16="http://schemas.microsoft.com/office/drawing/2014/main" xmlns="" id="{363B1A1A-F172-4737-B9C2-CEC8DB0D225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1108"/>
          <a:stretch/>
        </p:blipFill>
        <p:spPr bwMode="auto">
          <a:xfrm>
            <a:off x="6272463" y="1825625"/>
            <a:ext cx="5198705"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2435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fade">
                                      <p:cBhvr>
                                        <p:cTn id="25"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855687D-0968-49E6-BB84-B12BABCBC63B}"/>
              </a:ext>
            </a:extLst>
          </p:cNvPr>
          <p:cNvSpPr>
            <a:spLocks noGrp="1"/>
          </p:cNvSpPr>
          <p:nvPr>
            <p:ph type="title"/>
          </p:nvPr>
        </p:nvSpPr>
        <p:spPr/>
        <p:txBody>
          <a:bodyPr/>
          <a:lstStyle/>
          <a:p>
            <a:r>
              <a:rPr lang="en-AU" dirty="0"/>
              <a:t>Case 8: Describe the optic nerve appearance (assume average sized nerve)</a:t>
            </a:r>
          </a:p>
        </p:txBody>
      </p:sp>
      <p:sp>
        <p:nvSpPr>
          <p:cNvPr id="3" name="Content Placeholder 2">
            <a:extLst>
              <a:ext uri="{FF2B5EF4-FFF2-40B4-BE49-F238E27FC236}">
                <a16:creationId xmlns:a16="http://schemas.microsoft.com/office/drawing/2014/main" xmlns="" id="{59A6CBB9-27CA-4306-95C7-747CA782361F}"/>
              </a:ext>
            </a:extLst>
          </p:cNvPr>
          <p:cNvSpPr>
            <a:spLocks noGrp="1"/>
          </p:cNvSpPr>
          <p:nvPr>
            <p:ph idx="1"/>
          </p:nvPr>
        </p:nvSpPr>
        <p:spPr>
          <a:xfrm>
            <a:off x="838200" y="1825625"/>
            <a:ext cx="5338010" cy="4351338"/>
          </a:xfrm>
        </p:spPr>
        <p:txBody>
          <a:bodyPr/>
          <a:lstStyle/>
          <a:p>
            <a:r>
              <a:rPr lang="en-AU" dirty="0"/>
              <a:t>Inferior NRR thinning (does not follow ISNT)</a:t>
            </a:r>
          </a:p>
          <a:p>
            <a:r>
              <a:rPr lang="en-AU" dirty="0"/>
              <a:t>Sloped superiorly</a:t>
            </a:r>
          </a:p>
          <a:p>
            <a:r>
              <a:rPr lang="en-AU" dirty="0"/>
              <a:t>C/D: 0.5/0.65</a:t>
            </a:r>
          </a:p>
          <a:p>
            <a:r>
              <a:rPr lang="en-AU" dirty="0"/>
              <a:t>Distinct margins</a:t>
            </a:r>
          </a:p>
          <a:p>
            <a:r>
              <a:rPr lang="en-AU" dirty="0">
                <a:cs typeface="Times New Roman" panose="02020603050405020304" pitchFamily="18" charset="0"/>
              </a:rPr>
              <a:t>β-PPA almost 360</a:t>
            </a:r>
            <a:r>
              <a:rPr lang="en-AU" baseline="30000" dirty="0">
                <a:cs typeface="Times New Roman" panose="02020603050405020304" pitchFamily="18" charset="0"/>
              </a:rPr>
              <a:t>o</a:t>
            </a:r>
            <a:r>
              <a:rPr lang="en-AU" dirty="0">
                <a:cs typeface="Times New Roman" panose="02020603050405020304" pitchFamily="18" charset="0"/>
              </a:rPr>
              <a:t>, more distinct inferiorly</a:t>
            </a:r>
            <a:endParaRPr lang="en-AU" dirty="0"/>
          </a:p>
          <a:p>
            <a:endParaRPr lang="en-AU" dirty="0"/>
          </a:p>
          <a:p>
            <a:endParaRPr lang="en-AU" dirty="0"/>
          </a:p>
          <a:p>
            <a:endParaRPr lang="en-AU" dirty="0"/>
          </a:p>
        </p:txBody>
      </p:sp>
      <p:pic>
        <p:nvPicPr>
          <p:cNvPr id="1026" name="Picture 2" descr="https://www.ophthalmologymanagement.com/archive/2010/November/images/OMD_November_A09_Fig03.jpg">
            <a:extLst>
              <a:ext uri="{FF2B5EF4-FFF2-40B4-BE49-F238E27FC236}">
                <a16:creationId xmlns:a16="http://schemas.microsoft.com/office/drawing/2014/main" xmlns="" id="{363B1A1A-F172-4737-B9C2-CEC8DB0D225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51306"/>
          <a:stretch/>
        </p:blipFill>
        <p:spPr bwMode="auto">
          <a:xfrm>
            <a:off x="6176210" y="1825625"/>
            <a:ext cx="5177590"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1772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E1CBD29-0007-4545-A7F4-5EEB0ADB8813}"/>
              </a:ext>
            </a:extLst>
          </p:cNvPr>
          <p:cNvSpPr>
            <a:spLocks noGrp="1"/>
          </p:cNvSpPr>
          <p:nvPr>
            <p:ph type="title"/>
          </p:nvPr>
        </p:nvSpPr>
        <p:spPr/>
        <p:txBody>
          <a:bodyPr/>
          <a:lstStyle/>
          <a:p>
            <a:r>
              <a:rPr lang="en-AU" dirty="0"/>
              <a:t>Case 8 </a:t>
            </a:r>
          </a:p>
        </p:txBody>
      </p:sp>
      <p:sp>
        <p:nvSpPr>
          <p:cNvPr id="3" name="Content Placeholder 2">
            <a:extLst>
              <a:ext uri="{FF2B5EF4-FFF2-40B4-BE49-F238E27FC236}">
                <a16:creationId xmlns:a16="http://schemas.microsoft.com/office/drawing/2014/main" xmlns="" id="{C3AB6531-8C50-4285-B29A-E6BC7FE8DD02}"/>
              </a:ext>
            </a:extLst>
          </p:cNvPr>
          <p:cNvSpPr>
            <a:spLocks noGrp="1"/>
          </p:cNvSpPr>
          <p:nvPr>
            <p:ph idx="1"/>
          </p:nvPr>
        </p:nvSpPr>
        <p:spPr>
          <a:xfrm>
            <a:off x="838200" y="1825625"/>
            <a:ext cx="2562726" cy="4351338"/>
          </a:xfrm>
        </p:spPr>
        <p:txBody>
          <a:bodyPr>
            <a:normAutofit fontScale="92500" lnSpcReduction="20000"/>
          </a:bodyPr>
          <a:lstStyle/>
          <a:p>
            <a:r>
              <a:rPr lang="en-AU" dirty="0"/>
              <a:t>Describe the VF print-out</a:t>
            </a:r>
          </a:p>
          <a:p>
            <a:pPr lvl="1"/>
            <a:r>
              <a:rPr lang="en-AU" dirty="0"/>
              <a:t>OD: Dense superior VF defect, GHT outside normal limits</a:t>
            </a:r>
          </a:p>
          <a:p>
            <a:pPr lvl="1"/>
            <a:r>
              <a:rPr lang="en-AU" dirty="0"/>
              <a:t>OS inferior temporal scattered (non-contiguous) points of depression, GHT within normal limits</a:t>
            </a:r>
          </a:p>
        </p:txBody>
      </p:sp>
      <p:pic>
        <p:nvPicPr>
          <p:cNvPr id="2050" name="Picture 2" descr="園 住 住 0 ■ 。 - 住 &#10;日 ロ ロ 団 ロ 反 &#10;ロ 新 回 0 &#10;ユ 0 ■ 回 ロ &#10;、 1 圏 ロ 新 &#10;ま 第 &#10;ロ ロ 0 ロ 新 回 7 &#10;月 住 00 0 住 0 新 目 工 &#10;物 第 第 、 第 ー 第 第 &#10;第 を 第 第 朝 第 第 量 第 &#10;00 回 新 &#10;3 ・ る 物 ま る ご &#10;ス 洋 &#10;・ - ま 一 鳥 1 ~ 0 碆 &#10;回 回 0 新 住 ・ 目 、 - 壬 団 00 ロ ロ 0 ロ 新 &#10;ー 10 」 名 ">
            <a:extLst>
              <a:ext uri="{FF2B5EF4-FFF2-40B4-BE49-F238E27FC236}">
                <a16:creationId xmlns:a16="http://schemas.microsoft.com/office/drawing/2014/main" xmlns="" id="{E70D9DD5-6478-4EBB-8AC4-0E8BBFA94BC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00926" y="680452"/>
            <a:ext cx="8448174" cy="56321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2446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31934DF-3866-414F-A601-F821B71454D4}"/>
              </a:ext>
            </a:extLst>
          </p:cNvPr>
          <p:cNvSpPr>
            <a:spLocks noGrp="1"/>
          </p:cNvSpPr>
          <p:nvPr>
            <p:ph type="title"/>
          </p:nvPr>
        </p:nvSpPr>
        <p:spPr/>
        <p:txBody>
          <a:bodyPr/>
          <a:lstStyle/>
          <a:p>
            <a:r>
              <a:rPr lang="en-AU" dirty="0"/>
              <a:t>Case 8</a:t>
            </a:r>
          </a:p>
        </p:txBody>
      </p:sp>
      <p:sp>
        <p:nvSpPr>
          <p:cNvPr id="3" name="Content Placeholder 2">
            <a:extLst>
              <a:ext uri="{FF2B5EF4-FFF2-40B4-BE49-F238E27FC236}">
                <a16:creationId xmlns:a16="http://schemas.microsoft.com/office/drawing/2014/main" xmlns="" id="{09C957C8-C612-46C1-A122-49BC1A033142}"/>
              </a:ext>
            </a:extLst>
          </p:cNvPr>
          <p:cNvSpPr>
            <a:spLocks noGrp="1"/>
          </p:cNvSpPr>
          <p:nvPr>
            <p:ph idx="1"/>
          </p:nvPr>
        </p:nvSpPr>
        <p:spPr/>
        <p:txBody>
          <a:bodyPr>
            <a:normAutofit lnSpcReduction="10000"/>
          </a:bodyPr>
          <a:lstStyle/>
          <a:p>
            <a:r>
              <a:rPr lang="en-AU" dirty="0"/>
              <a:t>What other questions would you ask this patient?</a:t>
            </a:r>
          </a:p>
          <a:p>
            <a:pPr lvl="1"/>
            <a:r>
              <a:rPr lang="en-AU" dirty="0"/>
              <a:t>Do you suffer from migraines?</a:t>
            </a:r>
          </a:p>
          <a:p>
            <a:pPr lvl="1"/>
            <a:r>
              <a:rPr lang="en-AU" dirty="0"/>
              <a:t>Do you suffer from Raynaud’s phenomenon? (cold extremities)</a:t>
            </a:r>
          </a:p>
          <a:p>
            <a:pPr lvl="1"/>
            <a:r>
              <a:rPr lang="en-AU" dirty="0"/>
              <a:t>Do you suffer from sleep apnoea</a:t>
            </a:r>
          </a:p>
          <a:p>
            <a:pPr lvl="1"/>
            <a:r>
              <a:rPr lang="en-AU" dirty="0"/>
              <a:t>Previous haemodynamic crisis requiring blood transfusion</a:t>
            </a:r>
          </a:p>
          <a:p>
            <a:pPr lvl="1"/>
            <a:r>
              <a:rPr lang="en-AU" dirty="0"/>
              <a:t>History of steroid use: asthma or allergies</a:t>
            </a:r>
          </a:p>
          <a:p>
            <a:r>
              <a:rPr lang="en-AU" dirty="0"/>
              <a:t>What other tests would you do?</a:t>
            </a:r>
          </a:p>
          <a:p>
            <a:pPr lvl="1"/>
            <a:r>
              <a:rPr lang="en-AU" dirty="0"/>
              <a:t>CCT </a:t>
            </a:r>
            <a:r>
              <a:rPr lang="en-AU" dirty="0">
                <a:sym typeface="Wingdings" panose="05000000000000000000" pitchFamily="2" charset="2"/>
              </a:rPr>
              <a:t> OD 505</a:t>
            </a:r>
            <a:r>
              <a:rPr lang="el-GR" dirty="0">
                <a:cs typeface="Times New Roman" panose="02020603050405020304" pitchFamily="18" charset="0"/>
                <a:sym typeface="Wingdings" panose="05000000000000000000" pitchFamily="2" charset="2"/>
              </a:rPr>
              <a:t>μ</a:t>
            </a:r>
            <a:r>
              <a:rPr lang="en-AU" dirty="0">
                <a:cs typeface="Times New Roman" panose="02020603050405020304" pitchFamily="18" charset="0"/>
                <a:sym typeface="Wingdings" panose="05000000000000000000" pitchFamily="2" charset="2"/>
              </a:rPr>
              <a:t>m OS 515</a:t>
            </a:r>
            <a:r>
              <a:rPr lang="el-GR" dirty="0">
                <a:cs typeface="Times New Roman" panose="02020603050405020304" pitchFamily="18" charset="0"/>
                <a:sym typeface="Wingdings" panose="05000000000000000000" pitchFamily="2" charset="2"/>
              </a:rPr>
              <a:t>μ</a:t>
            </a:r>
            <a:r>
              <a:rPr lang="en-AU" dirty="0">
                <a:cs typeface="Times New Roman" panose="02020603050405020304" pitchFamily="18" charset="0"/>
                <a:sym typeface="Wingdings" panose="05000000000000000000" pitchFamily="2" charset="2"/>
              </a:rPr>
              <a:t>m</a:t>
            </a:r>
            <a:endParaRPr lang="en-AU" dirty="0"/>
          </a:p>
          <a:p>
            <a:pPr lvl="1"/>
            <a:r>
              <a:rPr lang="en-AU" dirty="0" err="1"/>
              <a:t>Gonioscopy</a:t>
            </a:r>
            <a:r>
              <a:rPr lang="en-AU" dirty="0"/>
              <a:t> </a:t>
            </a:r>
            <a:r>
              <a:rPr lang="en-AU" dirty="0">
                <a:sym typeface="Wingdings" panose="05000000000000000000" pitchFamily="2" charset="2"/>
              </a:rPr>
              <a:t> open to CBB 360</a:t>
            </a:r>
            <a:r>
              <a:rPr lang="en-AU" baseline="30000" dirty="0">
                <a:sym typeface="Wingdings" panose="05000000000000000000" pitchFamily="2" charset="2"/>
              </a:rPr>
              <a:t>o</a:t>
            </a:r>
            <a:r>
              <a:rPr lang="en-AU" dirty="0">
                <a:sym typeface="Wingdings" panose="05000000000000000000" pitchFamily="2" charset="2"/>
              </a:rPr>
              <a:t>, 2+ pigment, regular pigmentation</a:t>
            </a:r>
          </a:p>
          <a:p>
            <a:pPr lvl="1"/>
            <a:r>
              <a:rPr lang="en-AU" dirty="0">
                <a:sym typeface="Wingdings" panose="05000000000000000000" pitchFamily="2" charset="2"/>
              </a:rPr>
              <a:t>OCT of the RNFL  you don’t have access to an OCT</a:t>
            </a:r>
          </a:p>
          <a:p>
            <a:pPr lvl="1"/>
            <a:r>
              <a:rPr lang="en-AU" dirty="0">
                <a:sym typeface="Wingdings" panose="05000000000000000000" pitchFamily="2" charset="2"/>
              </a:rPr>
              <a:t>Diurnal variation of IOP  OD 14-20mm Hg OS 13-19mm Hg</a:t>
            </a:r>
            <a:endParaRPr lang="en-AU" dirty="0"/>
          </a:p>
        </p:txBody>
      </p:sp>
    </p:spTree>
    <p:extLst>
      <p:ext uri="{BB962C8B-B14F-4D97-AF65-F5344CB8AC3E}">
        <p14:creationId xmlns:p14="http://schemas.microsoft.com/office/powerpoint/2010/main" val="690564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fade">
                                      <p:cBhvr>
                                        <p:cTn id="16" dur="500"/>
                                        <p:tgtEl>
                                          <p:spTgt spid="3">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fade">
                                      <p:cBhvr>
                                        <p:cTn id="19" dur="500"/>
                                        <p:tgtEl>
                                          <p:spTgt spid="3">
                                            <p:txEl>
                                              <p:pRg st="5" end="5"/>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
                                            <p:txEl>
                                              <p:pRg st="7" end="7"/>
                                            </p:txEl>
                                          </p:spTgt>
                                        </p:tgtEl>
                                        <p:attrNameLst>
                                          <p:attrName>style.visibility</p:attrName>
                                        </p:attrNameLst>
                                      </p:cBhvr>
                                      <p:to>
                                        <p:strVal val="visible"/>
                                      </p:to>
                                    </p:set>
                                    <p:animEffect transition="in" filter="fade">
                                      <p:cBhvr>
                                        <p:cTn id="24" dur="500"/>
                                        <p:tgtEl>
                                          <p:spTgt spid="3">
                                            <p:txEl>
                                              <p:pRg st="7" end="7"/>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fade">
                                      <p:cBhvr>
                                        <p:cTn id="27" dur="500"/>
                                        <p:tgtEl>
                                          <p:spTgt spid="3">
                                            <p:txEl>
                                              <p:pRg st="8" end="8"/>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3">
                                            <p:txEl>
                                              <p:pRg st="9" end="9"/>
                                            </p:txEl>
                                          </p:spTgt>
                                        </p:tgtEl>
                                        <p:attrNameLst>
                                          <p:attrName>style.visibility</p:attrName>
                                        </p:attrNameLst>
                                      </p:cBhvr>
                                      <p:to>
                                        <p:strVal val="visible"/>
                                      </p:to>
                                    </p:set>
                                    <p:animEffect transition="in" filter="fade">
                                      <p:cBhvr>
                                        <p:cTn id="30" dur="500"/>
                                        <p:tgtEl>
                                          <p:spTgt spid="3">
                                            <p:txEl>
                                              <p:pRg st="9" end="9"/>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animEffect transition="in" filter="fade">
                                      <p:cBhvr>
                                        <p:cTn id="33"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955C6AC-4F77-47C3-BA48-67B723B92E1A}"/>
              </a:ext>
            </a:extLst>
          </p:cNvPr>
          <p:cNvSpPr>
            <a:spLocks noGrp="1"/>
          </p:cNvSpPr>
          <p:nvPr>
            <p:ph type="title"/>
          </p:nvPr>
        </p:nvSpPr>
        <p:spPr/>
        <p:txBody>
          <a:bodyPr/>
          <a:lstStyle/>
          <a:p>
            <a:r>
              <a:rPr lang="en-AU" dirty="0"/>
              <a:t>Case 8: </a:t>
            </a:r>
          </a:p>
        </p:txBody>
      </p:sp>
      <p:sp>
        <p:nvSpPr>
          <p:cNvPr id="3" name="Content Placeholder 2">
            <a:extLst>
              <a:ext uri="{FF2B5EF4-FFF2-40B4-BE49-F238E27FC236}">
                <a16:creationId xmlns:a16="http://schemas.microsoft.com/office/drawing/2014/main" xmlns="" id="{66785A17-D1A4-4FF6-BD53-1098EC344677}"/>
              </a:ext>
            </a:extLst>
          </p:cNvPr>
          <p:cNvSpPr>
            <a:spLocks noGrp="1"/>
          </p:cNvSpPr>
          <p:nvPr>
            <p:ph idx="1"/>
          </p:nvPr>
        </p:nvSpPr>
        <p:spPr/>
        <p:txBody>
          <a:bodyPr/>
          <a:lstStyle/>
          <a:p>
            <a:r>
              <a:rPr lang="en-AU" dirty="0"/>
              <a:t>Differentials?</a:t>
            </a:r>
          </a:p>
          <a:p>
            <a:pPr lvl="1"/>
            <a:r>
              <a:rPr lang="en-AU" dirty="0"/>
              <a:t>Physiological large cupping</a:t>
            </a:r>
          </a:p>
          <a:p>
            <a:pPr lvl="1"/>
            <a:r>
              <a:rPr lang="en-AU" dirty="0"/>
              <a:t>Neurological field loss – primary optic atrophy (compressive lesion, retrobulbar optic neuritis, LHON, toxic and nutritional optic neuropathies, ONH </a:t>
            </a:r>
            <a:r>
              <a:rPr lang="en-AU" dirty="0" err="1"/>
              <a:t>drusen</a:t>
            </a:r>
            <a:r>
              <a:rPr lang="en-AU" dirty="0"/>
              <a:t>, traumatic optic atrophy), secondary optic atrophy (chronic </a:t>
            </a:r>
            <a:r>
              <a:rPr lang="en-AU" dirty="0" err="1"/>
              <a:t>papilloedema</a:t>
            </a:r>
            <a:r>
              <a:rPr lang="en-AU" dirty="0"/>
              <a:t>, ischaemic optic neuropathies, long-standing </a:t>
            </a:r>
            <a:r>
              <a:rPr lang="en-AU" dirty="0" err="1"/>
              <a:t>papillitis</a:t>
            </a:r>
            <a:r>
              <a:rPr lang="en-AU" dirty="0"/>
              <a:t>)</a:t>
            </a:r>
          </a:p>
          <a:p>
            <a:pPr lvl="1"/>
            <a:r>
              <a:rPr lang="en-AU" dirty="0"/>
              <a:t>Optic disc pit</a:t>
            </a:r>
          </a:p>
          <a:p>
            <a:pPr lvl="1"/>
            <a:r>
              <a:rPr lang="en-AU" dirty="0"/>
              <a:t>POAG – but IOP &lt; 21-24mm Hg</a:t>
            </a:r>
          </a:p>
          <a:p>
            <a:pPr lvl="1"/>
            <a:r>
              <a:rPr lang="en-AU" dirty="0"/>
              <a:t>Pigmentary glaucoma (history of PDS but pigment receded)</a:t>
            </a:r>
          </a:p>
          <a:p>
            <a:endParaRPr lang="en-AU" dirty="0"/>
          </a:p>
        </p:txBody>
      </p:sp>
    </p:spTree>
    <p:extLst>
      <p:ext uri="{BB962C8B-B14F-4D97-AF65-F5344CB8AC3E}">
        <p14:creationId xmlns:p14="http://schemas.microsoft.com/office/powerpoint/2010/main" val="579189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fade">
                                      <p:cBhvr>
                                        <p:cTn id="16" dur="500"/>
                                        <p:tgtEl>
                                          <p:spTgt spid="3">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fade">
                                      <p:cBhvr>
                                        <p:cTn id="19"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0F40323-F2F1-4927-ABC7-C76ACE66A971}"/>
              </a:ext>
            </a:extLst>
          </p:cNvPr>
          <p:cNvSpPr>
            <a:spLocks noGrp="1"/>
          </p:cNvSpPr>
          <p:nvPr>
            <p:ph type="title"/>
          </p:nvPr>
        </p:nvSpPr>
        <p:spPr/>
        <p:txBody>
          <a:bodyPr/>
          <a:lstStyle/>
          <a:p>
            <a:r>
              <a:rPr lang="en-AU" dirty="0"/>
              <a:t>Case 8</a:t>
            </a:r>
          </a:p>
        </p:txBody>
      </p:sp>
      <p:sp>
        <p:nvSpPr>
          <p:cNvPr id="3" name="Content Placeholder 2">
            <a:extLst>
              <a:ext uri="{FF2B5EF4-FFF2-40B4-BE49-F238E27FC236}">
                <a16:creationId xmlns:a16="http://schemas.microsoft.com/office/drawing/2014/main" xmlns="" id="{293AAD89-5BD4-4A8B-B5DF-DBF09D9E955B}"/>
              </a:ext>
            </a:extLst>
          </p:cNvPr>
          <p:cNvSpPr>
            <a:spLocks noGrp="1"/>
          </p:cNvSpPr>
          <p:nvPr>
            <p:ph idx="1"/>
          </p:nvPr>
        </p:nvSpPr>
        <p:spPr>
          <a:xfrm>
            <a:off x="838200" y="1825624"/>
            <a:ext cx="10515600" cy="4607259"/>
          </a:xfrm>
        </p:spPr>
        <p:txBody>
          <a:bodyPr>
            <a:normAutofit fontScale="92500" lnSpcReduction="20000"/>
          </a:bodyPr>
          <a:lstStyle/>
          <a:p>
            <a:r>
              <a:rPr lang="en-AU" dirty="0"/>
              <a:t>Diagnosis: Normal Tension Glaucoma</a:t>
            </a:r>
          </a:p>
          <a:p>
            <a:pPr lvl="1"/>
            <a:r>
              <a:rPr lang="en-AU" dirty="0"/>
              <a:t>Risk factors in this </a:t>
            </a:r>
            <a:r>
              <a:rPr lang="en-AU" dirty="0" err="1"/>
              <a:t>px</a:t>
            </a:r>
            <a:r>
              <a:rPr lang="en-AU" dirty="0"/>
              <a:t>: use of systemic beta-blocker, diurnal IOP consistently in the mid to high teens, evidence of structural loss correlating with VF loss, </a:t>
            </a:r>
            <a:r>
              <a:rPr lang="en-AU" dirty="0" err="1"/>
              <a:t>drance</a:t>
            </a:r>
            <a:r>
              <a:rPr lang="en-AU" dirty="0"/>
              <a:t> haemorrhage</a:t>
            </a:r>
          </a:p>
          <a:p>
            <a:pPr lvl="1"/>
            <a:r>
              <a:rPr lang="en-AU" dirty="0"/>
              <a:t>Diagnosis of exclusion</a:t>
            </a:r>
          </a:p>
          <a:p>
            <a:pPr lvl="1"/>
            <a:r>
              <a:rPr lang="en-AU" dirty="0"/>
              <a:t>CNTGS criteria:</a:t>
            </a:r>
          </a:p>
          <a:p>
            <a:pPr lvl="2"/>
            <a:r>
              <a:rPr lang="en-AU" dirty="0"/>
              <a:t>IOP ≤ 24mm Hg, median of 10 readings required to be ≤ 20mm Hg, no more than 1 reading of 23 or 24mm Hg</a:t>
            </a:r>
          </a:p>
          <a:p>
            <a:pPr lvl="1"/>
            <a:r>
              <a:rPr lang="en-AU" dirty="0" err="1"/>
              <a:t>Moorfields</a:t>
            </a:r>
            <a:r>
              <a:rPr lang="en-AU" dirty="0"/>
              <a:t> criteria for definition of NTG:</a:t>
            </a:r>
          </a:p>
          <a:p>
            <a:pPr lvl="2"/>
            <a:r>
              <a:rPr lang="en-AU" dirty="0"/>
              <a:t>A mean IOP off-treatment consistently ≤ 21mm Hg on diurnal testing, with no single measurement &gt; 24mm Hg</a:t>
            </a:r>
          </a:p>
          <a:p>
            <a:pPr lvl="2"/>
            <a:r>
              <a:rPr lang="en-AU" dirty="0"/>
              <a:t>Open drainage angles on </a:t>
            </a:r>
            <a:r>
              <a:rPr lang="en-AU" dirty="0" err="1"/>
              <a:t>gonioscopy</a:t>
            </a:r>
            <a:endParaRPr lang="en-AU" dirty="0"/>
          </a:p>
          <a:p>
            <a:pPr lvl="2"/>
            <a:r>
              <a:rPr lang="en-AU" dirty="0"/>
              <a:t>Absence of secondary causes for glaucomatous optic neuropathy</a:t>
            </a:r>
          </a:p>
          <a:p>
            <a:pPr lvl="2"/>
            <a:r>
              <a:rPr lang="en-AU" dirty="0"/>
              <a:t>Typical optic disc damage with glaucomatous cupping and loss of NRR correlating to VF defect (structure-function correlation) </a:t>
            </a:r>
          </a:p>
          <a:p>
            <a:pPr lvl="2"/>
            <a:r>
              <a:rPr lang="en-AU" dirty="0"/>
              <a:t>Progression of glaucomatous damage (controversial): CNTGS estimated the risk of progression in VF loss ranged from -0.2dB to -2dB per year</a:t>
            </a:r>
          </a:p>
        </p:txBody>
      </p:sp>
    </p:spTree>
    <p:extLst>
      <p:ext uri="{BB962C8B-B14F-4D97-AF65-F5344CB8AC3E}">
        <p14:creationId xmlns:p14="http://schemas.microsoft.com/office/powerpoint/2010/main" val="2047492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fade">
                                      <p:cBhvr>
                                        <p:cTn id="16" dur="500"/>
                                        <p:tgtEl>
                                          <p:spTgt spid="3">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fade">
                                      <p:cBhvr>
                                        <p:cTn id="19" dur="500"/>
                                        <p:tgtEl>
                                          <p:spTgt spid="3">
                                            <p:txEl>
                                              <p:pRg st="5" end="5"/>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animEffect transition="in" filter="fade">
                                      <p:cBhvr>
                                        <p:cTn id="25" dur="500"/>
                                        <p:tgtEl>
                                          <p:spTgt spid="3">
                                            <p:txEl>
                                              <p:pRg st="7" end="7"/>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
                                            <p:txEl>
                                              <p:pRg st="8" end="8"/>
                                            </p:txEl>
                                          </p:spTgt>
                                        </p:tgtEl>
                                        <p:attrNameLst>
                                          <p:attrName>style.visibility</p:attrName>
                                        </p:attrNameLst>
                                      </p:cBhvr>
                                      <p:to>
                                        <p:strVal val="visible"/>
                                      </p:to>
                                    </p:set>
                                    <p:animEffect transition="in" filter="fade">
                                      <p:cBhvr>
                                        <p:cTn id="28" dur="500"/>
                                        <p:tgtEl>
                                          <p:spTgt spid="3">
                                            <p:txEl>
                                              <p:pRg st="8" end="8"/>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animEffect transition="in" filter="fade">
                                      <p:cBhvr>
                                        <p:cTn id="31" dur="500"/>
                                        <p:tgtEl>
                                          <p:spTgt spid="3">
                                            <p:txEl>
                                              <p:pRg st="9" end="9"/>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3">
                                            <p:txEl>
                                              <p:pRg st="10" end="10"/>
                                            </p:txEl>
                                          </p:spTgt>
                                        </p:tgtEl>
                                        <p:attrNameLst>
                                          <p:attrName>style.visibility</p:attrName>
                                        </p:attrNameLst>
                                      </p:cBhvr>
                                      <p:to>
                                        <p:strVal val="visible"/>
                                      </p:to>
                                    </p:set>
                                    <p:animEffect transition="in" filter="fade">
                                      <p:cBhvr>
                                        <p:cTn id="34"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E8C316C-E243-4884-BB24-22CB5E770DA5}"/>
              </a:ext>
            </a:extLst>
          </p:cNvPr>
          <p:cNvSpPr>
            <a:spLocks noGrp="1"/>
          </p:cNvSpPr>
          <p:nvPr>
            <p:ph type="title"/>
          </p:nvPr>
        </p:nvSpPr>
        <p:spPr/>
        <p:txBody>
          <a:bodyPr/>
          <a:lstStyle/>
          <a:p>
            <a:r>
              <a:rPr lang="en-AU" dirty="0"/>
              <a:t>Case 8: VF defects are repeatable</a:t>
            </a:r>
          </a:p>
        </p:txBody>
      </p:sp>
      <p:sp>
        <p:nvSpPr>
          <p:cNvPr id="3" name="Content Placeholder 2">
            <a:extLst>
              <a:ext uri="{FF2B5EF4-FFF2-40B4-BE49-F238E27FC236}">
                <a16:creationId xmlns:a16="http://schemas.microsoft.com/office/drawing/2014/main" xmlns="" id="{9A1E4303-B365-4C6B-B780-4C8067A77B28}"/>
              </a:ext>
            </a:extLst>
          </p:cNvPr>
          <p:cNvSpPr>
            <a:spLocks noGrp="1"/>
          </p:cNvSpPr>
          <p:nvPr>
            <p:ph idx="1"/>
          </p:nvPr>
        </p:nvSpPr>
        <p:spPr/>
        <p:txBody>
          <a:bodyPr>
            <a:normAutofit fontScale="92500" lnSpcReduction="10000"/>
          </a:bodyPr>
          <a:lstStyle/>
          <a:p>
            <a:r>
              <a:rPr lang="en-AU" dirty="0"/>
              <a:t>Management?</a:t>
            </a:r>
          </a:p>
          <a:p>
            <a:pPr lvl="1"/>
            <a:r>
              <a:rPr lang="en-AU" dirty="0"/>
              <a:t>PGA: </a:t>
            </a:r>
          </a:p>
          <a:p>
            <a:pPr lvl="2"/>
            <a:r>
              <a:rPr lang="en-AU" dirty="0"/>
              <a:t>Highest efficacy of all topical IOP-lowering medications</a:t>
            </a:r>
          </a:p>
          <a:p>
            <a:pPr lvl="2"/>
            <a:r>
              <a:rPr lang="en-AU" dirty="0"/>
              <a:t>Target IOP reduction (30%, CNTGS) </a:t>
            </a:r>
            <a:r>
              <a:rPr lang="en-AU" dirty="0">
                <a:sym typeface="Wingdings" panose="05000000000000000000" pitchFamily="2" charset="2"/>
              </a:rPr>
              <a:t> slowed progression from 35% to 12%</a:t>
            </a:r>
            <a:endParaRPr lang="en-AU" dirty="0"/>
          </a:p>
          <a:p>
            <a:pPr lvl="1"/>
            <a:r>
              <a:rPr lang="en-AU" dirty="0"/>
              <a:t>Avoid beta-blockers: due to concurrent use of systemic beta-blockers and potential cardiovascular and cross-over effects </a:t>
            </a:r>
          </a:p>
          <a:p>
            <a:pPr lvl="1"/>
            <a:r>
              <a:rPr lang="en-AU" dirty="0"/>
              <a:t>Difficult to treat, evidence supports lowering IOP as much as possible (AD’s notes)</a:t>
            </a:r>
          </a:p>
          <a:p>
            <a:r>
              <a:rPr lang="en-AU" dirty="0"/>
              <a:t>Prognosis?</a:t>
            </a:r>
          </a:p>
          <a:p>
            <a:pPr lvl="1"/>
            <a:r>
              <a:rPr lang="en-AU" dirty="0"/>
              <a:t>CNTGS Natural history of NTG: -0.2dB to -2.0dB/year</a:t>
            </a:r>
          </a:p>
          <a:p>
            <a:pPr lvl="1"/>
            <a:r>
              <a:rPr lang="en-AU" dirty="0"/>
              <a:t>EMGTS: -0.36dB/year</a:t>
            </a:r>
          </a:p>
          <a:p>
            <a:pPr lvl="1"/>
            <a:r>
              <a:rPr lang="en-AU" dirty="0"/>
              <a:t>However, typically involve VF defects closer to fixation </a:t>
            </a:r>
            <a:r>
              <a:rPr lang="en-AU" dirty="0">
                <a:sym typeface="Wingdings" panose="05000000000000000000" pitchFamily="2" charset="2"/>
              </a:rPr>
              <a:t> monitor closely, consider 10-2</a:t>
            </a:r>
            <a:endParaRPr lang="en-AU" dirty="0"/>
          </a:p>
        </p:txBody>
      </p:sp>
    </p:spTree>
    <p:extLst>
      <p:ext uri="{BB962C8B-B14F-4D97-AF65-F5344CB8AC3E}">
        <p14:creationId xmlns:p14="http://schemas.microsoft.com/office/powerpoint/2010/main" val="1767021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fade">
                                      <p:cBhvr>
                                        <p:cTn id="16" dur="500"/>
                                        <p:tgtEl>
                                          <p:spTgt spid="3">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fade">
                                      <p:cBhvr>
                                        <p:cTn id="19" dur="500"/>
                                        <p:tgtEl>
                                          <p:spTgt spid="3">
                                            <p:txEl>
                                              <p:pRg st="5" end="5"/>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
                                            <p:txEl>
                                              <p:pRg st="7" end="7"/>
                                            </p:txEl>
                                          </p:spTgt>
                                        </p:tgtEl>
                                        <p:attrNameLst>
                                          <p:attrName>style.visibility</p:attrName>
                                        </p:attrNameLst>
                                      </p:cBhvr>
                                      <p:to>
                                        <p:strVal val="visible"/>
                                      </p:to>
                                    </p:set>
                                    <p:animEffect transition="in" filter="fade">
                                      <p:cBhvr>
                                        <p:cTn id="24" dur="500"/>
                                        <p:tgtEl>
                                          <p:spTgt spid="3">
                                            <p:txEl>
                                              <p:pRg st="7" end="7"/>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fade">
                                      <p:cBhvr>
                                        <p:cTn id="27" dur="500"/>
                                        <p:tgtEl>
                                          <p:spTgt spid="3">
                                            <p:txEl>
                                              <p:pRg st="8" end="8"/>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3">
                                            <p:txEl>
                                              <p:pRg st="9" end="9"/>
                                            </p:txEl>
                                          </p:spTgt>
                                        </p:tgtEl>
                                        <p:attrNameLst>
                                          <p:attrName>style.visibility</p:attrName>
                                        </p:attrNameLst>
                                      </p:cBhvr>
                                      <p:to>
                                        <p:strVal val="visible"/>
                                      </p:to>
                                    </p:set>
                                    <p:animEffect transition="in" filter="fade">
                                      <p:cBhvr>
                                        <p:cTn id="30"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3EC3B1D-F575-41F6-AB75-0E1DA763D6F8}"/>
              </a:ext>
            </a:extLst>
          </p:cNvPr>
          <p:cNvSpPr>
            <a:spLocks noGrp="1"/>
          </p:cNvSpPr>
          <p:nvPr>
            <p:ph type="title"/>
          </p:nvPr>
        </p:nvSpPr>
        <p:spPr/>
        <p:txBody>
          <a:bodyPr/>
          <a:lstStyle/>
          <a:p>
            <a:r>
              <a:rPr lang="en-GB" dirty="0"/>
              <a:t>15YOM </a:t>
            </a:r>
            <a:r>
              <a:rPr lang="en-GB" sz="2800" dirty="0"/>
              <a:t>“I have trouble copying from the board at school”</a:t>
            </a:r>
            <a:endParaRPr lang="en-GB" dirty="0"/>
          </a:p>
        </p:txBody>
      </p:sp>
      <p:pic>
        <p:nvPicPr>
          <p:cNvPr id="5122" name="Picture 2" descr="http://www.familyvisionandtherapy.com/wp-content/uploads/2016/01/pt2ou.jpg">
            <a:extLst>
              <a:ext uri="{FF2B5EF4-FFF2-40B4-BE49-F238E27FC236}">
                <a16:creationId xmlns:a16="http://schemas.microsoft.com/office/drawing/2014/main" xmlns="" id="{3F44C99F-EE2E-4AEB-9299-C9C7715B30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54201" y="1419754"/>
            <a:ext cx="8686800" cy="4981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873744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B2C10E3-BA2E-4552-8205-71B5B0C30C51}"/>
              </a:ext>
            </a:extLst>
          </p:cNvPr>
          <p:cNvSpPr>
            <a:spLocks noGrp="1"/>
          </p:cNvSpPr>
          <p:nvPr>
            <p:ph type="title"/>
          </p:nvPr>
        </p:nvSpPr>
        <p:spPr/>
        <p:txBody>
          <a:bodyPr/>
          <a:lstStyle/>
          <a:p>
            <a:r>
              <a:rPr lang="en-GB" dirty="0"/>
              <a:t>83YOM</a:t>
            </a:r>
          </a:p>
        </p:txBody>
      </p:sp>
      <p:pic>
        <p:nvPicPr>
          <p:cNvPr id="6146" name="Picture 2" descr="Figure 1: Automated visual field on Humphrey's visual field analyzer (24-2 program) of right eye (a) and (b) left eye showing right superior quadrantanopia (pie in the sky)">
            <a:extLst>
              <a:ext uri="{FF2B5EF4-FFF2-40B4-BE49-F238E27FC236}">
                <a16:creationId xmlns:a16="http://schemas.microsoft.com/office/drawing/2014/main" xmlns="" id="{E16637BF-199A-438A-91B5-246D7DD3B9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7541" y="1347760"/>
            <a:ext cx="8976917" cy="54029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06307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B74FC07-4763-4E2F-BD5A-2E3D87E6FDB6}"/>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xmlns="" id="{7D1AF6FD-2A99-4B47-8DFC-7568D234C0FE}"/>
              </a:ext>
            </a:extLst>
          </p:cNvPr>
          <p:cNvSpPr>
            <a:spLocks noGrp="1"/>
          </p:cNvSpPr>
          <p:nvPr>
            <p:ph idx="1"/>
          </p:nvPr>
        </p:nvSpPr>
        <p:spPr/>
        <p:txBody>
          <a:bodyPr/>
          <a:lstStyle/>
          <a:p>
            <a:endParaRPr lang="en-GB"/>
          </a:p>
        </p:txBody>
      </p:sp>
      <p:pic>
        <p:nvPicPr>
          <p:cNvPr id="9218" name="Picture 2" descr="figure 1">
            <a:extLst>
              <a:ext uri="{FF2B5EF4-FFF2-40B4-BE49-F238E27FC236}">
                <a16:creationId xmlns:a16="http://schemas.microsoft.com/office/drawing/2014/main" xmlns="" id="{31E439E5-0C6E-42C1-BF1F-ABD6D32FF4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38425" y="1614488"/>
            <a:ext cx="6915150" cy="3629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97886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Figure F3 ">
            <a:extLst>
              <a:ext uri="{FF2B5EF4-FFF2-40B4-BE49-F238E27FC236}">
                <a16:creationId xmlns:a16="http://schemas.microsoft.com/office/drawing/2014/main" xmlns="" id="{848CD1BC-9D25-4734-BA6E-BE34598866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4621" y="158278"/>
            <a:ext cx="8867773" cy="66065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392462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Figure F2 ">
            <a:extLst>
              <a:ext uri="{FF2B5EF4-FFF2-40B4-BE49-F238E27FC236}">
                <a16:creationId xmlns:a16="http://schemas.microsoft.com/office/drawing/2014/main" xmlns="" id="{CC28A4CB-2BD5-40DA-9AE3-B764EDE1E1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38275" y="114300"/>
            <a:ext cx="9315450" cy="6629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92345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2000</TotalTime>
  <Words>6292</Words>
  <Application>Microsoft Office PowerPoint</Application>
  <PresentationFormat>Widescreen</PresentationFormat>
  <Paragraphs>756</Paragraphs>
  <Slides>47</Slides>
  <Notes>26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47</vt:i4>
      </vt:variant>
    </vt:vector>
  </HeadingPairs>
  <TitlesOfParts>
    <vt:vector size="53" baseType="lpstr">
      <vt:lpstr>Arial</vt:lpstr>
      <vt:lpstr>Calibri</vt:lpstr>
      <vt:lpstr>Calibri Light</vt:lpstr>
      <vt:lpstr>Times New Roman</vt:lpstr>
      <vt:lpstr>Wingdings</vt:lpstr>
      <vt:lpstr>Office Theme</vt:lpstr>
      <vt:lpstr>Practice Therapeutics Orals</vt:lpstr>
      <vt:lpstr>25YOM presents with photophobia, mild pain and lacrimation following “something flying in his right eye” after working on his car yesterday.</vt:lpstr>
      <vt:lpstr>25YOM presents with photophobia, mild pain and lacrimation following “something flying in his right eye” after working on his car yesterday.</vt:lpstr>
      <vt:lpstr>22YOM presents with 1 day history of red and painful LE. Vision is blurry and he is sensitive to lights. He has not had this before.</vt:lpstr>
      <vt:lpstr>22YOM presents with 1 day history of red and painful LE. Vision is blurry and he is sensitive to lights. He has not had this before.</vt:lpstr>
      <vt:lpstr>36YOF presents to you with 1 day history of LE pain, photophobia and decreased vision (6/12 w/ PH). She is a contact lens wearer. </vt:lpstr>
      <vt:lpstr>36YOF presents to you with 1 day history of LE pain, photophobia and decreased vision (6/12 w/ PH). She is a contact lens wearer. </vt:lpstr>
      <vt:lpstr>76YOF presents for routine eye examination as her sister was recently diagnosed with glaucoma</vt:lpstr>
      <vt:lpstr>76YOF presents for routine eye examination as her sister was recently diagnosed with glaucoma</vt:lpstr>
      <vt:lpstr>76YOF</vt:lpstr>
      <vt:lpstr>76YOF - ii</vt:lpstr>
      <vt:lpstr>76YOF - ii</vt:lpstr>
      <vt:lpstr>15YOF</vt:lpstr>
      <vt:lpstr>Case 1: A 30 year-old female presents with a painless red right eye (shown below) with blurry vision (gradually over 1 week). BCVA: R 6/15 L 6/6. There have been no previously reported episodes. You notice some round blister-like lesions along her eyelid. The pupil is pharmacologically dilated in this photo (pupil responses normal prior to mydriacyl instillation).</vt:lpstr>
      <vt:lpstr>Case 1</vt:lpstr>
      <vt:lpstr>Case 1</vt:lpstr>
      <vt:lpstr>PowerPoint Presentation</vt:lpstr>
      <vt:lpstr>Case 2: 8 year-old boy presents with bilateral itchy red eyes, which have progressively gotten worse since the start of September. He reports getting a yellowy-white discharge from both eyes. </vt:lpstr>
      <vt:lpstr>Case 2</vt:lpstr>
      <vt:lpstr>Identify these signs</vt:lpstr>
      <vt:lpstr>Case 2</vt:lpstr>
      <vt:lpstr>Case 2</vt:lpstr>
      <vt:lpstr>Case 3:  52 year-old male presents for an ocular assessment. He reports having difficulty seeing some traffic signs. History includes a car accident 3 years ago where he hit his head. During the examination, he reported seeing a red flower on the consult room wall. Pupils were equal, round and reactive, with no RAPD. Fundus assessment showed no abnormalities.</vt:lpstr>
      <vt:lpstr>Case 3</vt:lpstr>
      <vt:lpstr>Case 4: 67 year-old hypertensive female</vt:lpstr>
      <vt:lpstr>Case 5</vt:lpstr>
      <vt:lpstr>Case 6: 50 year-old female presents with a left-sided headache and ocular pain with blurry vision in OS, which began last night. Pupils showed a mid-dilated and sluggish left pupil, normal pupil responses in OD.</vt:lpstr>
      <vt:lpstr>Case 6</vt:lpstr>
      <vt:lpstr>Case 6</vt:lpstr>
      <vt:lpstr>Case 6</vt:lpstr>
      <vt:lpstr>Case 6</vt:lpstr>
      <vt:lpstr>Case 7: 71YOM presents with a painful right eye with blurry vision and photophobia. He reports having a recent stabbing pain on his left face 3 days ago. You notice some rash-like skin lesions around the left eye and left side of the nose.  </vt:lpstr>
      <vt:lpstr>Case 7</vt:lpstr>
      <vt:lpstr>Case 7</vt:lpstr>
      <vt:lpstr>Case 8: 65 year-old Japanese female presents for routine eye exam. </vt:lpstr>
      <vt:lpstr>Case 8: Describe the optic nerve appearance (assume average sized nerve)</vt:lpstr>
      <vt:lpstr>Case 8: Describe the optic nerve appearance (assume average sized nerve)</vt:lpstr>
      <vt:lpstr>Case 8 </vt:lpstr>
      <vt:lpstr>Case 8</vt:lpstr>
      <vt:lpstr>Case 8: </vt:lpstr>
      <vt:lpstr>Case 8</vt:lpstr>
      <vt:lpstr>Case 8: VF defects are repeatable</vt:lpstr>
      <vt:lpstr>15YOM “I have trouble copying from the board at school”</vt:lpstr>
      <vt:lpstr>83YOM</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Practice Therapeutics Orals</dc:title>
  <dc:creator>Tyson Xu</dc:creator>
  <cp:lastModifiedBy>Adam Li</cp:lastModifiedBy>
  <cp:revision>61</cp:revision>
  <dcterms:created xsi:type="dcterms:W3CDTF">2017-11-09T12:11:44Z</dcterms:created>
  <dcterms:modified xsi:type="dcterms:W3CDTF">2019-11-12T07:35:58Z</dcterms:modified>
</cp:coreProperties>
</file>